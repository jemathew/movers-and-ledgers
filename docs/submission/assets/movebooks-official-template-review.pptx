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78632eaab4708" /><Relationship Type="http://schemas.openxmlformats.org/officeDocument/2006/relationships/extended-properties" Target="/docProps/app.xml" Id="R3d6bdfd325624299" /><Relationship Type="http://schemas.openxmlformats.org/officeDocument/2006/relationships/officeDocument" Target="/ppt/presentation.xml" Id="Re46d20bc576d480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0d1da08d2f74ecf"/>
  </p:sldMasterIdLst>
  <p:notesMasterIdLst>
    <p:notesMasterId xmlns:r="http://schemas.openxmlformats.org/officeDocument/2006/relationships" r:id="R9cc3e6cb1c8a4cc3"/>
  </p:notesMasterIdLst>
  <p:sldIdLst>
    <p:sldId xmlns:r="http://schemas.openxmlformats.org/officeDocument/2006/relationships" id="256" r:id="Rbdd29cfaca74428a"/>
    <p:sldId xmlns:r="http://schemas.openxmlformats.org/officeDocument/2006/relationships" id="257" r:id="R6d7e5451080946a8"/>
    <p:sldId xmlns:r="http://schemas.openxmlformats.org/officeDocument/2006/relationships" id="258" r:id="R99aa4a56a0944daf"/>
    <p:sldId xmlns:r="http://schemas.openxmlformats.org/officeDocument/2006/relationships" id="259" r:id="R58e51a133a03476f"/>
    <p:sldId xmlns:r="http://schemas.openxmlformats.org/officeDocument/2006/relationships" id="260" r:id="R1abbcb59af8746a3"/>
    <p:sldId xmlns:r="http://schemas.openxmlformats.org/officeDocument/2006/relationships" id="261" r:id="Rce5b173fbd6c433c"/>
    <p:sldId xmlns:r="http://schemas.openxmlformats.org/officeDocument/2006/relationships" id="262" r:id="R9814d2fbab7a4bb8"/>
    <p:sldId xmlns:r="http://schemas.openxmlformats.org/officeDocument/2006/relationships" id="263" r:id="R532a107331764c87"/>
    <p:sldId xmlns:r="http://schemas.openxmlformats.org/officeDocument/2006/relationships" id="264" r:id="R2e5300160179481e"/>
    <p:sldId xmlns:r="http://schemas.openxmlformats.org/officeDocument/2006/relationships" id="265" r:id="R719774d958014a4b"/>
    <p:sldId xmlns:r="http://schemas.openxmlformats.org/officeDocument/2006/relationships" id="266" r:id="R0026a744e8fa44da"/>
    <p:sldId xmlns:r="http://schemas.openxmlformats.org/officeDocument/2006/relationships" id="267" r:id="Rb3502e78ed9b4d76"/>
    <p:sldId xmlns:r="http://schemas.openxmlformats.org/officeDocument/2006/relationships" id="268" r:id="R9d1e689468e24f5f"/>
    <p:sldId xmlns:r="http://schemas.openxmlformats.org/officeDocument/2006/relationships" id="269" r:id="R1b7d390472dd40b8"/>
    <p:sldId xmlns:r="http://schemas.openxmlformats.org/officeDocument/2006/relationships" id="270" r:id="Rf94aa4d802ab4fc8"/>
    <p:sldId xmlns:r="http://schemas.openxmlformats.org/officeDocument/2006/relationships" id="271" r:id="R973346a723754d36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9060eb5b9dfd4e90"/>
      <p:bold xmlns:r="http://schemas.openxmlformats.org/officeDocument/2006/relationships" r:id="Rb50431cb633540c4"/>
    </p:embeddedFont>
    <p:embeddedFont>
      <p:font typeface="Google Sans Flex"/>
      <p:regular xmlns:r="http://schemas.openxmlformats.org/officeDocument/2006/relationships" r:id="R21119697431848bc"/>
      <p:bold xmlns:r="http://schemas.openxmlformats.org/officeDocument/2006/relationships" r:id="Rfb1c4fc8a15d45f0"/>
    </p:embeddedFont>
    <p:embeddedFont>
      <p:font typeface="Google Sans Flex SemiBold"/>
      <p:regular xmlns:r="http://schemas.openxmlformats.org/officeDocument/2006/relationships" r:id="R5cced6f355074559"/>
      <p:bold xmlns:r="http://schemas.openxmlformats.org/officeDocument/2006/relationships" r:id="R07de705f418f450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08949062d46c1" /><Relationship Type="http://schemas.openxmlformats.org/officeDocument/2006/relationships/slideMaster" Target="/ppt/slideMasters/slideMaster1.xml" Id="Re0d1da08d2f74ecf" /><Relationship Type="http://schemas.openxmlformats.org/officeDocument/2006/relationships/notesMaster" Target="/ppt/notesMasters/notesMaster1.xml" Id="R9cc3e6cb1c8a4cc3" /><Relationship Type="http://schemas.openxmlformats.org/officeDocument/2006/relationships/presProps" Target="/ppt/presProps.xml" Id="Rb98fed5be8934cd0" /><Relationship Type="http://schemas.openxmlformats.org/officeDocument/2006/relationships/viewProps" Target="/ppt/viewProps.xml" Id="R3eff85a3a6a04ce8" /><Relationship Type="http://schemas.openxmlformats.org/officeDocument/2006/relationships/tableStyles" Target="/ppt/tableStyles.xml" Id="R913e7c0c88494a32" /><Relationship Type="http://schemas.openxmlformats.org/officeDocument/2006/relationships/font" Target="/ppt/fonts/font.dat" Id="R9060eb5b9dfd4e90" /><Relationship Type="http://schemas.openxmlformats.org/officeDocument/2006/relationships/font" Target="/ppt/fonts/font2.dat" Id="Rb50431cb633540c4" /><Relationship Type="http://schemas.openxmlformats.org/officeDocument/2006/relationships/font" Target="/ppt/fonts/font3.dat" Id="R21119697431848bc" /><Relationship Type="http://schemas.openxmlformats.org/officeDocument/2006/relationships/font" Target="/ppt/fonts/font4.dat" Id="Rfb1c4fc8a15d45f0" /><Relationship Type="http://schemas.openxmlformats.org/officeDocument/2006/relationships/font" Target="/ppt/fonts/font5.dat" Id="R5cced6f355074559" /><Relationship Type="http://schemas.openxmlformats.org/officeDocument/2006/relationships/font" Target="/ppt/fonts/font6.dat" Id="R07de705f418f450c" /><Relationship Type="http://schemas.openxmlformats.org/officeDocument/2006/relationships/slide" Target="/ppt/slides/slide1.xml" Id="Rbdd29cfaca74428a" /><Relationship Type="http://schemas.openxmlformats.org/officeDocument/2006/relationships/slide" Target="/ppt/slides/slide2.xml" Id="R6d7e5451080946a8" /><Relationship Type="http://schemas.openxmlformats.org/officeDocument/2006/relationships/slide" Target="/ppt/slides/slide3.xml" Id="R99aa4a56a0944daf" /><Relationship Type="http://schemas.openxmlformats.org/officeDocument/2006/relationships/slide" Target="/ppt/slides/slide4.xml" Id="R58e51a133a03476f" /><Relationship Type="http://schemas.openxmlformats.org/officeDocument/2006/relationships/slide" Target="/ppt/slides/slide5.xml" Id="R1abbcb59af8746a3" /><Relationship Type="http://schemas.openxmlformats.org/officeDocument/2006/relationships/slide" Target="/ppt/slides/slide6.xml" Id="Rce5b173fbd6c433c" /><Relationship Type="http://schemas.openxmlformats.org/officeDocument/2006/relationships/slide" Target="/ppt/slides/slide7.xml" Id="R9814d2fbab7a4bb8" /><Relationship Type="http://schemas.openxmlformats.org/officeDocument/2006/relationships/slide" Target="/ppt/slides/slide8.xml" Id="R532a107331764c87" /><Relationship Type="http://schemas.openxmlformats.org/officeDocument/2006/relationships/slide" Target="/ppt/slides/slide9.xml" Id="R2e5300160179481e" /><Relationship Type="http://schemas.openxmlformats.org/officeDocument/2006/relationships/slide" Target="/ppt/slides/slide10.xml" Id="R719774d958014a4b" /><Relationship Type="http://schemas.openxmlformats.org/officeDocument/2006/relationships/slide" Target="/ppt/slides/slide11.xml" Id="R0026a744e8fa44da" /><Relationship Type="http://schemas.openxmlformats.org/officeDocument/2006/relationships/slide" Target="/ppt/slides/slide12.xml" Id="Rb3502e78ed9b4d76" /><Relationship Type="http://schemas.openxmlformats.org/officeDocument/2006/relationships/slide" Target="/ppt/slides/slide13.xml" Id="R9d1e689468e24f5f" /><Relationship Type="http://schemas.openxmlformats.org/officeDocument/2006/relationships/slide" Target="/ppt/slides/slide14.xml" Id="R1b7d390472dd40b8" /><Relationship Type="http://schemas.openxmlformats.org/officeDocument/2006/relationships/slide" Target="/ppt/slides/slide15.xml" Id="Rf94aa4d802ab4fc8" /><Relationship Type="http://schemas.openxmlformats.org/officeDocument/2006/relationships/slide" Target="/ppt/slides/slide16.xml" Id="R973346a72375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e7db3d636b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a2266a63c42c1" /><Relationship Type="http://schemas.openxmlformats.org/officeDocument/2006/relationships/notesMaster" Target="/ppt/notesMasters/notesMaster1.xml" Id="R6fcfc61b9bc1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4bdc6de9a4961" /><Relationship Type="http://schemas.openxmlformats.org/officeDocument/2006/relationships/notesMaster" Target="/ppt/notesMasters/notesMaster1.xml" Id="Re26e5f06604d40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50ced453140c6" /><Relationship Type="http://schemas.openxmlformats.org/officeDocument/2006/relationships/notesMaster" Target="/ppt/notesMasters/notesMaster1.xml" Id="R6a1503b09de6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bf9b3dbee43d3" /><Relationship Type="http://schemas.openxmlformats.org/officeDocument/2006/relationships/notesMaster" Target="/ppt/notesMasters/notesMaster1.xml" Id="R63060e20d30c46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6ad793591c40dd" /><Relationship Type="http://schemas.openxmlformats.org/officeDocument/2006/relationships/notesMaster" Target="/ppt/notesMasters/notesMaster1.xml" Id="Rba83e3f6b3294c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ae2c7585094066" /><Relationship Type="http://schemas.openxmlformats.org/officeDocument/2006/relationships/notesMaster" Target="/ppt/notesMasters/notesMaster1.xml" Id="Rcc5d1d580ee547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5fc3cf4ef4546" /><Relationship Type="http://schemas.openxmlformats.org/officeDocument/2006/relationships/notesMaster" Target="/ppt/notesMasters/notesMaster1.xml" Id="Rcb1c72661bdd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5c804aeee45bd" /><Relationship Type="http://schemas.openxmlformats.org/officeDocument/2006/relationships/notesMaster" Target="/ppt/notesMasters/notesMaster1.xml" Id="R207231ba3f1c42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a0b53824f844a5" /><Relationship Type="http://schemas.openxmlformats.org/officeDocument/2006/relationships/notesMaster" Target="/ppt/notesMasters/notesMaster1.xml" Id="Refbeef77ba7e4d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3e56091c3a4d4b" /><Relationship Type="http://schemas.openxmlformats.org/officeDocument/2006/relationships/notesMaster" Target="/ppt/notesMasters/notesMaster1.xml" Id="R2d3bbed16d044b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e2301078cd4c9b" /><Relationship Type="http://schemas.openxmlformats.org/officeDocument/2006/relationships/notesMaster" Target="/ppt/notesMasters/notesMaster1.xml" Id="Rdac58af775204b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395c8a83a84a33" /><Relationship Type="http://schemas.openxmlformats.org/officeDocument/2006/relationships/notesMaster" Target="/ppt/notesMasters/notesMaster1.xml" Id="Rb6fabbe0d2bd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41d0c517c4098" /><Relationship Type="http://schemas.openxmlformats.org/officeDocument/2006/relationships/notesMaster" Target="/ppt/notesMasters/notesMaster1.xml" Id="R6fea97ce475847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881d562371412e" /><Relationship Type="http://schemas.openxmlformats.org/officeDocument/2006/relationships/notesMaster" Target="/ppt/notesMasters/notesMaster1.xml" Id="R98d57acb5c0f40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02448370a34e42" /><Relationship Type="http://schemas.openxmlformats.org/officeDocument/2006/relationships/notesMaster" Target="/ppt/notesMasters/notesMaster1.xml" Id="R7c06ac9c886e4f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0a2ca30f94dda" /><Relationship Type="http://schemas.openxmlformats.org/officeDocument/2006/relationships/notesMaster" Target="/ppt/notesMasters/notesMaster1.xml" Id="Rd9eb0f5cd5a5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official template preserved. Product/company: MoveBooks AI by Movers &amp; Ledgers. User-confirmed team name MoveBooks AI, team lead Jincen E Mathew, team member Kunal Nangia. Contact remains pending owner input. Selected BFSI title confirmed by user in docs/submission/problem-statement.md.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template download-instruction panel is repurposed in place as the scope statement. Its black layout and image/text frames are preserved. Screenshot is accepted local candidate, not deployed product or live AI.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docs/PRODUCT_CONSTITUTION.md; docs/working-backwards/; docs/product-management/. Value is a product hypothesis, not measured customer impact.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product constitution and Working Backwards internal FAQ. Customer needs and competitive wedge remain hypotheses, not completed research or comparative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feature contracts; accepted browser traces in browser-play and browser-journey. Explicit fallback labels do not establish live model execution.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Editable native process diagram. Source: canonical lifecycle in docs/PRODUCT_CONSTITUTION.md and apps/web/components/journey/journey.ts.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docs/submission/browser-journey/dryrun/prepare-independent-review.png and the preserved crop in assets/plan-local-candidate.png. API1a24a2c full local UI acceptance17/17.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Editable native diagram. Sources: agents/orchestrator; agents/reviewer; services/api/src/movebooks_api/reasoning.py; runtime/persistence.py. Logical roles are deterministic components, not autonomous LLM delegation. Firestore operational state is separate from financial audit.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architecture/deployment documents; cloud-inspection-2026-10-17.md; current user-approved dormant Phase A evidence. Phase A resource provisioning does not establish application activation, effective runtime IAM, live inference or live owner-isolation acceptance.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Working Backwards internal FAQ and model controls. No invented financial impact or price. Cost model intentionally remains unpriced until verified prices and workload inputs exist.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screenshots: browser-play/play-desktop-opening.png; browser-journey/dryrun/start-verified-fpu.png; accepted crops in assets/. Play14/14 checks, full journey17/17 on API1a24a2c. No real provider accounting effect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local backend source6575004: docs/submission/evidence/backend-phase-b-tests.txt, 628 passed /71 skipped in28.95seconds. Of71skips,13emulator tests passed separately13/13in3.04seconds;58original optional/external checks remain unverified.8actualFirebaseWebSDKdeny checks passed locally. Frontend674/51files unchanged. FullUI17/17is historical1a24a2c; video runtimefffd14c. Judge18offline contract cases are not accuracy. No cloud/IAM/inference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product roadmap; release-authorization-plan.md. Hypothetical mature PR/FAQ never authorizes current cloud, upload or financial activation.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URLs verified public/reachable on17 October2026 by integration owner. Candidate publication and deployment remain separate. Accepted video API runtimefffd14c; full latest-source local acceptance1a24a2c recorded separately. Official template itself labels video3Minutes; user-provided portal requirement is3–4minutes, met by3:51.88.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current root-rendered architecture PNG reused. Editable source: docs/architecture-experience/source/google-cloud-deployment.mmd and SVG export. Cloud SQL remains financial authority; operational readback is not financial audit or model-success proof.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263199f9547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18071db2340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d7a994ede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c1611fcec4a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1754fe19041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f4c8d239c4c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bbe0bf35b44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60c30461748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926d5e5e24e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69b93468b45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7000a7be442a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261F01DD-E691-44DA-81A5-EAB5AB7E6B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87D207F-E222-49E7-9184-EF7A9409E0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2565C6B-CEAD-44E9-A216-09B049756D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DF94BCE-F063-4039-B17C-9C55418D5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4B58FD57-8DAB-471B-A453-7892B7484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CC469652-A556-4308-9F72-09FA27B791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2EB7D11B-1296-4962-86E9-3E39A6289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7105456-B8D0-40D5-8E55-9288F34C4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1C97531-FDFF-4397-A4C3-AC952FE4A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89C131C-9C62-4C14-A274-EFB3CDB48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1D14FA2-8C4A-4E02-A63F-5C6512C997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A9A9A1D-5453-4377-819F-4C381AC67F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6972D4E-CD56-4091-92AA-A1F5389EC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9FC54379-D4DE-477A-B39A-57D1FF1AE0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36EC061-F2EF-4E39-A13C-EB9D9EB3D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F8B5B0F-CD5F-4621-869D-1EC623E802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E47D2CDD-8B90-4E74-92BD-C05B99B74B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67F09E5-06DB-40FA-83FE-3C8F0D470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45BA2A0-0D18-4CCC-8CFE-583F8303A7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D64DD88-56A9-4DCA-BB59-807CAB7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32A36CA-4BF0-459D-BC7E-394233B7A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A9122EAA-A009-4C27-84C9-6040C27B0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A57DC0EB-4685-4152-A25C-34847409AC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D2F2D20-BBCF-4734-89D4-2214861CA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254AA0A-783D-4238-9ACE-D9EC318C2C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8023882-BD3B-4DD0-B2E2-6EC8ADA20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525CA8C5-C551-4BF8-918B-14A64885B2F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3BE4A3A6-3FB0-4708-A956-716B70BC0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AE7E68B-3576-43D5-BE1F-EA72EBDA6F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0B0E330-AE22-431F-90FD-7B905468F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662b4c5624b2c" /><Relationship Type="http://schemas.openxmlformats.org/officeDocument/2006/relationships/slideLayout" Target="/ppt/slideLayouts/slideLayout1.xml" Id="R810fb927b84c488d" /><Relationship Type="http://schemas.openxmlformats.org/officeDocument/2006/relationships/slideLayout" Target="/ppt/slideLayouts/slideLayout2.xml" Id="R03b577302fdc4d36" /><Relationship Type="http://schemas.openxmlformats.org/officeDocument/2006/relationships/slideLayout" Target="/ppt/slideLayouts/slideLayout3.xml" Id="Rd95415ff5c014858" /><Relationship Type="http://schemas.openxmlformats.org/officeDocument/2006/relationships/slideLayout" Target="/ppt/slideLayouts/slideLayout4.xml" Id="Rbe89b12550c9471a" /><Relationship Type="http://schemas.openxmlformats.org/officeDocument/2006/relationships/slideLayout" Target="/ppt/slideLayouts/slideLayout5.xml" Id="R3fe466228fbe496f" /><Relationship Type="http://schemas.openxmlformats.org/officeDocument/2006/relationships/slideLayout" Target="/ppt/slideLayouts/slideLayout6.xml" Id="Redb4d353747d453f" /><Relationship Type="http://schemas.openxmlformats.org/officeDocument/2006/relationships/slideLayout" Target="/ppt/slideLayouts/slideLayout7.xml" Id="Red8603d435724fec" /><Relationship Type="http://schemas.openxmlformats.org/officeDocument/2006/relationships/slideLayout" Target="/ppt/slideLayouts/slideLayout8.xml" Id="Rcb8392e891614530" /><Relationship Type="http://schemas.openxmlformats.org/officeDocument/2006/relationships/slideLayout" Target="/ppt/slideLayouts/slideLayout9.xml" Id="Rb80c374dbaf94deb" /><Relationship Type="http://schemas.openxmlformats.org/officeDocument/2006/relationships/slideLayout" Target="/ppt/slideLayouts/slideLayout10.xml" Id="R8f51551f023c451b" /><Relationship Type="http://schemas.openxmlformats.org/officeDocument/2006/relationships/slideLayout" Target="/ppt/slideLayouts/slideLayout11.xml" Id="R1f274171881748c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868DD9C-CEAD-4993-8F28-1851B12A6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8151AC7-4B76-457C-9554-5B3444F0D6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44CCA26-DC31-40A8-94B4-4F1F2D1F94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fb927b84c488d"/>
    <p:sldLayoutId xmlns:r="http://schemas.openxmlformats.org/officeDocument/2006/relationships" id="2147483650" r:id="R03b577302fdc4d36"/>
    <p:sldLayoutId xmlns:r="http://schemas.openxmlformats.org/officeDocument/2006/relationships" id="2147483651" r:id="Rd95415ff5c014858"/>
    <p:sldLayoutId xmlns:r="http://schemas.openxmlformats.org/officeDocument/2006/relationships" id="2147483652" r:id="Rbe89b12550c9471a"/>
    <p:sldLayoutId xmlns:r="http://schemas.openxmlformats.org/officeDocument/2006/relationships" id="2147483653" r:id="R3fe466228fbe496f"/>
    <p:sldLayoutId xmlns:r="http://schemas.openxmlformats.org/officeDocument/2006/relationships" id="2147483654" r:id="Redb4d353747d453f"/>
    <p:sldLayoutId xmlns:r="http://schemas.openxmlformats.org/officeDocument/2006/relationships" id="2147483655" r:id="Red8603d435724fec"/>
    <p:sldLayoutId xmlns:r="http://schemas.openxmlformats.org/officeDocument/2006/relationships" id="2147483656" r:id="Rcb8392e891614530"/>
    <p:sldLayoutId xmlns:r="http://schemas.openxmlformats.org/officeDocument/2006/relationships" id="2147483657" r:id="Rb80c374dbaf94deb"/>
    <p:sldLayoutId xmlns:r="http://schemas.openxmlformats.org/officeDocument/2006/relationships" id="2147483658" r:id="R8f51551f023c451b"/>
    <p:sldLayoutId xmlns:r="http://schemas.openxmlformats.org/officeDocument/2006/relationships" id="2147483659" r:id="R1f274171881748c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fc025a11b40c2" /><Relationship Type="http://schemas.openxmlformats.org/officeDocument/2006/relationships/image" Target="/ppt/media/image.png" Id="R80629aad98014959" /><Relationship Type="http://schemas.openxmlformats.org/officeDocument/2006/relationships/image" Target="/ppt/media/image2.png" Id="R6fd9082032ef4c88" /><Relationship Type="http://schemas.openxmlformats.org/officeDocument/2006/relationships/notesSlide" Target="/ppt/notesSlides/notesSlide1.xml" Id="Rf33d6ae4b796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5fd75e48442b7" /><Relationship Type="http://schemas.openxmlformats.org/officeDocument/2006/relationships/image" Target="/ppt/media/image2.png" Id="Rbf73d2ee4b494447" /><Relationship Type="http://schemas.openxmlformats.org/officeDocument/2006/relationships/image" Target="/ppt/media/image3.png" Id="R0c5a9bb2f0484ce8" /><Relationship Type="http://schemas.openxmlformats.org/officeDocument/2006/relationships/notesSlide" Target="/ppt/notesSlides/notesSlide2.xml" Id="Rfd127bcab3a046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627ec6cd24821" /><Relationship Type="http://schemas.openxmlformats.org/officeDocument/2006/relationships/image" Target="/ppt/media/image4.png" Id="R5da29e7bef80463f" /><Relationship Type="http://schemas.openxmlformats.org/officeDocument/2006/relationships/notesSlide" Target="/ppt/notesSlides/notesSlide3.xml" Id="R38bdab9bf8b1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0a03a34e9475e" /><Relationship Type="http://schemas.openxmlformats.org/officeDocument/2006/relationships/image" Target="/ppt/media/image2.png" Id="R214b3b3957744c5f" /><Relationship Type="http://schemas.openxmlformats.org/officeDocument/2006/relationships/image" Target="/ppt/media/image4.png" Id="Reb1b9b63326a4180" /><Relationship Type="http://schemas.openxmlformats.org/officeDocument/2006/relationships/notesSlide" Target="/ppt/notesSlides/notesSlide4.xml" Id="Rdd4e813c1ab8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65fa2a6c0410b" /><Relationship Type="http://schemas.openxmlformats.org/officeDocument/2006/relationships/image" Target="/ppt/media/image2.png" Id="R9de970112895417b" /><Relationship Type="http://schemas.openxmlformats.org/officeDocument/2006/relationships/image" Target="/ppt/media/image4.png" Id="R919d4a9f635a4357" /><Relationship Type="http://schemas.openxmlformats.org/officeDocument/2006/relationships/notesSlide" Target="/ppt/notesSlides/notesSlide5.xml" Id="Re48ea1f5082e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18644ab448c8" /><Relationship Type="http://schemas.openxmlformats.org/officeDocument/2006/relationships/image" Target="/ppt/media/image2.png" Id="Racfb2c27c0f34f74" /><Relationship Type="http://schemas.openxmlformats.org/officeDocument/2006/relationships/image" Target="/ppt/media/image4.png" Id="R6f8c7f93e3394749" /><Relationship Type="http://schemas.openxmlformats.org/officeDocument/2006/relationships/notesSlide" Target="/ppt/notesSlides/notesSlide6.xml" Id="R0f21086c444541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e468d9b0498d" /><Relationship Type="http://schemas.openxmlformats.org/officeDocument/2006/relationships/image" Target="/ppt/media/image2.png" Id="Raf68a383a4c3466c" /><Relationship Type="http://schemas.openxmlformats.org/officeDocument/2006/relationships/image" Target="/ppt/media/image4.png" Id="Rd15e435874c14690" /><Relationship Type="http://schemas.openxmlformats.org/officeDocument/2006/relationships/image" Target="/ppt/media/image5.png" Id="R81f7d917a41140ed" /><Relationship Type="http://schemas.openxmlformats.org/officeDocument/2006/relationships/notesSlide" Target="/ppt/notesSlides/notesSlide7.xml" Id="Rba1f8ba480a7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7f68cd0e84cf5" /><Relationship Type="http://schemas.openxmlformats.org/officeDocument/2006/relationships/image" Target="/ppt/media/image2.png" Id="R3fc798ed517245ab" /><Relationship Type="http://schemas.openxmlformats.org/officeDocument/2006/relationships/image" Target="/ppt/media/image4.png" Id="R01433f9342a94c04" /><Relationship Type="http://schemas.openxmlformats.org/officeDocument/2006/relationships/notesSlide" Target="/ppt/notesSlides/notesSlide8.xml" Id="R3c26a99a3e414a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cd4ff2e714800" /><Relationship Type="http://schemas.openxmlformats.org/officeDocument/2006/relationships/image" Target="/ppt/media/image2.png" Id="R7db80eb127fb4228" /><Relationship Type="http://schemas.openxmlformats.org/officeDocument/2006/relationships/image" Target="/ppt/media/image4.png" Id="Rb467a03834044b39" /><Relationship Type="http://schemas.openxmlformats.org/officeDocument/2006/relationships/notesSlide" Target="/ppt/notesSlides/notesSlide9.xml" Id="R3b14fd043482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c7f855e6e477a" /><Relationship Type="http://schemas.openxmlformats.org/officeDocument/2006/relationships/image" Target="/ppt/media/image2.png" Id="Rc169ac4c3adb444e" /><Relationship Type="http://schemas.openxmlformats.org/officeDocument/2006/relationships/image" Target="/ppt/media/image4.png" Id="Rb33f4ad2145640c1" /><Relationship Type="http://schemas.openxmlformats.org/officeDocument/2006/relationships/notesSlide" Target="/ppt/notesSlides/notesSlide10.xml" Id="R8a99b81341c449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6f7f882e84f6b" /><Relationship Type="http://schemas.openxmlformats.org/officeDocument/2006/relationships/image" Target="/ppt/media/image2.png" Id="R4daa1985cd4a4f3e" /><Relationship Type="http://schemas.openxmlformats.org/officeDocument/2006/relationships/image" Target="/ppt/media/image4.png" Id="R06b476619a644c51" /><Relationship Type="http://schemas.openxmlformats.org/officeDocument/2006/relationships/image" Target="/ppt/media/image6.png" Id="R1b6eb120d45a4727" /><Relationship Type="http://schemas.openxmlformats.org/officeDocument/2006/relationships/image" Target="/ppt/media/image7.png" Id="R043c03d1e0214361" /><Relationship Type="http://schemas.openxmlformats.org/officeDocument/2006/relationships/notesSlide" Target="/ppt/notesSlides/notesSlide11.xml" Id="R9cf1d58d5e39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8f77a6a84ba7" /><Relationship Type="http://schemas.openxmlformats.org/officeDocument/2006/relationships/image" Target="/ppt/media/image2.png" Id="Rbf2493ca29ab4dce" /><Relationship Type="http://schemas.openxmlformats.org/officeDocument/2006/relationships/image" Target="/ppt/media/image4.png" Id="Rfbf15be95f14470a" /><Relationship Type="http://schemas.openxmlformats.org/officeDocument/2006/relationships/notesSlide" Target="/ppt/notesSlides/notesSlide12.xml" Id="Rd0c772e4dfb543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d6f631554b93" /><Relationship Type="http://schemas.openxmlformats.org/officeDocument/2006/relationships/image" Target="/ppt/media/image2.png" Id="Rc6ba3be157a349d4" /><Relationship Type="http://schemas.openxmlformats.org/officeDocument/2006/relationships/image" Target="/ppt/media/image4.png" Id="R3aa586601bbf4d68" /><Relationship Type="http://schemas.openxmlformats.org/officeDocument/2006/relationships/notesSlide" Target="/ppt/notesSlides/notesSlide13.xml" Id="R5358360852d1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a241f081e4a6c" /><Relationship Type="http://schemas.openxmlformats.org/officeDocument/2006/relationships/image" Target="/ppt/media/image2.png" Id="R6d96180213ff4667" /><Relationship Type="http://schemas.openxmlformats.org/officeDocument/2006/relationships/image" Target="/ppt/media/image4.png" Id="Rd872366fa4cf4190" /><Relationship Type="http://schemas.openxmlformats.org/officeDocument/2006/relationships/notesSlide" Target="/ppt/notesSlides/notesSlide14.xml" Id="R188a695669da49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f91ff07f4d60" /><Relationship Type="http://schemas.openxmlformats.org/officeDocument/2006/relationships/image" Target="/ppt/media/image2.png" Id="R18ec2a3dc20a4c4d" /><Relationship Type="http://schemas.openxmlformats.org/officeDocument/2006/relationships/image" Target="/ppt/media/image4.png" Id="Ra0bf3cf316ea4feb" /><Relationship Type="http://schemas.openxmlformats.org/officeDocument/2006/relationships/image" Target="/ppt/media/image8.png" Id="Rf8887d589c9f45fd" /><Relationship Type="http://schemas.openxmlformats.org/officeDocument/2006/relationships/notesSlide" Target="/ppt/notesSlides/notesSlide15.xml" Id="R4b3f97cfeb1f4e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eee93322040f5" /><Relationship Type="http://schemas.openxmlformats.org/officeDocument/2006/relationships/image" Target="/ppt/media/image2.png" Id="Reef74597c51846a1" /><Relationship Type="http://schemas.openxmlformats.org/officeDocument/2006/relationships/image" Target="/ppt/media/image9.png" Id="R9dc5ee33ff6649d6" /><Relationship Type="http://schemas.openxmlformats.org/officeDocument/2006/relationships/notesSlide" Target="/ppt/notesSlides/notesSlide16.xml" Id="Rd59a9e8b87a141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B22EF72D-D969-487A-A6B2-0E3D511E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0" y="2902694"/>
            <a:ext cx="8760000" cy="200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  <a:lvl1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1pPr>
            <a:lvl2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2pPr>
            <a:lvl3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3pPr>
            <a:lvl4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4pPr>
            <a:lvl5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5pPr>
            <a:lvl6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6pPr>
            <a:lvl7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7pPr>
            <a:lvl8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8pPr>
            <a:lvl9pPr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Details: MoveBooks AI</a:t>
            </a:r>
            <a:endParaRPr sz="2100">
              <a:latin typeface="Google Sans Flex SemiBold"/>
              <a:ea typeface="Google Sans Flex SemiBold"/>
              <a:cs typeface="Google Sans Flex SemiBold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name: MoveBooks AI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lead: Jincen E Mathew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member: Kunal Nangia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Contact: Pending owner input</a:t>
            </a:r>
            <a:endParaRPr sz="1800"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725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Problem: BFSI: Intelligent Risk, Fraud &amp; Financial Experiences</a:t>
            </a:r>
            <a:endParaRPr sz="18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D6E5FF3-8258-4793-AF49-889FF73E5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9aad980149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682FEA7B-11F4-45A8-9DE7-9607A9626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d9082032ef4c8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98870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572E3D95-C1A5-46D2-95BA-1849BE95E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73d2ee4b49444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4D8A96F1-EBDF-42FF-83C3-184A1E93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0E9179C-2E31-4B1F-AA98-5AABB9CB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1968750"/>
            <a:ext cx="3311400" cy="120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Bounded synthetic Beta.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Play, Explore Demo and local test-package validation.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Humans approve. Deterministic tools verify.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0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Live Gemini and operational readback remain gated.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36E84E2E-6566-4013-AE25-9A9226543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9bb2f0484ce8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924203" y="1415252"/>
            <a:ext cx="3604250" cy="21805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241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4E3505A6-D2A6-4A42-BD68-A8B0D2841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29e7bef8046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0DDF9574-BAB0-4E2B-B95D-4E4B3D3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6F6BF271-D875-4FAF-BF75-F85F1DC1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6D8B070-293A-4EEF-82FB-F603C743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25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MoveBooks AI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89C524-00C2-4044-B947-6CE979F6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71675"/>
            <a:ext cx="842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Move your books. Keep your confidence.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9E2DF3-2847-44A1-A813-D75E51F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14625"/>
            <a:ext cx="842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Help accountants understand readiness, make informed mapping decisions and verify the first productive task after a migration.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6E4598-3D29-4BB8-944C-48E72DF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67125"/>
            <a:ext cx="8420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Play teaches concepts. Explore Demo rehearses Harbor Light Books. Try Your Data validates permitted test CSV/JSON packages locally.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0C8E26-7B46-47B5-8A11-6083AFF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19625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Current boundary: synthetic information, synthetic target and approved first invoice. No real provider migration.</a:t>
            </a:r>
          </a:p>
        </p:txBody>
      </p:sp>
    </p:spTree>
    <p:extLst>
      <p:ext uri="{BB962C8B-B14F-4D97-AF65-F5344CB8AC3E}">
        <p14:creationId xmlns:p14="http://schemas.microsoft.com/office/powerpoint/2010/main" val="4304070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2ED202AA-D9BB-47DD-B00F-10301D5B0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4b3b3957744c5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FB5FBE4E-08CB-4101-AFF4-37B38E722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b9b63326a41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8E3B73CA-36AA-482F-8B68-423C3F8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CF515A31-8C06-4830-BDD4-190A55B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69A764-E078-4AB7-A64D-D602BBF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Financial handover risk: an import can finish while mappings, configuration or the first working task remain unresolved.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CC90DF-BC32-4C64-ABFA-2D04988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4790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Proposed differentiation: one governed path from learning and readiness to approved decisions, reconciliation and verified productive use.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4A6E2C-A541-43AC-8930-AE5E7D1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6705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How it works: bounded AI explains evidence and uncertainty. An independent Reviewer challenges assumptions. Humans retain financial authority.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015BFA-B830-43CF-B511-4095563E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86200"/>
            <a:ext cx="842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USP hypothesis: coherent, evidence-backed migration confidence. No competitor-superiority or measured impact claim.</a:t>
            </a:r>
          </a:p>
        </p:txBody>
      </p:sp>
    </p:spTree>
    <p:extLst>
      <p:ext uri="{BB962C8B-B14F-4D97-AF65-F5344CB8AC3E}">
        <p14:creationId xmlns:p14="http://schemas.microsoft.com/office/powerpoint/2010/main" val="18549435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30CE684B-CD8C-4A27-863E-9987D857B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e970112895417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1B76D2A1-4BD1-44AA-9934-1A83F0607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d4a9f635a435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F9877429-17A2-44FE-A433-2C5F12BC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173314EA-A282-44AE-ABA3-8738B8C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F15836-39FF-4443-A4E3-34D6376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Play: keyboard/touch office mission with evidence, a mapping puzzle and accessible alternatives.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AAA9FA8-EC75-42B4-B169-7DCE513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85975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Explore Demo: discovery, readiness, versioned plan, account 1200 mapping, human decisions and synthetic migration.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8BA687-5DFF-4164-B07A-6210B1B4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4320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Try Your Data: local validation, actionable errors, replacement/revalidation and explicit review. Hosted handoff remains gated.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3B3CDE0-BDFE-4878-803C-8EF83C5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00425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Reasoning and review: user-requested bounded advisor, independent challenge and clearly labeled deterministic fallback.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112BC1-FAEE-4D85-A456-0ADEF3F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8420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Trust: checkpoints, idempotency, controlled recovery, exact reconciliation, sensitive approval and verified synthetic FPU.</a:t>
            </a:r>
          </a:p>
        </p:txBody>
      </p:sp>
    </p:spTree>
    <p:extLst>
      <p:ext uri="{BB962C8B-B14F-4D97-AF65-F5344CB8AC3E}">
        <p14:creationId xmlns:p14="http://schemas.microsoft.com/office/powerpoint/2010/main" val="19454842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4F68C3-FC27-4C09-8C88-CAFD416FBE8F}"/>
              </a:ext>
            </a:extLst>
          </p:cNvPr>
          <p:cNvCxnSpPr>
            <a:stCxn xmlns:a="http://schemas.openxmlformats.org/drawingml/2006/main" id="106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7029450" y="2643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7853F5-4B25-40E0-BC55-31378F448BBE}"/>
              </a:ext>
            </a:extLst>
          </p:cNvPr>
          <p:cNvCxnSpPr>
            <a:stCxn xmlns:a="http://schemas.openxmlformats.org/drawingml/2006/main" id="103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5314950" y="2643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BA0AB17-11B1-4AC7-AD7D-F4C28A72BAE8}"/>
              </a:ext>
            </a:extLst>
          </p:cNvPr>
          <p:cNvCxnSpPr>
            <a:stCxn xmlns:a="http://schemas.openxmlformats.org/drawingml/2006/main" id="100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3600450" y="2643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6DFA66-0C8C-4E7E-8C57-C4971CF2F0C2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885950" y="2643188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6803B6C0-B83A-4EB2-B879-38A5EEAF9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fb2c27c0f34f7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41989069-1CB1-46BA-A436-D01353920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c7f93e33947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0B5B981D-2959-49CD-8C39-F1A3782B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9764120B-CC52-4026-A28D-16970BB7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88F0F4-5470-4D2E-8D64-5981A11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Choose Play, Explore Demo or local test-package validation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37574A-4475-443C-9623-562BEB9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431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E343D35-AD02-43F9-A5C4-F072239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Understand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79F9D4-5A95-410B-8A01-7109D9C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Discover / Assess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684589-00E7-44F4-86DA-BC71AC5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431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898690-C39A-4354-80C6-6AB89479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05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Prepare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6D2DA7-25AA-4270-BC56-164FE1A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860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Plan / Map / Approve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16A794-851B-4389-A09A-581CD45D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3312A4-ED66-4038-ACC4-334E8CBA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05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Move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B87EA7-8D5F-40DC-A337-3DB7BE1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860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Migrate / Resolve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0DE5C3-C99F-4CE2-ACEE-223B528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431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B38222-049C-43F5-986C-F3BBC02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05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Verify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3A1D14-4295-40B5-91FB-7FB9DB8D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860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Validate / Configure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2FBCD9-6CBD-4C85-ADFB-C62AB0F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43125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E4FFA6E-0F74-4425-8AF2-D137F4E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Start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1434BDF-3AE2-4084-A00B-1390A9D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00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Onboard / FPU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13844C-D397-4449-917B-1AAFEDEB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842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Consequential choices require the authorized human. Financial discrepancies block progress. Policy alone permits bounded transient retries.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8F6097-8A7E-483F-B395-4E47A28C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0"/>
            <a:ext cx="842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Completion: required controls pass, then an approved synthetic invoice receives deterministic verification.</a:t>
            </a:r>
          </a:p>
        </p:txBody>
      </p:sp>
    </p:spTree>
    <p:extLst>
      <p:ext uri="{BB962C8B-B14F-4D97-AF65-F5344CB8AC3E}">
        <p14:creationId xmlns:p14="http://schemas.microsoft.com/office/powerpoint/2010/main" val="585095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DA8B5AF0-E884-460F-8BB4-C6F083887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68a383a4c3466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91AA3608-745A-4D86-8837-42CFE9CC3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435874c146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2BAF9164-058C-4D8D-9795-9798EAC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C8DA3960-969D-489C-B125-6AB2013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5FC0D5-CB95-4DFA-963E-263A288D5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7d917a41140ed"/>
          <a:stretch xmlns:a="http://schemas.openxmlformats.org/drawingml/2006/main"/>
        </p:blipFill>
        <p:spPr>
          <a:xfrm xmlns:a="http://schemas.openxmlformats.org/drawingml/2006/main">
            <a:off x="874395" y="1381125"/>
            <a:ext cx="4594860" cy="3190875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CA658A-6BAE-4E10-8F58-BE8D051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Implemented decision UI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6E9A84-14C9-49BA-AB43-51D78765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Inspect account 1200.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Request independent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See uncertainty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Approve, reject or modify.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E5B048-BC7C-4D4A-A3E5-C8F244E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14875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Authentic local candidate screenshot, not a simulated mockup or deployed-candidate claim.</a:t>
            </a:r>
          </a:p>
        </p:txBody>
      </p:sp>
    </p:spTree>
    <p:extLst>
      <p:ext uri="{BB962C8B-B14F-4D97-AF65-F5344CB8AC3E}">
        <p14:creationId xmlns:p14="http://schemas.microsoft.com/office/powerpoint/2010/main" val="10035276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45BA237-CE49-42BB-B318-3E96618EF2B0}"/>
              </a:ext>
            </a:extLst>
          </p:cNvPr>
          <p:cNvCxnSpPr>
            <a:stCxn xmlns:a="http://schemas.openxmlformats.org/drawingml/2006/main" id="116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763905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EB32DB-8E04-4001-9C53-2FDE47462D1D}"/>
              </a:ext>
            </a:extLst>
          </p:cNvPr>
          <p:cNvCxnSpPr>
            <a:stCxn xmlns:a="http://schemas.openxmlformats.org/drawingml/2006/main" id="114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57200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64C7C3D-7BFA-44DA-AEAA-972312DFBA31}"/>
              </a:ext>
            </a:extLst>
          </p:cNvPr>
          <p:cNvCxnSpPr>
            <a:stCxn xmlns:a="http://schemas.openxmlformats.org/drawingml/2006/main" id="118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1504950" y="2286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FCB59E4-5870-463A-ACAB-B6B42C685CA5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5715000" y="19288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E9058A8-6845-4522-8996-73BA09F11BA1}"/>
              </a:ext>
            </a:extLst>
          </p:cNvPr>
          <p:cNvCxnSpPr>
            <a:stCxn xmlns:a="http://schemas.openxmlformats.org/drawingml/2006/main" id="112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2647950" y="19288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A73E8"/>
            </a:solidFill>
            <a:tailEnd type="arrow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EAC6EBEB-C434-4DAA-B250-22AE46409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c798ed517245a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CC069AD2-A716-4F20-A2D3-E4843FE60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33f9342a94c0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8F5760F8-0039-44E6-9FFC-F9BCCB0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C61125F9-0BD7-4B97-AD00-8AEFEEA0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D3E8C22-DF4A-4E47-87A3-8D34D18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F163C59-6E97-437A-B09E-BB20582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Accountant / UI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BC99813-7460-4B71-A980-AC4274C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3A3C1E-82AE-4650-B0B6-4FE21170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Authenticated API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EA29F2-04B1-4FAC-AB52-D09A5FA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71625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78C028F-0C4A-42D1-8464-988F5C5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0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Python workflow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EAE4C4-4551-49CF-BA27-DBA8B0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3C1A700-43E5-42C4-85BF-4800E5B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Human decisions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F63935-CE9F-4CC6-98BD-F050ADD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FE7AB14-DDA7-4EEE-9982-30DC9CA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/ Reviewer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9DCFF3E-291A-41F1-B291-42E596A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28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1A73E8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6E8F02C-6CE1-4D49-9167-6AE8652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Financial tools</a:t>
            </a:r>
          </a:p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75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SQL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7A4492-8230-4EDC-9257-1419D13F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8420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Advice returns to the accountant. Only authorized deterministic operations change financial state. Cloud SQL remains financial authority.</a:t>
            </a:r>
          </a:p>
        </p:txBody>
      </p:sp>
    </p:spTree>
    <p:extLst>
      <p:ext uri="{BB962C8B-B14F-4D97-AF65-F5344CB8AC3E}">
        <p14:creationId xmlns:p14="http://schemas.microsoft.com/office/powerpoint/2010/main" val="20460894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285465E2-F0A1-47AC-A2AC-B3D109BF8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b80eb127fb422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1E43EA4A-E23E-452C-861E-12FF213F5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7a03834044b3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CC22902D-CE64-41C1-8F21-7C47895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52511776-78A1-40F1-B250-D567B04E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3D13A2-C60C-41A0-BE98-3442C98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Application: Next.js / TypeScript UI and FastAPI / Python services, with Firebase Hosting, Cloud Run, Firebase Authentication and Cloud SQL boundaries.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AC2EAC8-2866-4C38-A215-256D066A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AI source: bounded Vertex AI / Gemini and Google ADK advisory integration. Public API remains deterministic-only; model access/lifecycle and runtime evidence are gated.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C3A9F1-E1AA-44D8-8830-2D10FC1E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051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Operational source: owner-scoped Firestore reservations and outcome readback. Dormant Singapore database, deny-client rules and index provisioned; both control flags false.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C79EF3-FBDF-413A-A278-2060A8D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Supporting adapters: private Cloud Storage, allowlisted Secret Manager, sanitized Logging. Source presence does not prove active service use.</a:t>
            </a:r>
          </a:p>
        </p:txBody>
      </p:sp>
    </p:spTree>
    <p:extLst>
      <p:ext uri="{BB962C8B-B14F-4D97-AF65-F5344CB8AC3E}">
        <p14:creationId xmlns:p14="http://schemas.microsoft.com/office/powerpoint/2010/main" val="6367134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D907BE56-C753-458A-83BB-1B174490F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69ac4c3adb444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1E1F90B1-06BC-48BA-A446-9380371CD8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f4ad2145640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4348AD9E-61F6-4FE8-90B9-95A883C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9E747D6A-0B53-4C6F-B0C1-7300E24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9C3A5E-5653-4BCB-9B01-19DD729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 measured implementation spend, current workload quote or commercial price is asserted.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DA5656D-EF08-4C41-B146-78DA784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0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Cost model: Cloud Run compute/time, SQL capacity/storage/backups, model input/output tokens, Firestore operations, storage/egress and logs.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CE5EF73-4617-41FB-8E08-F4E49E4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95625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Human effort includes financial review, support and recovery. Publish region, pricing date, workload assumptions and observed spend before a numerical estimate.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DCF385-C511-4AA7-A88D-983B63E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8420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Controls bound exposure through owner quotas, conservative durable budget reservations and a kill switch. Resource free-tier metadata is not a guarantee of zero cost.</a:t>
            </a:r>
          </a:p>
        </p:txBody>
      </p:sp>
    </p:spTree>
    <p:extLst>
      <p:ext uri="{BB962C8B-B14F-4D97-AF65-F5344CB8AC3E}">
        <p14:creationId xmlns:p14="http://schemas.microsoft.com/office/powerpoint/2010/main" val="11433608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FB8596C4-F576-4F83-906A-A5D5D7219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aa1985cd4a4f3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4E042C97-7A89-45A2-A8A0-33CDE6CACC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476619a644c5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8EE6C385-3DD3-41ED-BD68-442F51B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395D9A7A-2560-4826-8D76-667FB63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D5738A0-5818-4FA6-ADEC-69BA1D4AC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eb120d45a4727"/>
          <a:stretch xmlns:a="http://schemas.openxmlformats.org/drawingml/2006/main"/>
        </p:blipFill>
        <p:spPr>
          <a:xfrm xmlns:a="http://schemas.openxmlformats.org/drawingml/2006/main">
            <a:off x="361950" y="1594723"/>
            <a:ext cx="4095750" cy="2477929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525A22F-E285-413F-961E-8746495B8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c03d1e0214361"/>
          <a:stretch xmlns:a="http://schemas.openxmlformats.org/drawingml/2006/main"/>
        </p:blipFill>
        <p:spPr>
          <a:xfrm xmlns:a="http://schemas.openxmlformats.org/drawingml/2006/main">
            <a:off x="4779645" y="1476375"/>
            <a:ext cx="3909060" cy="2714625"/>
          </a:xfrm>
          <a:prstGeom xmlns:a="http://schemas.openxmlformats.org/drawingml/2006/main" prst="rect">
            <a:avLst/>
          </a:prstGeom>
        </p:spPr>
      </p:pic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FD91A33-A0A6-4CEE-B0F7-99EAC71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33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Playable office opening mission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94E3EA-CB26-437B-99CE-FC93ECF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Approved invoice and verified FPU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D41ABBC-B1F2-41C6-884D-73D7CF9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10125"/>
            <a:ext cx="842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Authentic local candidate captures. The synthetic invoice is USD 107.25 including tax.</a:t>
            </a:r>
          </a:p>
        </p:txBody>
      </p:sp>
    </p:spTree>
    <p:extLst>
      <p:ext uri="{BB962C8B-B14F-4D97-AF65-F5344CB8AC3E}">
        <p14:creationId xmlns:p14="http://schemas.microsoft.com/office/powerpoint/2010/main" val="1300681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0D5F6210-A48B-4EC6-98DE-ECD56DCA8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2493ca29ab4dc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814C08D2-6CCB-4B26-8FE9-5925B588B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15be95f14470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137C6676-E2E2-47A1-A6FD-C69EFC2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359E1A64-65B1-4865-B05B-D87231D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D8FB24-FD06-401C-9009-736685B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628 backend passed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5D62135-DE49-4B2D-951B-EA2D9331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763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23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674 frontend passed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6CDD28D-323B-442D-B559-9BCEBD6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47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71 skipped; source 6575004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81BCDB-6D4F-41A9-87C2-1A16CD2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51 files; lint/types/build passed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653A9BF-0C27-4941-8CA9-8329224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575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Full backend suite: 628 passed / 71 skipped in 28.95 seconds. The 58 original optional/external checks remain unverified.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9C260C0-C499-49AE-8CAC-E0AB148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433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The 13 emulator skips passed separately in 3.04 seconds, plus 8 actual Firebase Web SDK denial checks. These are local, not cloud/IAM tests.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0CB0EF4-53F5-470A-8242-0CCC09D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29100"/>
            <a:ext cx="842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UI acceptance 17/17 belongs to 1a24a2c; video API fffd14c remains separate. Judge: 18 offline contract cases, not model-accuracy results.</a:t>
            </a:r>
          </a:p>
        </p:txBody>
      </p:sp>
    </p:spTree>
    <p:extLst>
      <p:ext uri="{BB962C8B-B14F-4D97-AF65-F5344CB8AC3E}">
        <p14:creationId xmlns:p14="http://schemas.microsoft.com/office/powerpoint/2010/main" val="6191757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7F043EA3-94DA-48E5-B8AF-B200B9984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ba3be157a349d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9933E4B2-17EF-481B-BFE2-4E0817698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586601bbf4d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794F458-8DDC-4E88-8BF2-36E0FF7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5D27048E-BDFF-4C74-8B3F-024DB0A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4BDB8EE-81D5-44A4-83EC-07842B0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Now: complete the official-template package, complete the pending contact field, retain accepted synthetic journeys and finish local Phase B integration tests.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82B4B26-78D5-46A5-8A7D-D0AA773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Next, release-gated: verify the operational runtime and model lifecycle/access, then obtain explicit deployment/publication authorization.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39C690A-4B77-4430-A5F8-43F2CCC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051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Hosted uploads require their independent parser-isolation, malware, identity/tenant, retention, abuse and negative-test gate. Local validation stays available.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EFE98BD-7A41-4952-B281-6BD1E93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8420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538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Later: supported provider adapters, reviewed real-data handling, delegated roles and observed customer outcomes. No current real-provider migration is offered.</a:t>
            </a:r>
          </a:p>
        </p:txBody>
      </p:sp>
    </p:spTree>
    <p:extLst>
      <p:ext uri="{BB962C8B-B14F-4D97-AF65-F5344CB8AC3E}">
        <p14:creationId xmlns:p14="http://schemas.microsoft.com/office/powerpoint/2010/main" val="17174116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6F753E60-EF9D-46D4-B46F-C5029CBDC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96180213ff466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906F1483-99BE-4E25-A2DC-B0F5C2373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2366fa4cf41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A63E58C8-ABBB-450F-ADCA-846696F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48A292E-C2FD-4B4D-B626-0987E94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  <a:lvl1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1pPr>
            <a:lvl2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2pPr>
            <a:lvl3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3pPr>
            <a:lvl4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4pPr>
            <a:lvl5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5pPr>
            <a:lvl6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6pPr>
            <a:lvl7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7pPr>
            <a:lvl8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8pPr>
            <a:lvl9pPr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0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0C94C90-463E-4B0F-A844-A4E1835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GitHub Public Repository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8658161-5A62-426C-B2A0-DEC400B1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0"/>
            <a:ext cx="842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https://github.com/JEMathew/movers-and-ledgers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6716376-9884-4910-BD6C-54D6BEE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Demo Video Link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85C13E6-CC9C-4694-9B0E-3C6B971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00375"/>
            <a:ext cx="842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Public URL pending authorized publication. Accepted local file: working-product-demo.webm (3:51.88).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BFE2C60-C16C-4FDB-B86E-3CA6FC07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57625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1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</a:rPr>
              <a:t>Final Product Link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753BC84-2FFB-4989-98A2-F716C9F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86250"/>
            <a:ext cx="842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725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https://movebooks-si.web.app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5BFE7EA-9893-40E4-9FD7-E47E8F0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33925"/>
            <a:ext cx="842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27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Reachable public Beta. This does not prove the submission candidate is deployed.</a:t>
            </a:r>
          </a:p>
        </p:txBody>
      </p:sp>
    </p:spTree>
    <p:extLst>
      <p:ext uri="{BB962C8B-B14F-4D97-AF65-F5344CB8AC3E}">
        <p14:creationId xmlns:p14="http://schemas.microsoft.com/office/powerpoint/2010/main" val="3214091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AE4939E2-82F1-4D2A-9E74-363C432A9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ec2a3dc20a4c4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EBBE4CDB-3BD6-49E7-9496-9400B8873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f3cf316ea4fe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24F7D9F-AE69-4049-B02D-C6A628C8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71875"/>
            <a:ext cx="9144000" cy="71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A43BF8F-588B-418D-9228-A68FE414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7" y="663797"/>
            <a:ext cx="8613267" cy="5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implementation and release gates</a:t>
            </a:r>
          </a:p>
        </p:txBody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84EA200-3031-441C-BC83-69D8101CB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87d589c9f45fd"/>
          <a:stretch xmlns:a="http://schemas.openxmlformats.org/drawingml/2006/main"/>
        </p:blipFill>
        <p:spPr>
          <a:xfrm xmlns:a="http://schemas.openxmlformats.org/drawingml/2006/main">
            <a:off x="1018632" y="1381125"/>
            <a:ext cx="7106736" cy="2857500"/>
          </a:xfrm>
          <a:prstGeom xmlns:a="http://schemas.openxmlformats.org/drawingml/2006/main" prst="rect">
            <a:avLst/>
          </a:prstGeom>
        </p:spPr>
      </p:pic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54CA2A4-B9AA-4196-BD0D-10872864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00550"/>
            <a:ext cx="8420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defPPr>
            <a:lvl1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defRPr>
            </a:pPr>
            <a:r>
              <a:rPr sz="1425" b="0">
                <a:solidFill>
                  <a:srgbClr val="4D5156"/>
                </a:solidFill>
                <a:latin typeface="Google Sans Flex"/>
                <a:ea typeface="Google Sans Flex"/>
                <a:cs typeface="Google Sans Flex"/>
              </a:rPr>
              <a:t>Dormant operations resources are provisioned. Both control flags remain false. Application activation, live inference and candidate deployment require separate evidence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688639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6BF3B0BF-CD70-49A4-9BF4-8CED41E20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f74597c51846a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868E48D1-1973-4E0B-A87F-CCD42B968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5ee33ff6649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809440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2026-10-17T10:59:48.0590000Z</dcterms:created>
  <dcterms:modified xsi:type="dcterms:W3CDTF">2026-10-17T10:59:48.0590000Z</dcterms:modified>
</coreProperties>
</file>