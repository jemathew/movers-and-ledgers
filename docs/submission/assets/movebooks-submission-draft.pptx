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52ef3e1e714874" /><Relationship Type="http://schemas.openxmlformats.org/officeDocument/2006/relationships/extended-properties" Target="/docProps/app.xml" Id="R2ed12961770b41dc" /><Relationship Type="http://schemas.openxmlformats.org/officeDocument/2006/relationships/officeDocument" Target="/ppt/presentation.xml" Id="Rbd552c27b0b249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226f739db324d7e"/>
  </p:sldMasterIdLst>
  <p:notesMasterIdLst>
    <p:notesMasterId xmlns:r="http://schemas.openxmlformats.org/officeDocument/2006/relationships" r:id="Re0dd5cd8f6734bc6"/>
  </p:notesMasterIdLst>
  <p:sldIdLst>
    <p:sldId xmlns:r="http://schemas.openxmlformats.org/officeDocument/2006/relationships" id="256" r:id="Ra94e4893fde04579"/>
    <p:sldId xmlns:r="http://schemas.openxmlformats.org/officeDocument/2006/relationships" id="257" r:id="R89c92a7144af4d46"/>
    <p:sldId xmlns:r="http://schemas.openxmlformats.org/officeDocument/2006/relationships" id="258" r:id="R5b5108b2437c41e9"/>
    <p:sldId xmlns:r="http://schemas.openxmlformats.org/officeDocument/2006/relationships" id="259" r:id="R1c86798c13e2460a"/>
    <p:sldId xmlns:r="http://schemas.openxmlformats.org/officeDocument/2006/relationships" id="260" r:id="R7572a16a96e14fbd"/>
    <p:sldId xmlns:r="http://schemas.openxmlformats.org/officeDocument/2006/relationships" id="261" r:id="Rdead22ee230749ea"/>
    <p:sldId xmlns:r="http://schemas.openxmlformats.org/officeDocument/2006/relationships" id="262" r:id="R51ba50ce40744bcd"/>
    <p:sldId xmlns:r="http://schemas.openxmlformats.org/officeDocument/2006/relationships" id="263" r:id="Rd4cec5cfd7b64431"/>
    <p:sldId xmlns:r="http://schemas.openxmlformats.org/officeDocument/2006/relationships" id="264" r:id="Rcf24104f13004ae0"/>
    <p:sldId xmlns:r="http://schemas.openxmlformats.org/officeDocument/2006/relationships" id="265" r:id="R09ec2c9574284c6f"/>
    <p:sldId xmlns:r="http://schemas.openxmlformats.org/officeDocument/2006/relationships" id="266" r:id="Re4c5d0f60f724355"/>
    <p:sldId xmlns:r="http://schemas.openxmlformats.org/officeDocument/2006/relationships" id="267" r:id="R624adac2a26d490e"/>
    <p:sldId xmlns:r="http://schemas.openxmlformats.org/officeDocument/2006/relationships" id="268" r:id="R996f017cf0714a37"/>
    <p:sldId xmlns:r="http://schemas.openxmlformats.org/officeDocument/2006/relationships" id="269" r:id="Rc134b689ee9c4541"/>
    <p:sldId xmlns:r="http://schemas.openxmlformats.org/officeDocument/2006/relationships" id="270" r:id="Rc82340bb60754ea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71372e4c3f494d" /><Relationship Type="http://schemas.openxmlformats.org/officeDocument/2006/relationships/slideMaster" Target="/ppt/slideMasters/slideMaster1.xml" Id="R3226f739db324d7e" /><Relationship Type="http://schemas.openxmlformats.org/officeDocument/2006/relationships/notesMaster" Target="/ppt/notesMasters/notesMaster1.xml" Id="Re0dd5cd8f6734bc6" /><Relationship Type="http://schemas.openxmlformats.org/officeDocument/2006/relationships/presProps" Target="/ppt/presProps.xml" Id="R94120388142b40fb" /><Relationship Type="http://schemas.openxmlformats.org/officeDocument/2006/relationships/tableStyles" Target="/ppt/tableStyles.xml" Id="Rf3cb7df776d344ae" /><Relationship Type="http://schemas.openxmlformats.org/officeDocument/2006/relationships/slide" Target="/ppt/slides/slide1.xml" Id="Ra94e4893fde04579" /><Relationship Type="http://schemas.openxmlformats.org/officeDocument/2006/relationships/slide" Target="/ppt/slides/slide2.xml" Id="R89c92a7144af4d46" /><Relationship Type="http://schemas.openxmlformats.org/officeDocument/2006/relationships/slide" Target="/ppt/slides/slide3.xml" Id="R5b5108b2437c41e9" /><Relationship Type="http://schemas.openxmlformats.org/officeDocument/2006/relationships/slide" Target="/ppt/slides/slide4.xml" Id="R1c86798c13e2460a" /><Relationship Type="http://schemas.openxmlformats.org/officeDocument/2006/relationships/slide" Target="/ppt/slides/slide5.xml" Id="R7572a16a96e14fbd" /><Relationship Type="http://schemas.openxmlformats.org/officeDocument/2006/relationships/slide" Target="/ppt/slides/slide6.xml" Id="Rdead22ee230749ea" /><Relationship Type="http://schemas.openxmlformats.org/officeDocument/2006/relationships/slide" Target="/ppt/slides/slide7.xml" Id="R51ba50ce40744bcd" /><Relationship Type="http://schemas.openxmlformats.org/officeDocument/2006/relationships/slide" Target="/ppt/slides/slide8.xml" Id="Rd4cec5cfd7b64431" /><Relationship Type="http://schemas.openxmlformats.org/officeDocument/2006/relationships/slide" Target="/ppt/slides/slide9.xml" Id="Rcf24104f13004ae0" /><Relationship Type="http://schemas.openxmlformats.org/officeDocument/2006/relationships/slide" Target="/ppt/slides/slide10.xml" Id="R09ec2c9574284c6f" /><Relationship Type="http://schemas.openxmlformats.org/officeDocument/2006/relationships/slide" Target="/ppt/slides/slide11.xml" Id="Re4c5d0f60f724355" /><Relationship Type="http://schemas.openxmlformats.org/officeDocument/2006/relationships/slide" Target="/ppt/slides/slide12.xml" Id="R624adac2a26d490e" /><Relationship Type="http://schemas.openxmlformats.org/officeDocument/2006/relationships/slide" Target="/ppt/slides/slide13.xml" Id="R996f017cf0714a37" /><Relationship Type="http://schemas.openxmlformats.org/officeDocument/2006/relationships/slide" Target="/ppt/slides/slide14.xml" Id="Rc134b689ee9c4541" /><Relationship Type="http://schemas.openxmlformats.org/officeDocument/2006/relationships/slide" Target="/ppt/slides/slide15.xml" Id="Rc82340bb60754e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9ded4e9e7c41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7c814cd99a460d" /><Relationship Type="http://schemas.openxmlformats.org/officeDocument/2006/relationships/notesMaster" Target="/ppt/notesMasters/notesMaster1.xml" Id="R6565f84e335e49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0a0b14d5ab4363" /><Relationship Type="http://schemas.openxmlformats.org/officeDocument/2006/relationships/notesMaster" Target="/ppt/notesMasters/notesMaster1.xml" Id="R32940c68cad4430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3b429a9a524a4b" /><Relationship Type="http://schemas.openxmlformats.org/officeDocument/2006/relationships/notesMaster" Target="/ppt/notesMasters/notesMaster1.xml" Id="R953f6a1895d543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f82f312f7d4cff" /><Relationship Type="http://schemas.openxmlformats.org/officeDocument/2006/relationships/notesMaster" Target="/ppt/notesMasters/notesMaster1.xml" Id="Rdaf7f975da5c4ce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8b4604a89548b6" /><Relationship Type="http://schemas.openxmlformats.org/officeDocument/2006/relationships/notesMaster" Target="/ppt/notesMasters/notesMaster1.xml" Id="R951389dde4464e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882faa619b749d9" /><Relationship Type="http://schemas.openxmlformats.org/officeDocument/2006/relationships/notesMaster" Target="/ppt/notesMasters/notesMaster1.xml" Id="Re8a09ffecbeb4c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a56ef8df7404913" /><Relationship Type="http://schemas.openxmlformats.org/officeDocument/2006/relationships/notesMaster" Target="/ppt/notesMasters/notesMaster1.xml" Id="R90e6baa8435742a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18f1d58ff64f3b" /><Relationship Type="http://schemas.openxmlformats.org/officeDocument/2006/relationships/notesMaster" Target="/ppt/notesMasters/notesMaster1.xml" Id="R348e894fbe074d5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fd4172b484481a" /><Relationship Type="http://schemas.openxmlformats.org/officeDocument/2006/relationships/notesMaster" Target="/ppt/notesMasters/notesMaster1.xml" Id="Rfb29185149e04c1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90928bf6aed4e3c" /><Relationship Type="http://schemas.openxmlformats.org/officeDocument/2006/relationships/notesMaster" Target="/ppt/notesMasters/notesMaster1.xml" Id="Rc58ebba1405d4ee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ae724c758ca4113" /><Relationship Type="http://schemas.openxmlformats.org/officeDocument/2006/relationships/notesMaster" Target="/ppt/notesMasters/notesMaster1.xml" Id="Rc884336416b14b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09b9e7a2d0e43fc" /><Relationship Type="http://schemas.openxmlformats.org/officeDocument/2006/relationships/notesMaster" Target="/ppt/notesMasters/notesMaster1.xml" Id="Ra79ecc796a95480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fb300e281cf4a40" /><Relationship Type="http://schemas.openxmlformats.org/officeDocument/2006/relationships/notesMaster" Target="/ppt/notesMasters/notesMaster1.xml" Id="R9587b4cd784b419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96c13349be14a6c" /><Relationship Type="http://schemas.openxmlformats.org/officeDocument/2006/relationships/notesMaster" Target="/ppt/notesMasters/notesMaster1.xml" Id="R64263227c50d4b2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bc1d0a3e06a4bea" /><Relationship Type="http://schemas.openxmlformats.org/officeDocument/2006/relationships/notesMaster" Target="/ppt/notesMasters/notesMaster1.xml" Id="R32197a57b26046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docs/PRODUCT_CONSTITUTION.md; docs/working-backwards/product-press-release.md. Draft content deck. Exact prescribed template missing and compliance unresolved.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 roster/contact not provided in source material. Do not infer named contributors from role titles.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product directive; docs/PRODUCT_CONSTITUTION.md. Problem needs are strategy hypotheses, not completed customer research. User-confirmed challenge: BFSI: Intelligent Risk, Fraud &amp; Financial Experiences. Full statement in docs/submission/problem-statement.md.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docs/product-management/blueprint.md; feature-contracts.md. Current scope bounded synthetic Beta.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docs/working-backwards/internal-faq.md. Differentiation is a positioning hypothesis. No measured competitor superiority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docs/submission/browser-play/play-desktop-opening.png and browser-evidence.json. Authentic local combined-candidate Play screenshot accepted by integration owner, 14 browser checks passed. Local candidate only, not deployed. No live Gemini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docs/architecture-experience/source/customer-journey.mmd; docs/PRODUCT_CONSTITUTION.md.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docs/ux-v2/pr05/after-prepare-1440.jpg. Authentic historical candidate screenshot, not a wireframe or proof of this sprint deployment.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docs/architecture/beta-v1-agent-architecture.md; google-native-runtime.md. Diagram depicts implementation boundaries; cloud activation evidence is separate.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docs/deployment/public-beta.md; docs/architecture/google-native-runtime.md; user last-known infrastructure facts. No new live verification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docs/working-backwards/internal-faq.md. No measured spend, current price quote, workload volumes or commercial price available.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docs/ux-v2/pr04/after-verified-1440.jpg; agents/orchestrator/onboard_fpu.py; tests/test_onboard_fpu.py. Historical authentic screenshot.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integration owner final combined candidate report, 17 October 2026: backend 559 passed / 58 skipped in 26.65 seconds; frontend 658 passed across 50 files; lint, typecheck and build passed. Focused independent model-control/Reviewer rerun: 36 passed in 1.49 seconds. These are local implementation tests, not live-cloud evidence or a model-quality benchmark.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docs/product-management/blueprint.md section10. Planned work is not credited as deployed.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URLs: README.md and docs/deployment/public-beta.md. Current permissions/version to be verified by release owner. Exact official template and final working-video link still missing.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8c8d3f1af24ac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ebd765d34a401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ba989791fd4a2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f75d745c474ba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4efc9df7e2426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bccee35fae42b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BB25011-B854-4BF3-A0E7-72937A1A95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C4C2743-4FD6-4BC7-99AF-7900FED9494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58748CF-B156-4F00-9454-6498C0ACD0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52BACE8-BC41-4995-A7BE-F3D6F30D80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3780A7E-BE1A-4ED0-B3A6-95F86013A7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D8F73D8-C9E7-4663-97DB-26CA865D2D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3BD0F10-35A2-46E0-AE8A-22C8787FE4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E178E5B-CDE9-4FB1-8A89-4CD58D5F6E1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FB4F01-61AB-4AC4-8FC5-6267A9EE56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26ABF13-64B0-43A6-953E-035B21A3F1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11c5f23a7f428b" /><Relationship Type="http://schemas.openxmlformats.org/officeDocument/2006/relationships/slideLayout" Target="/ppt/slideLayouts/slideLayout1.xml" Id="R39147f4597334244" /><Relationship Type="http://schemas.openxmlformats.org/officeDocument/2006/relationships/slideLayout" Target="/ppt/slideLayouts/slideLayout2.xml" Id="R7797a96106c14f0b" /><Relationship Type="http://schemas.openxmlformats.org/officeDocument/2006/relationships/slideLayout" Target="/ppt/slideLayouts/slideLayout3.xml" Id="Rb69afea43e4d4d5a" /><Relationship Type="http://schemas.openxmlformats.org/officeDocument/2006/relationships/slideLayout" Target="/ppt/slideLayouts/slideLayout4.xml" Id="R8284d819e7ad4a06" /><Relationship Type="http://schemas.openxmlformats.org/officeDocument/2006/relationships/slideLayout" Target="/ppt/slideLayouts/slideLayout5.xml" Id="R7bfe153074a84535" /><Relationship Type="http://schemas.openxmlformats.org/officeDocument/2006/relationships/slideLayout" Target="/ppt/slideLayouts/slideLayout6.xml" Id="R652ceed78ee94c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147f4597334244"/>
    <p:sldLayoutId xmlns:r="http://schemas.openxmlformats.org/officeDocument/2006/relationships" id="2147483650" r:id="R7797a96106c14f0b"/>
    <p:sldLayoutId xmlns:r="http://schemas.openxmlformats.org/officeDocument/2006/relationships" id="2147483651" r:id="Rb69afea43e4d4d5a"/>
    <p:sldLayoutId xmlns:r="http://schemas.openxmlformats.org/officeDocument/2006/relationships" id="2147483652" r:id="R8284d819e7ad4a06"/>
    <p:sldLayoutId xmlns:r="http://schemas.openxmlformats.org/officeDocument/2006/relationships" id="2147483653" r:id="R7bfe153074a84535"/>
    <p:sldLayoutId xmlns:r="http://schemas.openxmlformats.org/officeDocument/2006/relationships" id="2147483654" r:id="R652ceed78ee94c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89e3110dc7404c" /><Relationship Type="http://schemas.openxmlformats.org/officeDocument/2006/relationships/image" Target="/ppt/media/image.jpeg" Id="Rbcb92a7008774ba5" /><Relationship Type="http://schemas.openxmlformats.org/officeDocument/2006/relationships/notesSlide" Target="/ppt/notesSlides/notesSlide1.xml" Id="R7583f96a29a048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6ab49dc1d442de" /><Relationship Type="http://schemas.openxmlformats.org/officeDocument/2006/relationships/notesSlide" Target="/ppt/notesSlides/notesSlide2.xml" Id="R444610c6879a47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fe4d2a54e84aa1" /><Relationship Type="http://schemas.openxmlformats.org/officeDocument/2006/relationships/notesSlide" Target="/ppt/notesSlides/notesSlide3.xml" Id="R137aa70da7d8479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731a0fadfb43e7" /><Relationship Type="http://schemas.openxmlformats.org/officeDocument/2006/relationships/notesSlide" Target="/ppt/notesSlides/notesSlide4.xml" Id="Rf0b41333800e4c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4cd3d9596341c7" /><Relationship Type="http://schemas.openxmlformats.org/officeDocument/2006/relationships/notesSlide" Target="/ppt/notesSlides/notesSlide5.xml" Id="Rdd56e7a3360a49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72513751a144e3" /><Relationship Type="http://schemas.openxmlformats.org/officeDocument/2006/relationships/image" Target="/ppt/media/image.png" Id="R525717e770d54d68" /><Relationship Type="http://schemas.openxmlformats.org/officeDocument/2006/relationships/notesSlide" Target="/ppt/notesSlides/notesSlide6.xml" Id="Rb431416731c04c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dc5bd9a1e94fdb" /><Relationship Type="http://schemas.openxmlformats.org/officeDocument/2006/relationships/notesSlide" Target="/ppt/notesSlides/notesSlide7.xml" Id="R92425053b0644c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753d4e93f24683" /><Relationship Type="http://schemas.openxmlformats.org/officeDocument/2006/relationships/image" Target="/ppt/media/image2.jpeg" Id="R6239ba764a834c4c" /><Relationship Type="http://schemas.openxmlformats.org/officeDocument/2006/relationships/notesSlide" Target="/ppt/notesSlides/notesSlide8.xml" Id="R661e77bf54ad44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2f1d685bfd4fe4" /><Relationship Type="http://schemas.openxmlformats.org/officeDocument/2006/relationships/notesSlide" Target="/ppt/notesSlides/notesSlide9.xml" Id="R2165fb1f93ed415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be1c354de6435f" /><Relationship Type="http://schemas.openxmlformats.org/officeDocument/2006/relationships/notesSlide" Target="/ppt/notesSlides/notesSlide10.xml" Id="R656773d2ce2c45b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79919a91544d69" /><Relationship Type="http://schemas.openxmlformats.org/officeDocument/2006/relationships/notesSlide" Target="/ppt/notesSlides/notesSlide11.xml" Id="Ra8b044d7bb1d47b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c00d43fc954151" /><Relationship Type="http://schemas.openxmlformats.org/officeDocument/2006/relationships/image" Target="/ppt/media/image3.jpeg" Id="R444c47c69fb24ff1" /><Relationship Type="http://schemas.openxmlformats.org/officeDocument/2006/relationships/notesSlide" Target="/ppt/notesSlides/notesSlide12.xml" Id="R06dc1ed8f93c4e7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94c336a88f4456" /><Relationship Type="http://schemas.openxmlformats.org/officeDocument/2006/relationships/notesSlide" Target="/ppt/notesSlides/notesSlide13.xml" Id="Rf4ebf25776fc444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443dbfe9a749a3" /><Relationship Type="http://schemas.openxmlformats.org/officeDocument/2006/relationships/notesSlide" Target="/ppt/notesSlides/notesSlide14.xml" Id="R8a24a51fa15d4fe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be13f0946343b1" /><Relationship Type="http://schemas.openxmlformats.org/officeDocument/2006/relationships/notesSlide" Target="/ppt/notesSlides/notesSlide15.xml" Id="R3e816af93a57460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25B1FF-305F-4041-814B-3A12EFE7E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MoveBooks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CD7E12-5763-4C51-A094-51C9B9FB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1DA48-4FC5-48C7-884D-52D88E29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160776-26F6-4392-95F1-4882E5FCA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334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Move your books.</a:t>
            </a:r>
          </a:p>
          <a:p xmlns:a="http://schemas.openxmlformats.org/drawingml/2006/main">
            <a:pPr>
              <a:defRPr sz="43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Keep your confidence.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885DDD-2301-41BB-925F-F9C357AF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Movers &amp; Ledgers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FC871-3568-41EF-BD6D-62A56BD2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533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Accounting migration, from understanding</a:t>
            </a:r>
          </a:p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to verified first productive use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8AF62-F1DF-42D9-9A43-E62CA690EE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b92a7008774ba5"/>
          <a:stretch xmlns:a="http://schemas.openxmlformats.org/drawingml/2006/main"/>
        </p:blipFill>
        <p:spPr>
          <a:xfrm xmlns:a="http://schemas.openxmlformats.org/drawingml/2006/main">
            <a:off x="6977784" y="1619250"/>
            <a:ext cx="3665682" cy="3810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4841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375D3-562E-47C0-8B3A-588E71B1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Team and delivery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BFB2DD-D6B2-4CC0-B1C5-D52037AA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C0A16C-7363-46EF-807D-53A4B2D0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04D5D-0F9F-4A2A-9F75-D1C6F43C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47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Movers &amp; Ledgers develops MoveBooks AI as an independent product concept.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BC086D-8562-4D40-973D-CDF094FB0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1047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The submission candidate combines product, engineering, financial systems, AI evaluation and release responsibilities.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D5C2D6-6BBA-45AE-9ED3-05C8A7D8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47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Team names, roles and contact details await the submission owner.</a:t>
            </a:r>
          </a:p>
        </p:txBody>
      </p:sp>
    </p:spTree>
    <p:extLst>
      <p:ext uri="{BB962C8B-B14F-4D97-AF65-F5344CB8AC3E}">
        <p14:creationId xmlns:p14="http://schemas.microsoft.com/office/powerpoint/2010/main" val="17314115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8D1EA9-9110-45D3-8F5D-32B09595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The accounting handover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834C48-779D-4985-AF3A-7484582E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8B406A-F03E-435E-8DBB-2381BDE9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C67CE8-8AFC-47ED-8F37-05FD5CF22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572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A completed import does not show whether the books are ready for work.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95F738-1755-4DB3-B6E6-07CDF728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10572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Accountants need to understand unsupported records, ambiguous mappings and financial differences.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94547E-4526-4F54-944B-BB07EE8D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572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The proposed outcome is an informed, approved and verified first productive task.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4E78AA-B74E-4C60-8692-50D40269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BFSI: Intelligent Risk, Fraud &amp; Financial Experiences. Fit: migration risk, complex process automation and informed financial decisions.</a:t>
            </a:r>
          </a:p>
        </p:txBody>
      </p:sp>
    </p:spTree>
    <p:extLst>
      <p:ext uri="{BB962C8B-B14F-4D97-AF65-F5344CB8AC3E}">
        <p14:creationId xmlns:p14="http://schemas.microsoft.com/office/powerpoint/2010/main" val="2886014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C6005D-57A3-4B15-86E3-541EB7A8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The product idea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35D9C7-3D08-4534-98CF-FAA83F8A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2D9DDC-E455-4F7C-82FB-4A48B93D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A772DB-2E2C-4323-BC06-B4E5A86F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One governed journey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B6E0C6-0AFA-400D-8743-F87A932B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1057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Understand and prepare with evidence before making consequential decisions.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D5BD48-0840-4731-84F7-A47A990B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057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Move supported synthetic information with checkpoints and safe recovery.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6FCC6F-848B-4E47-A98F-4205B9C48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10572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Verify financial correctness, configure the environment and complete an approved first invoice.</a:t>
            </a:r>
          </a:p>
        </p:txBody>
      </p:sp>
    </p:spTree>
    <p:extLst>
      <p:ext uri="{BB962C8B-B14F-4D97-AF65-F5344CB8AC3E}">
        <p14:creationId xmlns:p14="http://schemas.microsoft.com/office/powerpoint/2010/main" val="8142171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7EDE0-08B3-45D9-B4D9-917DF3FF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Differentiation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65C49E-35B1-4634-A89C-A931347B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1B62DC-4C2E-4E24-B1CA-3D3A4459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BC6630-E7D8-4F38-A525-AAF75BD7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57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Continuity from learning and readiness to financial verification and productive adoption.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D768D2-8B18-4A92-A557-85EE3CB0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57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A human accountant controls consequential choices. Gemini explains. A separate Reviewer challenges.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DA91FC-AAA7-43AE-A469-46C4AB04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57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Deterministic tools establish financial truth, while internal Judges evaluate quality outside the execution path.</a:t>
            </a:r>
          </a:p>
        </p:txBody>
      </p:sp>
    </p:spTree>
    <p:extLst>
      <p:ext uri="{BB962C8B-B14F-4D97-AF65-F5344CB8AC3E}">
        <p14:creationId xmlns:p14="http://schemas.microsoft.com/office/powerpoint/2010/main" val="5738821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ED5641-C685-4C22-962D-7DF05CEC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Three entry experiences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3208BB-CC2A-444D-A764-AEF47840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E9FE54-7FDF-477C-B926-5F0287B2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24C1A5-43EE-46F2-96FF-F7165F535D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5717e770d54d68"/>
          <a:stretch xmlns:a="http://schemas.openxmlformats.org/drawingml/2006/main"/>
        </p:blipFill>
        <p:spPr>
          <a:xfrm xmlns:a="http://schemas.openxmlformats.org/drawingml/2006/main">
            <a:off x="798526" y="1571625"/>
            <a:ext cx="7242149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47DEE6-6B9F-420B-BF17-1C1593BA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192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Play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EF63D5-0CAA-4070-9D82-878CD604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43125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Explore an office and solve an evidence puzzle.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655C96-8388-4C28-A76F-C59487BA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432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Explore Demo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401DA1-BEF6-4FD1-A347-0A213CB1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67125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Rehearse Harbor Light Books through verified FPU.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7D20C5-A3F3-4AF6-A2A6-799C848F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6725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Try Your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9D809E-28F9-4C1D-8E7A-FDECBAEC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191125"/>
            <a:ext cx="285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Validate permitted test packages locally. Hosted uploads stay gated.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82893-FBC9-4921-8248-D48FBD185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Authentic local candidate capture. Play acceptance: 14 browser checks passed.</a:t>
            </a:r>
          </a:p>
        </p:txBody>
      </p:sp>
    </p:spTree>
    <p:extLst>
      <p:ext uri="{BB962C8B-B14F-4D97-AF65-F5344CB8AC3E}">
        <p14:creationId xmlns:p14="http://schemas.microsoft.com/office/powerpoint/2010/main" val="3811435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45BA3C-01E7-427E-942F-149C3BE3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Migration process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07A249-AF09-4889-AA9F-D8991894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BF3CF5-0C19-4751-9B27-7049826D9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1506E4-8C4E-4840-9663-3704C90E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495106-0CDB-4738-B9F9-9A0488BC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Understand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E6FC85-3C13-4966-8541-718DE308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Discover and assess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B06BCE-0F38-4677-BF53-EACC1C79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79C94A-C659-4C4F-98DF-447E56E9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1937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Prepare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5D5543-FE2A-4D7B-9092-59614FC8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76625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Plan, map and approve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D15751-777D-443C-AAEC-6E5FA5EA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64FF27-BC94-45D0-8305-EC0FF0D7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1937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Move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E07B00-700A-44F5-B18F-2578F9383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76625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Migrate and resolve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ED2389-0E89-430C-BFAB-8C193931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A446CD-D363-4EE6-AC4F-7A26D4AD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1937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CA0DCB-33F8-46A0-9466-58AAE40AF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76625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Reconcile and configure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440CF4-9BB4-4801-B7FC-A2004B07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14500"/>
            <a:ext cx="180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4851C6-74CC-4FFD-8DB6-EE82FF7F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19375"/>
            <a:ext cx="200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Start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2B8EB9-EF04-4391-AC79-9793D86D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76625"/>
            <a:ext cx="1952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Onboard and verified FPU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B17040-2153-4473-8334-BA862F5F7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Progress follows evidence and valid state transitions. Financial discrepancies stop the journey.</a:t>
            </a:r>
          </a:p>
        </p:txBody>
      </p:sp>
    </p:spTree>
    <p:extLst>
      <p:ext uri="{BB962C8B-B14F-4D97-AF65-F5344CB8AC3E}">
        <p14:creationId xmlns:p14="http://schemas.microsoft.com/office/powerpoint/2010/main" val="1969445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AEDCB0-6002-40DA-A817-C9ABCCACE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Decision experience and wireframes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A6F1C8-90A1-4E9F-A99F-335BAA799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EB6841-505F-4021-8CF2-97EC731F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A1882-92B9-4E0E-81DC-47E515F64E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39ba764a834c4c"/>
          <a:stretch xmlns:a="http://schemas.openxmlformats.org/drawingml/2006/main"/>
        </p:blipFill>
        <p:spPr>
          <a:xfrm xmlns:a="http://schemas.openxmlformats.org/drawingml/2006/main">
            <a:off x="962025" y="1428750"/>
            <a:ext cx="7010400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918BFC-4B7A-4C4A-BCCC-A93A74B1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666875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Evidence 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6DF794-787F-45DC-925B-E9D5083D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571750"/>
            <a:ext cx="2762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What is happening?</a:t>
            </a:r>
          </a:p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Why is it happening?</a:t>
            </a:r>
          </a:p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What happens next?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E3FD04-847E-4324-9994-87F8FFB1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905375"/>
            <a:ext cx="276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Historical implemented UI evidence; final candidate capture pending.</a:t>
            </a:r>
          </a:p>
        </p:txBody>
      </p:sp>
    </p:spTree>
    <p:extLst>
      <p:ext uri="{BB962C8B-B14F-4D97-AF65-F5344CB8AC3E}">
        <p14:creationId xmlns:p14="http://schemas.microsoft.com/office/powerpoint/2010/main" val="2021519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7776EE-9CE9-4836-ADBA-81C1E648A7EF}"/>
              </a:ext>
            </a:extLst>
          </p:cNvPr>
          <p:cNvCxnSpPr>
            <a:stCxn xmlns:a="http://schemas.openxmlformats.org/drawingml/2006/main" id="8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>
            <a:off x="9953625" y="2571750"/>
            <a:ext cx="0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tailEnd type="arrow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39F15E-BD87-4849-857C-C46149208BF0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5953125" y="2571750"/>
            <a:ext cx="0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tailEnd type="arrow" w="med" len="med"/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9DA31F-EFE4-42CE-A4DD-E4A695F83072}"/>
              </a:ext>
            </a:extLst>
          </p:cNvPr>
          <p:cNvCxnSpPr>
            <a:stCxn xmlns:a="http://schemas.openxmlformats.org/drawingml/2006/main" id="10" idx="0"/>
            <a:endCxn xmlns:a="http://schemas.openxmlformats.org/drawingml/2006/main" id="4" idx="2"/>
          </p:cNvCxnSpPr>
          <p:nvPr/>
        </p:nvCxnSpPr>
        <p:spPr>
          <a:xfrm xmlns:a="http://schemas.openxmlformats.org/drawingml/2006/main" flipV="1">
            <a:off x="2085975" y="2571750"/>
            <a:ext cx="0" cy="1143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tailEnd type="arrow" w="med" len="med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5716E4-182A-4FA8-9586-FF46ED5C87A5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572375" y="2143125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tailEnd type="arrow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840974-80DF-4863-A536-1102354E7EB3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562350" y="2143125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3EB"/>
            </a:solidFill>
            <a:tailEnd type="arrow" w="med" len="med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EF24C3-7425-408F-BD68-1244CE3D8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962052-C036-48B1-97FE-6AAB7AC09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915157-EA45-4CE2-91E4-2AA62BC5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D81072-88D6-47C7-A83C-F5BD7434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F324B4-3C4B-4060-B66D-8FFAF8B6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924050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Accountant and UI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BB757E-1A99-4261-AE76-23D5DA5F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714500"/>
            <a:ext cx="3238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07EE06-F389-46A6-A9A1-71F5EA71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2405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Authenticated 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B4B63B-19A9-4673-8BD6-AFD7E9F8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714500"/>
            <a:ext cx="3238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8CCDC1-1722-4FF7-976D-802994F7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92405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Deterministic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6ED066-1367-4FF6-98D0-CDFACA57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21276E-C06F-4064-88EB-30D0E13E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924300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Human decisions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A73700-60A1-4EAE-A227-F6461269B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714750"/>
            <a:ext cx="3238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EC7264-4F23-4FA4-B4F1-D3F74451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243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Gemini / Reviewer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82AC18-C548-4A53-AB81-1D8430E7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14750"/>
            <a:ext cx="3238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F"/>
          </a:solidFill>
          <a:ln xmlns:a="http://schemas.openxmlformats.org/drawingml/2006/main" w="9525">
            <a:solidFill>
              <a:srgbClr val="2563EB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4C5AC3-1193-421F-BD97-6CCEC95F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924300"/>
            <a:ext cx="295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Financial tools / SQL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DAFB60-C8C7-4B84-A5DC-7DDDB4F8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Advisory output returns to the accountant. Only authorized deterministic operations change financial state.</a:t>
            </a:r>
          </a:p>
        </p:txBody>
      </p:sp>
    </p:spTree>
    <p:extLst>
      <p:ext uri="{BB962C8B-B14F-4D97-AF65-F5344CB8AC3E}">
        <p14:creationId xmlns:p14="http://schemas.microsoft.com/office/powerpoint/2010/main" val="10896897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8C22A1-647A-429C-8B27-B2ADB7C1F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Google Cloud technologies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DA0F5F-0597-4894-AE9D-56460597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3C7C1C-5C3E-4259-908F-218C682D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183384-880B-4F2A-84FF-0EC92E03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57275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Firebase Hosting, Firebase Authentication and Cloud Run form the application and identity boundaries.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6DD497-166A-4578-AED6-BB99D061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057275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Cloud SQL / PostgreSQL retains financial and transactional authority. Cloud Storage and Secret Manager have scoped adapter boundaries.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0CD179-06A0-4495-9DFA-B314DCD6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1057275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Vertex AI / Gemini and Google ADK supply bounded advisory integration. Firestore operational controls remain separately activation-gated.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7DE8D-D96C-4BEE-ADE0-B55923DD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Last known public mode: deterministic-only. Vertex API enablement alone does not prove inference access.</a:t>
            </a:r>
          </a:p>
        </p:txBody>
      </p:sp>
    </p:spTree>
    <p:extLst>
      <p:ext uri="{BB962C8B-B14F-4D97-AF65-F5344CB8AC3E}">
        <p14:creationId xmlns:p14="http://schemas.microsoft.com/office/powerpoint/2010/main" val="5370272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A1A99A-7473-4B3A-90C4-FB4BCD9B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Implementation cost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3FB493-A1D3-4952-AE19-34BA2780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07FFB5-2B72-4C0E-9815-D7D052FC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3E640-DB3F-488E-A9F5-93001431A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57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A bounded cost model precedes activation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B410FD-54AD-4AF6-AFC6-00D379D2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572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Compute and database: runtime seconds, memory, SQL capacity, storage and backups.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A13C67-3C09-48A9-8B96-1F4EDD9B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572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AI and operations: model tokens, Firestore operations, logs, storage and egress.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12EE9-1DF7-4AD2-ADA1-F78381A9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572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Service effort: support, financial review and recovery. Owner quotas, durable budgets and a kill switch bound exposure.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4AB5EE-5245-42B7-9459-2C5361B4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Estimate status: unpriced. Publish currency, region, pricing date, workload assumptions and observed spend before asserting cost.</a:t>
            </a:r>
          </a:p>
        </p:txBody>
      </p:sp>
    </p:spTree>
    <p:extLst>
      <p:ext uri="{BB962C8B-B14F-4D97-AF65-F5344CB8AC3E}">
        <p14:creationId xmlns:p14="http://schemas.microsoft.com/office/powerpoint/2010/main" val="67428622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E1CEE7-AB32-4777-8CD9-36C1E0DE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Financial verification and first productive use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450DBC-657B-48FE-93D5-AE92EE0E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1EA6BA-9C59-4BF4-93C3-604836CC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6993F8-0FB5-4A54-A0B6-E57FC4C3F6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4c47c69fb24ff1"/>
          <a:stretch xmlns:a="http://schemas.openxmlformats.org/drawingml/2006/main"/>
        </p:blipFill>
        <p:spPr>
          <a:xfrm xmlns:a="http://schemas.openxmlformats.org/drawingml/2006/main">
            <a:off x="962025" y="1428750"/>
            <a:ext cx="7010400" cy="438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178F04-F3BB-44FC-B237-CD5BD30E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7145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Verified outcome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8C062B-13C9-4E82-9AD5-72905B877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524125"/>
            <a:ext cx="276225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Required controls pass.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The owner approves a synthetic invoice.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A deterministic receipt verifies its effect.</a:t>
            </a:r>
          </a:p>
        </p:txBody>
      </p:sp>
    </p:spTree>
    <p:extLst>
      <p:ext uri="{BB962C8B-B14F-4D97-AF65-F5344CB8AC3E}">
        <p14:creationId xmlns:p14="http://schemas.microsoft.com/office/powerpoint/2010/main" val="10493397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CD1A39-353A-4ED3-8D0A-9D59E194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Benchmarking and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0147B3-1688-4F83-81BB-242CB137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D27430-27D4-43E0-B8F3-752A9BC09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F6D4A8-8961-4E8E-8CB9-3CC39BAC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Backend tests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F7D9E8-CED6-415B-B334-35C872F3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559 passed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17D6AE-2EC3-4946-A529-69A29BD8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58 skipped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B6E014-BAAE-4884-8A9E-FF7CAA94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6687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Frontend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FDF6D8-6E2B-4F21-9B23-D378EE61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8125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658 passed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088D81-3442-49A0-8A91-76C6111AA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7662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50 test files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74F8E1-5730-4F6E-901D-F034EA99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Checks cover owner and approval boundaries, state transitions, recovery, reconciliation, UI behavior and synthetic FPU.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8265F3-C125-4F8B-A6A3-951AC91B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Local candidate evidence. Lint, typecheck and build passed. No live-model accuracy, external provider benchmark or customer-impact claim.</a:t>
            </a:r>
          </a:p>
        </p:txBody>
      </p:sp>
    </p:spTree>
    <p:extLst>
      <p:ext uri="{BB962C8B-B14F-4D97-AF65-F5344CB8AC3E}">
        <p14:creationId xmlns:p14="http://schemas.microsoft.com/office/powerpoint/2010/main" val="72229337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B5C22B-D56F-4044-9472-BEEFE0B1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Future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E37A0D-13B9-449A-9433-39DDC6C1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75FC63-F5B5-4F07-9A2D-26857365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F7A01-69E3-41CD-9DCD-2F422A6B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57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Now: accept the synthetic journey, Play mission, local intake, mapping review, offline evaluation and submission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CC80CC-6DBB-4AFD-A6DA-C52B3D91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1057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Next, gated: verify live Gemini and Firestore operations; complete independent hosted-upload safety and operating controls.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92D56B-5AB9-4697-890C-CB04C41E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572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Later: reviewed provider adapters, real-data handling, delegated roles and observed customer outcomes.</a:t>
            </a:r>
          </a:p>
        </p:txBody>
      </p:sp>
    </p:spTree>
    <p:extLst>
      <p:ext uri="{BB962C8B-B14F-4D97-AF65-F5344CB8AC3E}">
        <p14:creationId xmlns:p14="http://schemas.microsoft.com/office/powerpoint/2010/main" val="148214517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8A0BE3-56AB-43BF-B4D4-1E83B69C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2233F"/>
                </a:solidFill>
                <a:latin typeface="Arial"/>
                <a:ea typeface="Arial"/>
                <a:cs typeface="Arial"/>
              </a:rPr>
              <a:t>Submission links and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6C06F9-6011-48D5-B060-BC8E9E86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MOVEBOOKS AI   /   BOUNDED SYNTHETIC BETA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8B4936-8967-4579-A46E-4FDAA1BA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AB979F-62A0-47C7-AD26-46EF88B3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Working Beta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F47234-5A63-4B2C-8890-85823D2B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666875"/>
            <a:ext cx="809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https://movebooks-si.web.app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6359F1-B7C9-42BC-9E73-63B9268C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Public source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1B9ECC-65AB-4F15-A3EA-207F08CD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67000"/>
            <a:ext cx="809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github.com/JEMathew/movers-and-ledgers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7F4B43-56C9-4EBE-ADF1-5BBA48E2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56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Evidence package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52F3B5-7E6C-4F9D-BFD0-AFBAEC35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67125"/>
            <a:ext cx="809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2233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2233F"/>
                </a:solidFill>
                <a:latin typeface="Arial"/>
                <a:ea typeface="Arial"/>
                <a:cs typeface="Arial"/>
              </a:rPr>
              <a:t>Working Backwards, PM blueprint, editable diagrams and candidate acceptance manifest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E1D115-66FC-4954-94B4-F2BB34050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0657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0657F"/>
                </a:solidFill>
                <a:latin typeface="Arial"/>
                <a:ea typeface="Arial"/>
                <a:cs typeface="Arial"/>
              </a:rPr>
              <a:t>Release completion requires the official template, portal checks, accepted candidate evidence and an authentic 3–4 minute video.</a:t>
            </a:r>
          </a:p>
        </p:txBody>
      </p:sp>
    </p:spTree>
    <p:extLst>
      <p:ext uri="{BB962C8B-B14F-4D97-AF65-F5344CB8AC3E}">
        <p14:creationId xmlns:p14="http://schemas.microsoft.com/office/powerpoint/2010/main" val="9727512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2026-10-17T09:27:32.8260000Z</dcterms:created>
  <dcterms:modified xsi:type="dcterms:W3CDTF">2026-10-17T09:27:32.8260000Z</dcterms:modified>
</coreProperties>
</file>