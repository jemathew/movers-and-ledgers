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2c58c908864da2" /><Relationship Type="http://schemas.openxmlformats.org/officeDocument/2006/relationships/extended-properties" Target="/docProps/app.xml" Id="Rff91ec199c2f4722" /><Relationship Type="http://schemas.openxmlformats.org/officeDocument/2006/relationships/officeDocument" Target="/ppt/presentation.xml" Id="R1f13123490b449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96313233a74ca0"/>
  </p:sldMasterIdLst>
  <p:notesMasterIdLst>
    <p:notesMasterId xmlns:r="http://schemas.openxmlformats.org/officeDocument/2006/relationships" r:id="R2b945b03eec943ec"/>
  </p:notesMasterIdLst>
  <p:sldIdLst>
    <p:sldId xmlns:r="http://schemas.openxmlformats.org/officeDocument/2006/relationships" id="256" r:id="R00fd38b057be43ba"/>
    <p:sldId xmlns:r="http://schemas.openxmlformats.org/officeDocument/2006/relationships" id="257" r:id="Rad4b3bddde8e4758"/>
    <p:sldId xmlns:r="http://schemas.openxmlformats.org/officeDocument/2006/relationships" id="258" r:id="Rcbed0b24f4104e19"/>
    <p:sldId xmlns:r="http://schemas.openxmlformats.org/officeDocument/2006/relationships" id="259" r:id="R6e73f31b475d46b8"/>
    <p:sldId xmlns:r="http://schemas.openxmlformats.org/officeDocument/2006/relationships" id="260" r:id="R35c72dfe530947a4"/>
    <p:sldId xmlns:r="http://schemas.openxmlformats.org/officeDocument/2006/relationships" id="261" r:id="R0615a767b7be46fc"/>
    <p:sldId xmlns:r="http://schemas.openxmlformats.org/officeDocument/2006/relationships" id="262" r:id="R1d7ac33f493146e6"/>
    <p:sldId xmlns:r="http://schemas.openxmlformats.org/officeDocument/2006/relationships" id="263" r:id="R0cd9f0f0806e4d11"/>
    <p:sldId xmlns:r="http://schemas.openxmlformats.org/officeDocument/2006/relationships" id="264" r:id="R520f78ae62264ef5"/>
    <p:sldId xmlns:r="http://schemas.openxmlformats.org/officeDocument/2006/relationships" id="265" r:id="R0d3fe947845d4c01"/>
    <p:sldId xmlns:r="http://schemas.openxmlformats.org/officeDocument/2006/relationships" id="266" r:id="R26d184189c6e4755"/>
    <p:sldId xmlns:r="http://schemas.openxmlformats.org/officeDocument/2006/relationships" id="267" r:id="R82913347673c4235"/>
    <p:sldId xmlns:r="http://schemas.openxmlformats.org/officeDocument/2006/relationships" id="268" r:id="Re8d9867033034b49"/>
    <p:sldId xmlns:r="http://schemas.openxmlformats.org/officeDocument/2006/relationships" id="269" r:id="R1bccd971586447c1"/>
    <p:sldId xmlns:r="http://schemas.openxmlformats.org/officeDocument/2006/relationships" id="270" r:id="Rc0a2077f1b2149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f69a701a124ac7" /><Relationship Type="http://schemas.openxmlformats.org/officeDocument/2006/relationships/slideMaster" Target="/ppt/slideMasters/slideMaster1.xml" Id="Rac96313233a74ca0" /><Relationship Type="http://schemas.openxmlformats.org/officeDocument/2006/relationships/notesMaster" Target="/ppt/notesMasters/notesMaster1.xml" Id="R2b945b03eec943ec" /><Relationship Type="http://schemas.openxmlformats.org/officeDocument/2006/relationships/presProps" Target="/ppt/presProps.xml" Id="R4867ed94322f44b2" /><Relationship Type="http://schemas.openxmlformats.org/officeDocument/2006/relationships/tableStyles" Target="/ppt/tableStyles.xml" Id="Rf1fab97ca09b474b" /><Relationship Type="http://schemas.openxmlformats.org/officeDocument/2006/relationships/slide" Target="/ppt/slides/slide1.xml" Id="R00fd38b057be43ba" /><Relationship Type="http://schemas.openxmlformats.org/officeDocument/2006/relationships/slide" Target="/ppt/slides/slide2.xml" Id="Rad4b3bddde8e4758" /><Relationship Type="http://schemas.openxmlformats.org/officeDocument/2006/relationships/slide" Target="/ppt/slides/slide3.xml" Id="Rcbed0b24f4104e19" /><Relationship Type="http://schemas.openxmlformats.org/officeDocument/2006/relationships/slide" Target="/ppt/slides/slide4.xml" Id="R6e73f31b475d46b8" /><Relationship Type="http://schemas.openxmlformats.org/officeDocument/2006/relationships/slide" Target="/ppt/slides/slide5.xml" Id="R35c72dfe530947a4" /><Relationship Type="http://schemas.openxmlformats.org/officeDocument/2006/relationships/slide" Target="/ppt/slides/slide6.xml" Id="R0615a767b7be46fc" /><Relationship Type="http://schemas.openxmlformats.org/officeDocument/2006/relationships/slide" Target="/ppt/slides/slide7.xml" Id="R1d7ac33f493146e6" /><Relationship Type="http://schemas.openxmlformats.org/officeDocument/2006/relationships/slide" Target="/ppt/slides/slide8.xml" Id="R0cd9f0f0806e4d11" /><Relationship Type="http://schemas.openxmlformats.org/officeDocument/2006/relationships/slide" Target="/ppt/slides/slide9.xml" Id="R520f78ae62264ef5" /><Relationship Type="http://schemas.openxmlformats.org/officeDocument/2006/relationships/slide" Target="/ppt/slides/slide10.xml" Id="R0d3fe947845d4c01" /><Relationship Type="http://schemas.openxmlformats.org/officeDocument/2006/relationships/slide" Target="/ppt/slides/slide11.xml" Id="R26d184189c6e4755" /><Relationship Type="http://schemas.openxmlformats.org/officeDocument/2006/relationships/slide" Target="/ppt/slides/slide12.xml" Id="R82913347673c4235" /><Relationship Type="http://schemas.openxmlformats.org/officeDocument/2006/relationships/slide" Target="/ppt/slides/slide13.xml" Id="Re8d9867033034b49" /><Relationship Type="http://schemas.openxmlformats.org/officeDocument/2006/relationships/slide" Target="/ppt/slides/slide14.xml" Id="R1bccd971586447c1" /><Relationship Type="http://schemas.openxmlformats.org/officeDocument/2006/relationships/slide" Target="/ppt/slides/slide15.xml" Id="Rc0a2077f1b2149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0291d7e38e41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b7513369a04e63" /><Relationship Type="http://schemas.openxmlformats.org/officeDocument/2006/relationships/notesMaster" Target="/ppt/notesMasters/notesMaster1.xml" Id="Rf7658f48238644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2b3b5b3691453e" /><Relationship Type="http://schemas.openxmlformats.org/officeDocument/2006/relationships/notesMaster" Target="/ppt/notesMasters/notesMaster1.xml" Id="R51c68b84b2454b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a12695dac04041" /><Relationship Type="http://schemas.openxmlformats.org/officeDocument/2006/relationships/notesMaster" Target="/ppt/notesMasters/notesMaster1.xml" Id="Rd43d972447174c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71a464a09402b" /><Relationship Type="http://schemas.openxmlformats.org/officeDocument/2006/relationships/notesMaster" Target="/ppt/notesMasters/notesMaster1.xml" Id="R810f74a361054f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3e9db53f3d43e4" /><Relationship Type="http://schemas.openxmlformats.org/officeDocument/2006/relationships/notesMaster" Target="/ppt/notesMasters/notesMaster1.xml" Id="Rb38e724fe7e54d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9ceff8d8f942ca" /><Relationship Type="http://schemas.openxmlformats.org/officeDocument/2006/relationships/notesMaster" Target="/ppt/notesMasters/notesMaster1.xml" Id="R313a6325565d44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b955cacfd74371" /><Relationship Type="http://schemas.openxmlformats.org/officeDocument/2006/relationships/notesMaster" Target="/ppt/notesMasters/notesMaster1.xml" Id="R5f34e84db48b49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2ba57d57774eda" /><Relationship Type="http://schemas.openxmlformats.org/officeDocument/2006/relationships/notesMaster" Target="/ppt/notesMasters/notesMaster1.xml" Id="Re8ebaa597ceb46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fb4933765e4df6" /><Relationship Type="http://schemas.openxmlformats.org/officeDocument/2006/relationships/notesMaster" Target="/ppt/notesMasters/notesMaster1.xml" Id="Rf4eb6c72f3a342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855478e19b4c46" /><Relationship Type="http://schemas.openxmlformats.org/officeDocument/2006/relationships/notesMaster" Target="/ppt/notesMasters/notesMaster1.xml" Id="R0b1495fed08441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5e7deb9d8c46e1" /><Relationship Type="http://schemas.openxmlformats.org/officeDocument/2006/relationships/notesMaster" Target="/ppt/notesMasters/notesMaster1.xml" Id="Rc78be373db214d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42708652b44b9d" /><Relationship Type="http://schemas.openxmlformats.org/officeDocument/2006/relationships/notesMaster" Target="/ppt/notesMasters/notesMaster1.xml" Id="Rd499d3d0e7be499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fe1376e62d40e0" /><Relationship Type="http://schemas.openxmlformats.org/officeDocument/2006/relationships/notesMaster" Target="/ppt/notesMasters/notesMaster1.xml" Id="Rf3ad0edf860c49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2c81a82003c47ba" /><Relationship Type="http://schemas.openxmlformats.org/officeDocument/2006/relationships/notesMaster" Target="/ppt/notesMasters/notesMaster1.xml" Id="Rd5cfa1cae6b547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51ef5700774446" /><Relationship Type="http://schemas.openxmlformats.org/officeDocument/2006/relationships/notesMaster" Target="/ppt/notesMasters/notesMaster1.xml" Id="R66c83bae027546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docs/PRODUCT_CONSTITUTION.md; docs/working-backwards/product-press-release.md. Draft content deck. Exact prescribed template missing and compliance unresolved.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roster/contact not provided in source material. Do not infer named contributors from role titles.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product directive; docs/PRODUCT_CONSTITUTION.md. Problem needs are strategy hypotheses, not completed customer research. User-confirmed challenge: BFSI: Intelligent Risk, Fraud &amp; Financial Experiences. Full statement in docs/submission/problem-statement.md.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docs/product-management/blueprint.md; feature-contracts.md. Current scope bounded synthetic Beta.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docs/working-backwards/internal-faq.md. Differentiation is a positioning hypothesis. No measured competitor superiority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docs/submission/browser-play/play-desktop-opening.png and browser-evidence.json. Authentic local combined-candidate Play screenshot accepted by integration owner, 14 browser checks passed. Local candidate only, not deployed. No live Gemini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docs/architecture-experience/source/customer-journey.mmd; docs/PRODUCT_CONSTITUTION.md.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docs/submission/assets/plan-local-candidate.png. Authentic recorded local UI, API fffd14c; independent deterministic review of 1200. Separate latest-source acceptance1a24a2c passed17checks. No live model or deployment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docs/architecture/beta-v1-agent-architecture.md; google-native-runtime.md. Diagram depicts implementation boundaries; cloud activation evidence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docs/deployment/public-beta.md; docs/architecture/google-native-runtime.md; user last-known infrastructure facts. No new live verification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docs/working-backwards/internal-faq.md. No measured spend, current price quote, workload volumes or commercial price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docs/submission/assets/fpu-local-candidate.png; agents/orchestrator/onboard_fpu.py; tests/test_onboard_fpu.py. Authentic recorded local UI, API fffd14c. Approved synthetic invoice USD107.25; not a production provider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integration owner final combined candidate report, 17 October 2026: backend 584 passed / 58 skipped in23.73seconds; frontend674 passed across51files; lint, typecheck and build passed. Focused independent model-control/Reviewer rerun: 36 passed in 1.49 seconds. These are local implementation tests, not live-cloud evidence or a model-quality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docs/product-management/blueprint.md section10. Planned work is not credited as deployed.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URLs: README.md and docs/deployment/public-beta.md. Current permissions/version to be verified by release owner. Official template/team missing. Local authentic video231.88seconds; accessible public video URL still pending release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b6e57609bd47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fa10921f949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1a2459414d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1c351a1f8b4f4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6b60a5c8fd4d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3e56927ad940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AFA874C-A9E2-4FB3-BC80-273F83A9A2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CE74C9D-B9EA-414B-B807-3E4E726A2D8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A9C9E1D-B380-498A-981F-3A7453A1CB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29B0E5-5976-405B-BC21-1341D311B0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A91A7E4-D644-4AF6-A0F1-5AE65D8567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CBC349-7921-4D22-BF01-8274F9EAEE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4131D6-2F9C-45CA-A547-0C1FF78010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F94817-7199-4BE4-A076-72678DCE48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DA1FD4-07E4-404A-977D-1363361EF3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84ECCFC-B974-4011-BECB-24C884421E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6ab582284e4c42" /><Relationship Type="http://schemas.openxmlformats.org/officeDocument/2006/relationships/slideLayout" Target="/ppt/slideLayouts/slideLayout1.xml" Id="Re26f6144a21f4dcb" /><Relationship Type="http://schemas.openxmlformats.org/officeDocument/2006/relationships/slideLayout" Target="/ppt/slideLayouts/slideLayout2.xml" Id="R95d233cedf6d46e5" /><Relationship Type="http://schemas.openxmlformats.org/officeDocument/2006/relationships/slideLayout" Target="/ppt/slideLayouts/slideLayout3.xml" Id="R53fd99721c6144b2" /><Relationship Type="http://schemas.openxmlformats.org/officeDocument/2006/relationships/slideLayout" Target="/ppt/slideLayouts/slideLayout4.xml" Id="R056fbe9e4b2a4204" /><Relationship Type="http://schemas.openxmlformats.org/officeDocument/2006/relationships/slideLayout" Target="/ppt/slideLayouts/slideLayout5.xml" Id="R55b7ced7ad994c70" /><Relationship Type="http://schemas.openxmlformats.org/officeDocument/2006/relationships/slideLayout" Target="/ppt/slideLayouts/slideLayout6.xml" Id="R4da3304a92fd40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6f6144a21f4dcb"/>
    <p:sldLayoutId xmlns:r="http://schemas.openxmlformats.org/officeDocument/2006/relationships" id="2147483650" r:id="R95d233cedf6d46e5"/>
    <p:sldLayoutId xmlns:r="http://schemas.openxmlformats.org/officeDocument/2006/relationships" id="2147483651" r:id="R53fd99721c6144b2"/>
    <p:sldLayoutId xmlns:r="http://schemas.openxmlformats.org/officeDocument/2006/relationships" id="2147483652" r:id="R056fbe9e4b2a4204"/>
    <p:sldLayoutId xmlns:r="http://schemas.openxmlformats.org/officeDocument/2006/relationships" id="2147483653" r:id="R55b7ced7ad994c70"/>
    <p:sldLayoutId xmlns:r="http://schemas.openxmlformats.org/officeDocument/2006/relationships" id="2147483654" r:id="R4da3304a92fd40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eec5b9314f4f8b" /><Relationship Type="http://schemas.openxmlformats.org/officeDocument/2006/relationships/image" Target="/ppt/media/image.jpeg" Id="R49273c620d66444f" /><Relationship Type="http://schemas.openxmlformats.org/officeDocument/2006/relationships/notesSlide" Target="/ppt/notesSlides/notesSlide1.xml" Id="Rd67af61f45ef48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185db6eb354de2" /><Relationship Type="http://schemas.openxmlformats.org/officeDocument/2006/relationships/notesSlide" Target="/ppt/notesSlides/notesSlide2.xml" Id="Rab827ceb81fe43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45efdaa90c4863" /><Relationship Type="http://schemas.openxmlformats.org/officeDocument/2006/relationships/notesSlide" Target="/ppt/notesSlides/notesSlide3.xml" Id="R8a0333a453c14c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1ebada522c4c59" /><Relationship Type="http://schemas.openxmlformats.org/officeDocument/2006/relationships/notesSlide" Target="/ppt/notesSlides/notesSlide4.xml" Id="R36e81bb6d94844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aeff9488d64e09" /><Relationship Type="http://schemas.openxmlformats.org/officeDocument/2006/relationships/notesSlide" Target="/ppt/notesSlides/notesSlide5.xml" Id="R1f81a860c4454d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94cb2108f54421" /><Relationship Type="http://schemas.openxmlformats.org/officeDocument/2006/relationships/image" Target="/ppt/media/image.png" Id="Rb41e6278d1fb4dc8" /><Relationship Type="http://schemas.openxmlformats.org/officeDocument/2006/relationships/notesSlide" Target="/ppt/notesSlides/notesSlide6.xml" Id="R84dbc61863a340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a2ea1221b47fa" /><Relationship Type="http://schemas.openxmlformats.org/officeDocument/2006/relationships/notesSlide" Target="/ppt/notesSlides/notesSlide7.xml" Id="Rc7c3ade7f10a4a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a69f323de74c22" /><Relationship Type="http://schemas.openxmlformats.org/officeDocument/2006/relationships/image" Target="/ppt/media/image2.png" Id="Rc3456b65bcae42bb" /><Relationship Type="http://schemas.openxmlformats.org/officeDocument/2006/relationships/notesSlide" Target="/ppt/notesSlides/notesSlide8.xml" Id="Rfe80fe8abc6843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bf522dc103466f" /><Relationship Type="http://schemas.openxmlformats.org/officeDocument/2006/relationships/notesSlide" Target="/ppt/notesSlides/notesSlide9.xml" Id="Rc0a36a7e99d248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a32d8ff8ad40cf" /><Relationship Type="http://schemas.openxmlformats.org/officeDocument/2006/relationships/notesSlide" Target="/ppt/notesSlides/notesSlide10.xml" Id="Re9193d0e648344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d3c1b2378c44bd" /><Relationship Type="http://schemas.openxmlformats.org/officeDocument/2006/relationships/notesSlide" Target="/ppt/notesSlides/notesSlide11.xml" Id="R138a58704de14f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a6e555df048c9" /><Relationship Type="http://schemas.openxmlformats.org/officeDocument/2006/relationships/image" Target="/ppt/media/image3.png" Id="R2141f2b900d74d35" /><Relationship Type="http://schemas.openxmlformats.org/officeDocument/2006/relationships/notesSlide" Target="/ppt/notesSlides/notesSlide12.xml" Id="Rae32556408c34a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3b7252fe65499d" /><Relationship Type="http://schemas.openxmlformats.org/officeDocument/2006/relationships/notesSlide" Target="/ppt/notesSlides/notesSlide13.xml" Id="R901c8abd647548d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e94e29ae04450d" /><Relationship Type="http://schemas.openxmlformats.org/officeDocument/2006/relationships/notesSlide" Target="/ppt/notesSlides/notesSlide14.xml" Id="Rf678a9ff5584434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bc4aa9b29d467d" /><Relationship Type="http://schemas.openxmlformats.org/officeDocument/2006/relationships/notesSlide" Target="/ppt/notesSlides/notesSlide15.xml" Id="Rb8c02b2c837945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549D73-7F5F-4543-9B23-1572B9EB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MoveBooks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FF5D6-425E-4D7D-A669-3B94A43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01C6F-BC5D-45FA-8EDB-86A67C74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7C0CE-EB6C-4499-A11A-042C3A64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 your books.</a:t>
            </a:r>
          </a:p>
          <a:p xmlns:a="http://schemas.openxmlformats.org/drawingml/2006/main">
            <a: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Keep your confidence.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ED55F-5508-4F16-B736-41F4165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Movers &amp; Ledgers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37531F-49AC-40B6-89B0-6B789627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Accounting migration, from understanding</a:t>
            </a:r>
          </a:p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to verified first productive use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069EA-95ED-42AD-BA1F-3F9678265B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273c620d66444f"/>
          <a:stretch xmlns:a="http://schemas.openxmlformats.org/drawingml/2006/main"/>
        </p:blipFill>
        <p:spPr>
          <a:xfrm xmlns:a="http://schemas.openxmlformats.org/drawingml/2006/main">
            <a:off x="6977784" y="1619250"/>
            <a:ext cx="3665682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2896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C1FE6-EC9C-432C-957E-C563800A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Team and delivery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28E26-2FF8-4B06-8393-A437D836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17C5F5-89E4-460C-B01D-084C3DB6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1855D-FC51-4155-A5CF-DCDA9378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Movers &amp; Ledgers develops MoveBooks AI as an independent product concept.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7C884-B53C-4AC1-8EC6-FCEFF3DF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submission candidate combines product, engineering, financial systems, AI evaluation and release responsibilities.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FCA64-7181-40AD-9906-2951913F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Team names, roles and contact details await the submission owner.</a:t>
            </a:r>
          </a:p>
        </p:txBody>
      </p:sp>
    </p:spTree>
    <p:extLst>
      <p:ext uri="{BB962C8B-B14F-4D97-AF65-F5344CB8AC3E}">
        <p14:creationId xmlns:p14="http://schemas.microsoft.com/office/powerpoint/2010/main" val="21368677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C92C2-F4F4-4707-A9A4-C1B7B009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accounting handover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30AB0-A646-4E1A-B3C6-CC968D98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49F81-E1EB-4986-A282-CBA6532E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EFC81-A88C-4989-900A-664EAF98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completed import does not show whether the books are ready for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28C01-2980-46C8-9E93-0710FAAB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Accountants need to understand unsupported records, ambiguous mappings and financial differences.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52C72-0CE2-463B-A863-30FA0518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proposed outcome is an informed, approved and verified first productive task.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92AC9-761E-4138-8D9F-D4FD7413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BFSI: Intelligent Risk, Fraud &amp; Financial Experiences. Fit: migration risk, complex process automation and informed financial decisions.</a:t>
            </a:r>
          </a:p>
        </p:txBody>
      </p:sp>
    </p:spTree>
    <p:extLst>
      <p:ext uri="{BB962C8B-B14F-4D97-AF65-F5344CB8AC3E}">
        <p14:creationId xmlns:p14="http://schemas.microsoft.com/office/powerpoint/2010/main" val="4541958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ADD8C-7AA2-44F6-8961-53020E19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product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9E881-AC09-4E5B-89BA-C8C66E0C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3ED511-EDFC-4617-946B-C2A676C4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51247-E794-421A-98BD-DC55FA0F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One governed journey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CEDBBA-4F3C-4A1B-A822-66CF80EB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Understand and prepare with evidence before making consequential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5A6E0-AD2A-4285-9BE6-ACFD74E3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 supported synthetic information with checkpoints and safe recovery.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FF255-583B-4CC6-9F57-EBC54D36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Verify financial correctness, configure the environment and complete an approved first invoice.</a:t>
            </a:r>
          </a:p>
        </p:txBody>
      </p:sp>
    </p:spTree>
    <p:extLst>
      <p:ext uri="{BB962C8B-B14F-4D97-AF65-F5344CB8AC3E}">
        <p14:creationId xmlns:p14="http://schemas.microsoft.com/office/powerpoint/2010/main" val="11938489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CF796B-7ED1-4922-B861-A6B6CDF8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Differentiation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0FDA3-8B09-4D5F-8121-E176D5FF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50EB4A-4C9F-4B94-A9D4-F3574B04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BC68A-8EED-4141-9FB3-CF8D228C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Continuity from learning and readiness to financial verification and productive adoption.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BFFDA-5252-4408-BB35-C39ABEF9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human accountant controls consequential choices. Gemini explains. A separate Reviewer challenges.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84901-5F74-4070-8614-98A0BA7D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Deterministic tools establish financial truth, while internal Judges evaluate quality outside the execution path.</a:t>
            </a:r>
          </a:p>
        </p:txBody>
      </p:sp>
    </p:spTree>
    <p:extLst>
      <p:ext uri="{BB962C8B-B14F-4D97-AF65-F5344CB8AC3E}">
        <p14:creationId xmlns:p14="http://schemas.microsoft.com/office/powerpoint/2010/main" val="2047662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0CAE8-3398-4EFC-A789-79BD8A4E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Three entry experiences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75901-729C-4CCE-A9AC-FFBCE142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C1F8A-A14C-4354-917B-989F1BCF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A4648-81D1-4961-B1EE-C58D3CC9F1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e6278d1fb4dc8"/>
          <a:stretch xmlns:a="http://schemas.openxmlformats.org/drawingml/2006/main"/>
        </p:blipFill>
        <p:spPr>
          <a:xfrm xmlns:a="http://schemas.openxmlformats.org/drawingml/2006/main">
            <a:off x="798526" y="1571625"/>
            <a:ext cx="7242149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CB3C8-3467-44BA-BBF5-668CDF58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Play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C9EF9-909C-4ED1-A2BF-4976B6AC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43125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Explore an office and solve an evidence puzzle.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4EEA3-3435-45AF-87C5-09B39103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43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Explore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0ECD3-E46F-4A84-AC80-3F5B95F1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Rehearse Harbor Light Books through verified FPU.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92E97-CD33-4C90-B079-C43245FF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67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Try Your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2D4D52-1BD5-4F39-9182-215A9482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9112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Validate permitted test packages locally. Hosted uploads stay gated.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7319B9-CC2C-4FAA-B1C5-3E50818D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Authentic local candidate capture. Play acceptance: 14 browser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11060869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D6F7B-9E25-4B42-B51F-9497E189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Migration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07E8B-50ED-4922-A00D-83528C5C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9876E8-B430-4456-930C-688EA535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FDA98-616B-4160-A5DC-CD1B4F37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71FE1-51E7-4339-AAAF-8161AF35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0541E-E607-4DB9-8132-3171D7BB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Discover and assess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E7CBB-4574-4E4C-83FF-920901E7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B19D6-EF9F-45C2-B916-68D12F47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C6DD5-690D-41A9-9E60-C248E7EC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Plan, map and 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4DD71-8D99-4321-B0D3-B2524C5B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C8AB1-4FDC-4B6D-9895-8AD70522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54D7DA-E6CF-40B2-A76B-09A6345A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Migrate and resolve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F83FC-C93E-4486-9E61-69251E10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91B3A-8053-4D02-823B-E458C894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AEBB94-95F0-42BB-97CB-1C17A010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Reconcile and configure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C178B8-1D4A-4550-93E5-9E7334B2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8A8CF-AA48-4165-B71A-B90A0C6A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Start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99422-0D02-4117-A28C-D07F2723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Onboard and verified FPU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19D272-0B22-42E1-8B3E-CA38F24D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Progress follows evidence and valid state transitions. Financial discrepancies stop the journey.</a:t>
            </a:r>
          </a:p>
        </p:txBody>
      </p:sp>
    </p:spTree>
    <p:extLst>
      <p:ext uri="{BB962C8B-B14F-4D97-AF65-F5344CB8AC3E}">
        <p14:creationId xmlns:p14="http://schemas.microsoft.com/office/powerpoint/2010/main" val="17001701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17C79-70E6-4142-A0ED-EC720FC6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Decision experience and wireframes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EAEDC-6506-4077-BDF9-B02FE6B1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42C95-EECC-4E46-A921-45B6134C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61ED8-A137-480A-BBE8-F9163BD0EC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56b65bcae42bb"/>
          <a:stretch xmlns:a="http://schemas.openxmlformats.org/drawingml/2006/main"/>
        </p:blipFill>
        <p:spPr>
          <a:xfrm xmlns:a="http://schemas.openxmlformats.org/drawingml/2006/main">
            <a:off x="1312545" y="1428750"/>
            <a:ext cx="630936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5074E-E60D-493E-B354-F3258944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666875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Evidence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24A0C7-54AF-4306-BF05-1221FD6F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71750"/>
            <a:ext cx="276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is happening?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Why is it happening?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happens next?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4FA99-4828-4063-AD2C-36EF49E9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905375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Accepted local UI: independent challenge, explicit uncertainty and next action.</a:t>
            </a:r>
          </a:p>
        </p:txBody>
      </p:sp>
    </p:spTree>
    <p:extLst>
      <p:ext uri="{BB962C8B-B14F-4D97-AF65-F5344CB8AC3E}">
        <p14:creationId xmlns:p14="http://schemas.microsoft.com/office/powerpoint/2010/main" val="18899833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FFB14-9A7E-4521-86EC-D74AA6A224B7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995362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B2C86A-4E87-46FD-BD51-1E7AB6D264E5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595312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E0200-4A2B-4B6E-B087-9B4C4907905C}"/>
              </a:ext>
            </a:extLst>
          </p:cNvPr>
          <p:cNvCxnSpPr>
            <a:stCxn xmlns:a="http://schemas.openxmlformats.org/drawingml/2006/main" id="10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208597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A7D3F8-1236-40EC-9D5B-2466B7BFAEDC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72375" y="21431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130BE-6A0E-4463-BE8A-2410B6EE28E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562350" y="214312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170D9E-37FA-403A-BB72-D97382CE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75E9DC-40C7-4CC0-B2C4-F5FFFBFF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3CC11F-D4EE-42E4-8AE0-90123663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9B31E-08AE-498D-9021-FBA0F7B1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4545A-C973-4A86-9960-EF946F5E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240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Accountant and UI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3CBD5-D567-4966-BF3F-250BE07D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1450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4E5C6-5319-4709-AB33-ECFE3690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Authenticated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38911-1C93-47C6-8BE8-5DFBB5A6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1450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4D383E-6EEB-4863-95FE-08A8504F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240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Deterministic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D17D7-FBE5-4A8E-AAB4-4E217675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BE254-C049-4057-9F99-4CCB9BE6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243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Human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8CBBB-04A6-424B-BCBC-4A923C95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1475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9D1DC-71EF-482F-ACAD-91B0679A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24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Gemini / Reviewer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75912-5D8C-402B-A29B-0526DCC1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027B9-B8E7-460D-AADF-C75C7140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24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Financial tools / 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21EFED-8845-4D7E-BF3E-AC93CA23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Advisory output returns to the accountant. Only authorized deterministic operations change financial state.</a:t>
            </a:r>
          </a:p>
        </p:txBody>
      </p:sp>
    </p:spTree>
    <p:extLst>
      <p:ext uri="{BB962C8B-B14F-4D97-AF65-F5344CB8AC3E}">
        <p14:creationId xmlns:p14="http://schemas.microsoft.com/office/powerpoint/2010/main" val="15735730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27CCE-6BEA-4B23-B9AC-E934C28B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Google Cloud technologies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79842-F7C9-4D3C-9B1B-8BBDA13F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FA26B-5C71-40B6-881A-6FF04404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B608E-6E0E-4846-9EB7-B2ADA636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Firebase Hosting, Firebase Authentication and Cloud Run form the application and identity boundaries.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32E41-12EB-4B37-B2AB-4DC0117F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Cloud SQL / PostgreSQL retains financial and transactional authority. Cloud Storage and Secret Manager have scoped adapter boundaries.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61A79-0265-4CC9-A833-E4417C05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Vertex AI / Gemini and Google ADK supply bounded advisory integration. Firestore reservations, outcomes and owner-scoped activity readback are implemented; live activation remains gated.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8B326-BC33-433C-B217-4A670701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Last known public mode: deterministic-only. Vertex API enablement alone does not prove inference access.</a:t>
            </a:r>
          </a:p>
        </p:txBody>
      </p:sp>
    </p:spTree>
    <p:extLst>
      <p:ext uri="{BB962C8B-B14F-4D97-AF65-F5344CB8AC3E}">
        <p14:creationId xmlns:p14="http://schemas.microsoft.com/office/powerpoint/2010/main" val="9753400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392E2-E40C-48EA-9D89-EB290A63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Implementation cost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CDB9A-AE50-4FC0-86CB-5A64FDD9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FCB5B-B5F9-48CF-BC46-DA2EF179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27BAB-D731-4B41-875F-46A32959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 bounded cost model precedes activation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3CA19-B2F0-486F-BEF0-C7911295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Compute and database: runtime seconds, memory, SQL capacity, storage and backups.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1E77A-7B65-4E9B-A7E7-BB3DD276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AI and operations: model tokens, Firestore operations, logs, storage and egress.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F5DE4-E505-4D70-A783-5B966740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Service effort: support, financial review and recovery. Owner quotas, durable budgets and a kill switch bound exposure.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280DEE-1777-4614-9CB4-B29BE2AE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Estimate status: unpriced. Publish currency, region, pricing date, workload assumptions and observed spend before asserting cost.</a:t>
            </a:r>
          </a:p>
        </p:txBody>
      </p:sp>
    </p:spTree>
    <p:extLst>
      <p:ext uri="{BB962C8B-B14F-4D97-AF65-F5344CB8AC3E}">
        <p14:creationId xmlns:p14="http://schemas.microsoft.com/office/powerpoint/2010/main" val="1086317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9AEF07-675F-4A06-94F4-67EA243F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Financial verification and first productive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8416B-BD73-4F18-981C-3F267241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21071-8FE9-460B-8597-08F2F7CD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F4391-DD58-4E79-9CBC-73156C96F7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41f2b900d74d35"/>
          <a:stretch xmlns:a="http://schemas.openxmlformats.org/drawingml/2006/main"/>
        </p:blipFill>
        <p:spPr>
          <a:xfrm xmlns:a="http://schemas.openxmlformats.org/drawingml/2006/main">
            <a:off x="1312545" y="1428750"/>
            <a:ext cx="630936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1021CA-0507-493F-B1B8-5154EDCA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14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Verified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CADAA-2EF1-44C1-A10B-CBD892AE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24125"/>
            <a:ext cx="27622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Required controls 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owner approves a synthetic invoice.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deterministic receipt verifies its effect.</a:t>
            </a:r>
          </a:p>
        </p:txBody>
      </p:sp>
    </p:spTree>
    <p:extLst>
      <p:ext uri="{BB962C8B-B14F-4D97-AF65-F5344CB8AC3E}">
        <p14:creationId xmlns:p14="http://schemas.microsoft.com/office/powerpoint/2010/main" val="4770611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B21B7-6821-4A0B-AF38-AFB4A063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Benchmarking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0BDC2-C6EF-41CE-B55E-5F96378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086BD-13B8-491C-88C8-D1AF244C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BEE67-61ED-4D62-8599-A31F31CB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Backend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4F572-7E31-473F-9FA4-4E5D129E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584 passed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23B59-52C8-4020-A57E-205A265A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58 skipped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20DAD-9A09-49CC-A553-F14B39F2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6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Frontend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066C6-C2D1-462C-99D9-CF032776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674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10EA7B-86C0-41A8-888A-D8F8355C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76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51 test files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93F09-5B4D-48E2-9A62-6F72B47D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Checks cover owner and approval boundaries, state transitions, recovery, reconciliation, UI behavior and synthetic FPU.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7F6BF5-88A4-4C7C-AE6F-3256C99A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Local candidate: 17/17 full-journey browser checks; 14/14 Play checks. Lint, types and build passed. Live-model quality and customer impact unmeasured.</a:t>
            </a:r>
          </a:p>
        </p:txBody>
      </p:sp>
    </p:spTree>
    <p:extLst>
      <p:ext uri="{BB962C8B-B14F-4D97-AF65-F5344CB8AC3E}">
        <p14:creationId xmlns:p14="http://schemas.microsoft.com/office/powerpoint/2010/main" val="10651669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43AE95-F4D2-4083-A983-34623CF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Future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FDB83-8797-415F-9F64-D2FFD6D0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49A4C-7D5E-4565-8E81-CD7B5FE0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03CBE-06AD-4799-9B80-DE5F0CF9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Now: accept the synthetic journey, Play mission, local intake, mapping review, offline evaluation and submission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C6934-2553-4E65-BEC8-18BC4602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Next, gated: verify live Gemini and Firestore operations; complete independent hosted-upload safety and operating controls.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72750-738C-4229-8CB2-3FF64659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Later: reviewed provider adapters, real-data handling, delegated roles and observed customer outcomes.</a:t>
            </a:r>
          </a:p>
        </p:txBody>
      </p:sp>
    </p:spTree>
    <p:extLst>
      <p:ext uri="{BB962C8B-B14F-4D97-AF65-F5344CB8AC3E}">
        <p14:creationId xmlns:p14="http://schemas.microsoft.com/office/powerpoint/2010/main" val="12434326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9BDC3-0BB4-43F5-8782-798C4A87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Submission links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8C22B-A5D3-4A77-99C7-5B12BC41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34AAD5-4663-404B-A667-FAEFE54A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0EBAE-2D4C-460B-B812-F0B7B0A1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Working Beta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01BC7-0374-44D5-AEDE-7159189C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66875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https://movebooks-si.web.app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673D63-5555-4E80-8AE1-26E2FE6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Public 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47FE4-3279-48F6-8D61-4EB43063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github.com/JEMathew/movers-and-ledgers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E5555-1BD4-4BB3-8913-AE27BADE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Evidence package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3812D8-541F-4F9C-AF59-60883B8A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67125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Working Backwards, PM blueprint, editable diagrams and candidate acceptance manifest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1F26E-E90A-458C-ADDD-450FE1C1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Captioned working video: 3:51.88, local synthetic UI. Official template, team details, public video link and approved cloud release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711308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2026-10-17T09:43:30.4760000Z</dcterms:created>
  <dcterms:modified xsi:type="dcterms:W3CDTF">2026-10-17T09:43:30.4760000Z</dcterms:modified>
</coreProperties>
</file>