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44667458f8141ce" /><Relationship Type="http://schemas.openxmlformats.org/officeDocument/2006/relationships/extended-properties" Target="/docProps/app.xml" Id="R7ebbf28785a74ddd" /><Relationship Type="http://schemas.openxmlformats.org/officeDocument/2006/relationships/officeDocument" Target="/ppt/presentation.xml" Id="R94c0ff92907a491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b1183d9bd9d47c4"/>
  </p:sldMasterIdLst>
  <p:notesMasterIdLst>
    <p:notesMasterId xmlns:r="http://schemas.openxmlformats.org/officeDocument/2006/relationships" r:id="R6efde62b410f4434"/>
  </p:notesMasterIdLst>
  <p:sldIdLst>
    <p:sldId xmlns:r="http://schemas.openxmlformats.org/officeDocument/2006/relationships" id="256" r:id="R7de357b247ec4de1"/>
    <p:sldId xmlns:r="http://schemas.openxmlformats.org/officeDocument/2006/relationships" id="257" r:id="R70da24bae9ae44c0"/>
    <p:sldId xmlns:r="http://schemas.openxmlformats.org/officeDocument/2006/relationships" id="258" r:id="R455e4d4f22924660"/>
    <p:sldId xmlns:r="http://schemas.openxmlformats.org/officeDocument/2006/relationships" id="259" r:id="R40c4979afd2f48a2"/>
    <p:sldId xmlns:r="http://schemas.openxmlformats.org/officeDocument/2006/relationships" id="260" r:id="R622a13962d0642f2"/>
    <p:sldId xmlns:r="http://schemas.openxmlformats.org/officeDocument/2006/relationships" id="261" r:id="R304b28327341439b"/>
    <p:sldId xmlns:r="http://schemas.openxmlformats.org/officeDocument/2006/relationships" id="262" r:id="R71c06b126a844ad1"/>
    <p:sldId xmlns:r="http://schemas.openxmlformats.org/officeDocument/2006/relationships" id="263" r:id="R5cd17f329836489d"/>
    <p:sldId xmlns:r="http://schemas.openxmlformats.org/officeDocument/2006/relationships" id="264" r:id="R90ce74ebf96f411e"/>
    <p:sldId xmlns:r="http://schemas.openxmlformats.org/officeDocument/2006/relationships" id="265" r:id="R222ce543f56d4cdc"/>
    <p:sldId xmlns:r="http://schemas.openxmlformats.org/officeDocument/2006/relationships" id="266" r:id="Ref6884faa1f54864"/>
    <p:sldId xmlns:r="http://schemas.openxmlformats.org/officeDocument/2006/relationships" id="267" r:id="Raf40e6060f6d423d"/>
    <p:sldId xmlns:r="http://schemas.openxmlformats.org/officeDocument/2006/relationships" id="268" r:id="R52290c55c1c9413f"/>
    <p:sldId xmlns:r="http://schemas.openxmlformats.org/officeDocument/2006/relationships" id="269" r:id="R79187c5a9bec4eb9"/>
    <p:sldId xmlns:r="http://schemas.openxmlformats.org/officeDocument/2006/relationships" id="270" r:id="R9d0f61dca8c944a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2617a4f2b9a4212" /><Relationship Type="http://schemas.openxmlformats.org/officeDocument/2006/relationships/slideMaster" Target="/ppt/slideMasters/slideMaster1.xml" Id="Rcb1183d9bd9d47c4" /><Relationship Type="http://schemas.openxmlformats.org/officeDocument/2006/relationships/notesMaster" Target="/ppt/notesMasters/notesMaster1.xml" Id="R6efde62b410f4434" /><Relationship Type="http://schemas.openxmlformats.org/officeDocument/2006/relationships/presProps" Target="/ppt/presProps.xml" Id="Re727f3a054d94055" /><Relationship Type="http://schemas.openxmlformats.org/officeDocument/2006/relationships/tableStyles" Target="/ppt/tableStyles.xml" Id="R6a5ffbc13487460d" /><Relationship Type="http://schemas.openxmlformats.org/officeDocument/2006/relationships/slide" Target="/ppt/slides/slide1.xml" Id="R7de357b247ec4de1" /><Relationship Type="http://schemas.openxmlformats.org/officeDocument/2006/relationships/slide" Target="/ppt/slides/slide2.xml" Id="R70da24bae9ae44c0" /><Relationship Type="http://schemas.openxmlformats.org/officeDocument/2006/relationships/slide" Target="/ppt/slides/slide3.xml" Id="R455e4d4f22924660" /><Relationship Type="http://schemas.openxmlformats.org/officeDocument/2006/relationships/slide" Target="/ppt/slides/slide4.xml" Id="R40c4979afd2f48a2" /><Relationship Type="http://schemas.openxmlformats.org/officeDocument/2006/relationships/slide" Target="/ppt/slides/slide5.xml" Id="R622a13962d0642f2" /><Relationship Type="http://schemas.openxmlformats.org/officeDocument/2006/relationships/slide" Target="/ppt/slides/slide6.xml" Id="R304b28327341439b" /><Relationship Type="http://schemas.openxmlformats.org/officeDocument/2006/relationships/slide" Target="/ppt/slides/slide7.xml" Id="R71c06b126a844ad1" /><Relationship Type="http://schemas.openxmlformats.org/officeDocument/2006/relationships/slide" Target="/ppt/slides/slide8.xml" Id="R5cd17f329836489d" /><Relationship Type="http://schemas.openxmlformats.org/officeDocument/2006/relationships/slide" Target="/ppt/slides/slide9.xml" Id="R90ce74ebf96f411e" /><Relationship Type="http://schemas.openxmlformats.org/officeDocument/2006/relationships/slide" Target="/ppt/slides/slide10.xml" Id="R222ce543f56d4cdc" /><Relationship Type="http://schemas.openxmlformats.org/officeDocument/2006/relationships/slide" Target="/ppt/slides/slide11.xml" Id="Ref6884faa1f54864" /><Relationship Type="http://schemas.openxmlformats.org/officeDocument/2006/relationships/slide" Target="/ppt/slides/slide12.xml" Id="Raf40e6060f6d423d" /><Relationship Type="http://schemas.openxmlformats.org/officeDocument/2006/relationships/slide" Target="/ppt/slides/slide13.xml" Id="R52290c55c1c9413f" /><Relationship Type="http://schemas.openxmlformats.org/officeDocument/2006/relationships/slide" Target="/ppt/slides/slide14.xml" Id="R79187c5a9bec4eb9" /><Relationship Type="http://schemas.openxmlformats.org/officeDocument/2006/relationships/slide" Target="/ppt/slides/slide15.xml" Id="R9d0f61dca8c944a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ca08dd5dca942f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e78b045f2654379" /><Relationship Type="http://schemas.openxmlformats.org/officeDocument/2006/relationships/notesMaster" Target="/ppt/notesMasters/notesMaster1.xml" Id="R8966b364a0ec4d0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d3b27ec907641af" /><Relationship Type="http://schemas.openxmlformats.org/officeDocument/2006/relationships/notesMaster" Target="/ppt/notesMasters/notesMaster1.xml" Id="Rd43af067eb224b4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6d29b1d9a554d0e" /><Relationship Type="http://schemas.openxmlformats.org/officeDocument/2006/relationships/notesMaster" Target="/ppt/notesMasters/notesMaster1.xml" Id="Re9aad63c616c45a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895e3501c434f00" /><Relationship Type="http://schemas.openxmlformats.org/officeDocument/2006/relationships/notesMaster" Target="/ppt/notesMasters/notesMaster1.xml" Id="R8a4ea0c8320148c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96ae31a06c24db0" /><Relationship Type="http://schemas.openxmlformats.org/officeDocument/2006/relationships/notesMaster" Target="/ppt/notesMasters/notesMaster1.xml" Id="Rbb7600c14b4d4db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516995173664bb6" /><Relationship Type="http://schemas.openxmlformats.org/officeDocument/2006/relationships/notesMaster" Target="/ppt/notesMasters/notesMaster1.xml" Id="Rb5ddfbba2c7e461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53c349291b44e10" /><Relationship Type="http://schemas.openxmlformats.org/officeDocument/2006/relationships/notesMaster" Target="/ppt/notesMasters/notesMaster1.xml" Id="R4bcd612a04444df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b7b785ffd974b5d" /><Relationship Type="http://schemas.openxmlformats.org/officeDocument/2006/relationships/notesMaster" Target="/ppt/notesMasters/notesMaster1.xml" Id="R806f81693775471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59c320f52794376" /><Relationship Type="http://schemas.openxmlformats.org/officeDocument/2006/relationships/notesMaster" Target="/ppt/notesMasters/notesMaster1.xml" Id="R5ed38b4dcfd6489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9e91841bd1741a1" /><Relationship Type="http://schemas.openxmlformats.org/officeDocument/2006/relationships/notesMaster" Target="/ppt/notesMasters/notesMaster1.xml" Id="R07750617b4c64b9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8867f4df4784dec" /><Relationship Type="http://schemas.openxmlformats.org/officeDocument/2006/relationships/notesMaster" Target="/ppt/notesMasters/notesMaster1.xml" Id="R63b31dc0f14541b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c4cddea020a4bac" /><Relationship Type="http://schemas.openxmlformats.org/officeDocument/2006/relationships/notesMaster" Target="/ppt/notesMasters/notesMaster1.xml" Id="Re806848ccb05454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358069d79804929" /><Relationship Type="http://schemas.openxmlformats.org/officeDocument/2006/relationships/notesMaster" Target="/ppt/notesMasters/notesMaster1.xml" Id="R8b23f524d719412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425e0fca3f048bd" /><Relationship Type="http://schemas.openxmlformats.org/officeDocument/2006/relationships/notesMaster" Target="/ppt/notesMasters/notesMaster1.xml" Id="R52be2eaff900437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f6f5b956bfc42e2" /><Relationship Type="http://schemas.openxmlformats.org/officeDocument/2006/relationships/notesMaster" Target="/ppt/notesMasters/notesMaster1.xml" Id="Ra223d3004444423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docs/PRODUCT_CONSTITUTION.md; docs/working-backwards/product-press-release.md. Draft content deck. Exact prescribed template missing and compliance unresolved.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Team roster/contact not provided in source material. Do not infer named contributors from role titles.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product directive; docs/PRODUCT_CONSTITUTION.md. Problem needs are strategy hypotheses, not completed customer research. User-confirmed challenge: BFSI: Intelligent Risk, Fraud &amp; Financial Experiences. Full statement in docs/submission/problem-statement.md.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docs/product-management/blueprint.md; feature-contracts.md. Current scope bounded synthetic Beta.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docs/working-backwards/internal-faq.md. Differentiation is a positioning hypothesis. No measured competitor superiority claimed.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docs/submission/browser-play/play-desktop-opening.png and browser-evidence.json. Authentic local combined-candidate Play screenshot accepted by integration owner, 14 browser checks passed. Local candidate only, not deployed. No live Gemini claim.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docs/architecture-experience/source/customer-journey.mmd; docs/PRODUCT_CONSTITUTION.md.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docs/ux-v2/pr05/after-prepare-1440.jpg. Authentic historical candidate screenshot, not a wireframe or proof of this sprint deployment.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docs/architecture/beta-v1-agent-architecture.md; google-native-runtime.md. Diagram depicts implementation boundaries; cloud activation evidence is separate.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docs/deployment/public-beta.md; docs/architecture/google-native-runtime.md; user last-known infrastructure facts. No new live verification claimed.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docs/working-backwards/internal-faq.md. No measured spend, current price quote, workload volumes or commercial price available.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docs/ux-v2/pr04/after-verified-1440.jpg; agents/orchestrator/onboard_fpu.py; tests/test_onboard_fpu.py. Historical authentic screenshot.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root integration-owner report candidate local backend553 passed58 skipped,17 October2026; named tests. Candidate run and external benchmarking pending.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docs/product-management/blueprint.md section10. Planned work is not credited as deployed.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URLs: README.md and docs/deployment/public-beta.md. Current permissions/version to be verified by release owner. Exact official template and final working-video link still missing.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e7deef9016414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54759256734d6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022f35d5e74ef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de033e5f1024c0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6e5f23e00e04dc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ee58dbf6484ae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0B8169A-DD39-45A2-9B1D-E858487E03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B78F3264-7CA1-4019-81F4-F6755E3E883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53039007-0934-4E96-9DBE-1550033F221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B255BF4-0E28-4113-85B6-AD626A3DBA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FAFD87E8-4694-4B7D-B2C1-37B3E0BBA32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99A4B40B-E176-4E59-A79A-09FCADF58D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73189C2-95BE-4C50-BA42-9F1FDA512B4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5FDF95C6-F4CD-433C-8CC1-6D6D04F349F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6BCE56E-F7AE-49C0-8F4C-CC90C356F00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CEAE731-EFB6-4FF8-99E7-200D30B7A94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cf0324f20374db8" /><Relationship Type="http://schemas.openxmlformats.org/officeDocument/2006/relationships/slideLayout" Target="/ppt/slideLayouts/slideLayout1.xml" Id="R55ce00d2912a42db" /><Relationship Type="http://schemas.openxmlformats.org/officeDocument/2006/relationships/slideLayout" Target="/ppt/slideLayouts/slideLayout2.xml" Id="Recf6a2b8388a45eb" /><Relationship Type="http://schemas.openxmlformats.org/officeDocument/2006/relationships/slideLayout" Target="/ppt/slideLayouts/slideLayout3.xml" Id="R3a3e53c1bb604b07" /><Relationship Type="http://schemas.openxmlformats.org/officeDocument/2006/relationships/slideLayout" Target="/ppt/slideLayouts/slideLayout4.xml" Id="R16ce3956bf5f4384" /><Relationship Type="http://schemas.openxmlformats.org/officeDocument/2006/relationships/slideLayout" Target="/ppt/slideLayouts/slideLayout5.xml" Id="Rfdf9508ff59244a6" /><Relationship Type="http://schemas.openxmlformats.org/officeDocument/2006/relationships/slideLayout" Target="/ppt/slideLayouts/slideLayout6.xml" Id="R719d4b9966e94a5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5ce00d2912a42db"/>
    <p:sldLayoutId xmlns:r="http://schemas.openxmlformats.org/officeDocument/2006/relationships" id="2147483650" r:id="Recf6a2b8388a45eb"/>
    <p:sldLayoutId xmlns:r="http://schemas.openxmlformats.org/officeDocument/2006/relationships" id="2147483651" r:id="R3a3e53c1bb604b07"/>
    <p:sldLayoutId xmlns:r="http://schemas.openxmlformats.org/officeDocument/2006/relationships" id="2147483652" r:id="R16ce3956bf5f4384"/>
    <p:sldLayoutId xmlns:r="http://schemas.openxmlformats.org/officeDocument/2006/relationships" id="2147483653" r:id="Rfdf9508ff59244a6"/>
    <p:sldLayoutId xmlns:r="http://schemas.openxmlformats.org/officeDocument/2006/relationships" id="2147483654" r:id="R719d4b9966e94a5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25f2adbc1424269" /><Relationship Type="http://schemas.openxmlformats.org/officeDocument/2006/relationships/image" Target="/ppt/media/image.jpeg" Id="Rbbd80fc731d64507" /><Relationship Type="http://schemas.openxmlformats.org/officeDocument/2006/relationships/notesSlide" Target="/ppt/notesSlides/notesSlide1.xml" Id="Rdfb580a1e2a54e7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4e3c31da06d4ae9" /><Relationship Type="http://schemas.openxmlformats.org/officeDocument/2006/relationships/notesSlide" Target="/ppt/notesSlides/notesSlide2.xml" Id="Rbcaa3782742b472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d856236be9a468d" /><Relationship Type="http://schemas.openxmlformats.org/officeDocument/2006/relationships/notesSlide" Target="/ppt/notesSlides/notesSlide3.xml" Id="R5d73d99ace6142c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3beb2779db3463b" /><Relationship Type="http://schemas.openxmlformats.org/officeDocument/2006/relationships/notesSlide" Target="/ppt/notesSlides/notesSlide4.xml" Id="Rd510a76cb05544d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cee11e2e97841ca" /><Relationship Type="http://schemas.openxmlformats.org/officeDocument/2006/relationships/notesSlide" Target="/ppt/notesSlides/notesSlide5.xml" Id="R3887bb2697ec4b7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358c3d44b1c43ae" /><Relationship Type="http://schemas.openxmlformats.org/officeDocument/2006/relationships/image" Target="/ppt/media/image.png" Id="R040ad2964a5b4b56" /><Relationship Type="http://schemas.openxmlformats.org/officeDocument/2006/relationships/notesSlide" Target="/ppt/notesSlides/notesSlide6.xml" Id="R6bfcf8ae098a4a7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d1bd800ef8c473e" /><Relationship Type="http://schemas.openxmlformats.org/officeDocument/2006/relationships/notesSlide" Target="/ppt/notesSlides/notesSlide7.xml" Id="R6a8f71761c604a9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221bc38a63848f7" /><Relationship Type="http://schemas.openxmlformats.org/officeDocument/2006/relationships/image" Target="/ppt/media/image2.jpeg" Id="R7a20a47932a44b55" /><Relationship Type="http://schemas.openxmlformats.org/officeDocument/2006/relationships/notesSlide" Target="/ppt/notesSlides/notesSlide8.xml" Id="R6d681fa305b9419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f18a4fc086546ba" /><Relationship Type="http://schemas.openxmlformats.org/officeDocument/2006/relationships/notesSlide" Target="/ppt/notesSlides/notesSlide9.xml" Id="R84d5ed2dabbb4df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4c36e8f202443fc" /><Relationship Type="http://schemas.openxmlformats.org/officeDocument/2006/relationships/notesSlide" Target="/ppt/notesSlides/notesSlide10.xml" Id="Rf32b5b34d76d40f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a1cd904d4ea4f05" /><Relationship Type="http://schemas.openxmlformats.org/officeDocument/2006/relationships/notesSlide" Target="/ppt/notesSlides/notesSlide11.xml" Id="Rac97c59e0733443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44b3de584624beb" /><Relationship Type="http://schemas.openxmlformats.org/officeDocument/2006/relationships/image" Target="/ppt/media/image3.jpeg" Id="Rec924c103df74625" /><Relationship Type="http://schemas.openxmlformats.org/officeDocument/2006/relationships/notesSlide" Target="/ppt/notesSlides/notesSlide12.xml" Id="R7113ab82929749d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3b0627a24b748da" /><Relationship Type="http://schemas.openxmlformats.org/officeDocument/2006/relationships/notesSlide" Target="/ppt/notesSlides/notesSlide13.xml" Id="R529d7cba46504d5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c22d39d145142c9" /><Relationship Type="http://schemas.openxmlformats.org/officeDocument/2006/relationships/notesSlide" Target="/ppt/notesSlides/notesSlide14.xml" Id="R7439665af1b24b3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f13b9e811724796" /><Relationship Type="http://schemas.openxmlformats.org/officeDocument/2006/relationships/notesSlide" Target="/ppt/notesSlides/notesSlide15.xml" Id="Rb5dabee6fb7145d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290E5B-0651-43DD-89A5-C8FF1C989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MoveBooks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7AFB26-F14B-4EB3-9AFB-37D4123AC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04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MOVEBOOKS AI   /   BOUNDED SYNTHETIC BETA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F31763-7684-47AA-B56A-A4E93D22D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33412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A7FE4F-4F72-47FB-816E-79E1BF7CE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5334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3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43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43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43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43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43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43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43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43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43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43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Move your books.</a:t>
            </a:r>
          </a:p>
          <a:p xmlns:a="http://schemas.openxmlformats.org/drawingml/2006/main">
            <a:pPr>
              <a:defRPr sz="43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Keep your confidence.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93B400-D69B-421D-A5FF-5200DC200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5334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defPPr>
            <a:lvl1pPr>
              <a:defRPr sz="22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1pPr>
            <a:lvl2pPr>
              <a:defRPr sz="22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2pPr>
            <a:lvl3pPr>
              <a:defRPr sz="22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3pPr>
            <a:lvl4pPr>
              <a:defRPr sz="22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4pPr>
            <a:lvl5pPr>
              <a:defRPr sz="22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5pPr>
            <a:lvl6pPr>
              <a:defRPr sz="22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6pPr>
            <a:lvl7pPr>
              <a:defRPr sz="22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7pPr>
            <a:lvl8pPr>
              <a:defRPr sz="22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8pPr>
            <a:lvl9pPr>
              <a:defRPr sz="22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Movers &amp; Ledgers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E54ACC-C4F4-4B86-93BA-ECB42A2D2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24375"/>
            <a:ext cx="5334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Accounting migration, from understanding</a:t>
            </a:r>
          </a:p>
          <a:p xmlns:a="http://schemas.openxmlformats.org/drawingml/2006/main">
            <a: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to verified first productive use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E9DF62-2F32-4965-8705-656D989973F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d80fc731d64507"/>
          <a:stretch xmlns:a="http://schemas.openxmlformats.org/drawingml/2006/main"/>
        </p:blipFill>
        <p:spPr>
          <a:xfrm xmlns:a="http://schemas.openxmlformats.org/drawingml/2006/main">
            <a:off x="6977784" y="1619250"/>
            <a:ext cx="3665682" cy="3810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994771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6F758B-AD26-4B0B-A817-EC3E93BBC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Team and delivery scope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4F4592-327B-413D-8523-7F36B0B76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04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MOVEBOOKS AI   /   BOUNDED SYNTHETIC BETA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0D2A3B-50AB-48F3-B79C-EB0F593C2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33412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8011EA-7989-44EC-99CB-2EF1F082B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10477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Movers &amp; Ledgers develops MoveBooks AI as an independent product concept.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783EB6-6725-4AF7-B8D4-AF3192A8C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0375"/>
            <a:ext cx="10477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The submission candidate combines product, engineering, financial systems, AI evaluation and release responsibilities.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D6679E-8D12-42D2-B6B2-A710D9E0F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3875"/>
            <a:ext cx="10477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Team names, roles and contact details await the submission owner.</a:t>
            </a:r>
          </a:p>
        </p:txBody>
      </p:sp>
    </p:spTree>
    <p:extLst>
      <p:ext uri="{BB962C8B-B14F-4D97-AF65-F5344CB8AC3E}">
        <p14:creationId xmlns:p14="http://schemas.microsoft.com/office/powerpoint/2010/main" val="77848827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54640A-B872-4272-9A94-2B9B70ABD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The accounting handover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34B386-A180-4CFC-9263-3951801AE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04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MOVEBOOKS AI   /   BOUNDED SYNTHETIC BETA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6086D3-598D-410C-AAD6-626B27970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33412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8CD7F4-F23F-4743-A3B2-C637BCB83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1057275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A completed import does not show whether the books are ready for work.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27C008-7C1A-4BCA-BEF0-D190D6CAF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67025"/>
            <a:ext cx="1057275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Accountants need to understand unsupported records, ambiguous mappings and financial differences.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54DDED-0111-41CF-952A-02643DB69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67175"/>
            <a:ext cx="1057275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The proposed outcome is an informed, approved and verified first productive task.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542B25-006F-47DD-964B-E7B503138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BFSI: Intelligent Risk, Fraud &amp; Financial Experiences. Fit: migration risk, complex process automation and informed financial decisions.</a:t>
            </a:r>
          </a:p>
        </p:txBody>
      </p:sp>
    </p:spTree>
    <p:extLst>
      <p:ext uri="{BB962C8B-B14F-4D97-AF65-F5344CB8AC3E}">
        <p14:creationId xmlns:p14="http://schemas.microsoft.com/office/powerpoint/2010/main" val="166603287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2D7385-DD49-4B2A-9F8A-BCC6BC446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The product idea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B4B7EA-0D49-4D36-ABA1-1F501B115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04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MOVEBOOKS AI   /   BOUNDED SYNTHETIC BETA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C04414-1DA9-4F55-A577-8B9D66977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33412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8C3912-0CCA-4DAE-B571-4AA3F0A88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7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defPPr>
            <a:lvl1pPr>
              <a:defRPr sz="277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1pPr>
            <a:lvl2pPr>
              <a:defRPr sz="277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2pPr>
            <a:lvl3pPr>
              <a:defRPr sz="277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3pPr>
            <a:lvl4pPr>
              <a:defRPr sz="277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4pPr>
            <a:lvl5pPr>
              <a:defRPr sz="277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5pPr>
            <a:lvl6pPr>
              <a:defRPr sz="277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6pPr>
            <a:lvl7pPr>
              <a:defRPr sz="277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7pPr>
            <a:lvl8pPr>
              <a:defRPr sz="277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8pPr>
            <a:lvl9pPr>
              <a:defRPr sz="277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77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One governed journey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CB8814-5E79-46FD-8642-419B332E5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28875"/>
            <a:ext cx="10572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Understand and prepare with evidence before making consequential decisions.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9081B4-4549-4C0B-9ADA-470C8710C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14725"/>
            <a:ext cx="10572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Move supported synthetic information with checkpoints and safe recovery.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D80A65-27AD-4682-9638-7E92832D0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00575"/>
            <a:ext cx="10572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Verify financial correctness, configure the environment and complete an approved first invoice.</a:t>
            </a:r>
          </a:p>
        </p:txBody>
      </p:sp>
    </p:spTree>
    <p:extLst>
      <p:ext uri="{BB962C8B-B14F-4D97-AF65-F5344CB8AC3E}">
        <p14:creationId xmlns:p14="http://schemas.microsoft.com/office/powerpoint/2010/main" val="94744061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AF0700-9D6E-49D9-8CEC-371B4C624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Differentiation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A90773-7020-43D9-A5BF-19918C2F0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04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MOVEBOOKS AI   /   BOUNDED SYNTHETIC BETA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9D6D9D-5DEB-4888-9C46-9709E2AC1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33412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08E75E-88FC-47FA-8656-47E88785F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5727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Continuity from learning and readiness to financial verification and productive adoption.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443A26-4734-46B4-8EB6-EF3360594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105727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A human accountant controls consequential choices. Gemini explains. A separate Reviewer challenges.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729C5F-71DD-4942-8A70-AD684F5B2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105727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Deterministic tools establish financial truth, while internal Judges evaluate quality outside the execution path.</a:t>
            </a:r>
          </a:p>
        </p:txBody>
      </p:sp>
    </p:spTree>
    <p:extLst>
      <p:ext uri="{BB962C8B-B14F-4D97-AF65-F5344CB8AC3E}">
        <p14:creationId xmlns:p14="http://schemas.microsoft.com/office/powerpoint/2010/main" val="65467160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4C5C99-093F-4E77-A26D-DCAC4F94F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Three entry experiences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B8CF1A-2070-4B8A-B038-CAB3FE5DC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04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MOVEBOOKS AI   /   BOUNDED SYNTHETIC BETA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BF5616-E861-48EA-AF63-D67E052B1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33412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4B2787-CEC2-4269-924D-2F88F525548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0ad2964a5b4b56"/>
          <a:stretch xmlns:a="http://schemas.openxmlformats.org/drawingml/2006/main"/>
        </p:blipFill>
        <p:spPr>
          <a:xfrm xmlns:a="http://schemas.openxmlformats.org/drawingml/2006/main">
            <a:off x="798526" y="1571625"/>
            <a:ext cx="7242149" cy="438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73C620-9F9D-482C-B876-2CD6C5A0F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619250"/>
            <a:ext cx="295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Play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8B4E45-E66D-4836-BF97-8C3315DEF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143125"/>
            <a:ext cx="2857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Explore an office and solve an evidence puzzle.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F1782C-FF23-44E6-AA52-D3468B44D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143250"/>
            <a:ext cx="295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Explore Demo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9DFADF-A017-47FF-8B3D-358C4A87F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667125"/>
            <a:ext cx="2857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Rehearse Harbor Light Books through verified FPU.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1A6419-27F3-4BE0-8647-97042CA5E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667250"/>
            <a:ext cx="295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Try Your Data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D4877A-49E3-4EA0-A865-F43F9D7AA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5191125"/>
            <a:ext cx="2857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Validate permitted test packages locally. Hosted uploads stay gated.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6B0F24-23ED-4303-B142-1D5067EC4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00750"/>
            <a:ext cx="762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Authentic local candidate capture. Play acceptance: 14 browser checks passed.</a:t>
            </a:r>
          </a:p>
        </p:txBody>
      </p:sp>
    </p:spTree>
    <p:extLst>
      <p:ext uri="{BB962C8B-B14F-4D97-AF65-F5344CB8AC3E}">
        <p14:creationId xmlns:p14="http://schemas.microsoft.com/office/powerpoint/2010/main" val="1565497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A2708AD-6966-41CA-8DD5-C0D5E2D91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Migration process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58A936-314E-4A96-A473-B103502CC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04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MOVEBOOKS AI   /   BOUNDED SYNTHETIC BETA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181259-3D5E-471E-B1B7-2ADC41E6E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33412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F3E7F4-32A2-43FE-93C3-EED81DE41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80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defPPr>
            <a:lvl1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1pPr>
            <a:lvl2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2pPr>
            <a:lvl3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3pPr>
            <a:lvl4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4pPr>
            <a:lvl5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5pPr>
            <a:lvl6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6pPr>
            <a:lvl7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7pPr>
            <a:lvl8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8pPr>
            <a:lvl9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E511A6-E9D8-4645-A701-55A6D229F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200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Understand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2283BF-E67E-44A5-BD5A-BEF1BC78D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1952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Discover and assess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F6F77F-766F-477F-8BE8-6C538889D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14500"/>
            <a:ext cx="180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defPPr>
            <a:lvl1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1pPr>
            <a:lvl2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2pPr>
            <a:lvl3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3pPr>
            <a:lvl4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4pPr>
            <a:lvl5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5pPr>
            <a:lvl6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6pPr>
            <a:lvl7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7pPr>
            <a:lvl8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8pPr>
            <a:lvl9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89CD3B-B138-49EB-8D9B-7181477D9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619375"/>
            <a:ext cx="200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Prepare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BF4556-1CD3-44B7-BD00-2371564C9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476625"/>
            <a:ext cx="1952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Plan, map and approve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8D95A5-41CE-404B-A4AB-D23A43F2D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14500"/>
            <a:ext cx="180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defPPr>
            <a:lvl1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1pPr>
            <a:lvl2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2pPr>
            <a:lvl3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3pPr>
            <a:lvl4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4pPr>
            <a:lvl5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5pPr>
            <a:lvl6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6pPr>
            <a:lvl7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7pPr>
            <a:lvl8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8pPr>
            <a:lvl9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AD182A-CF54-41A2-BBF3-4A9CD3072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619375"/>
            <a:ext cx="200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Move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B137A1-CBC4-4959-BD2B-1B782BABE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476625"/>
            <a:ext cx="1952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Migrate and resolve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637051-3341-4ED5-B256-A3FF88C67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14500"/>
            <a:ext cx="180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defPPr>
            <a:lvl1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1pPr>
            <a:lvl2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2pPr>
            <a:lvl3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3pPr>
            <a:lvl4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4pPr>
            <a:lvl5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5pPr>
            <a:lvl6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6pPr>
            <a:lvl7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7pPr>
            <a:lvl8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8pPr>
            <a:lvl9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C0A4E3-693D-42AF-A2CC-775D3F3BF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619375"/>
            <a:ext cx="200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Verify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651BDD-52DA-4F2B-B8F8-B11C7CF81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476625"/>
            <a:ext cx="1952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Reconcile and configure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10C6FE-A1AC-4294-ADB4-3C650DC05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14500"/>
            <a:ext cx="180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defPPr>
            <a:lvl1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1pPr>
            <a:lvl2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2pPr>
            <a:lvl3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3pPr>
            <a:lvl4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4pPr>
            <a:lvl5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5pPr>
            <a:lvl6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6pPr>
            <a:lvl7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7pPr>
            <a:lvl8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8pPr>
            <a:lvl9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98819D-5D5F-42C3-8056-9049D51E1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619375"/>
            <a:ext cx="200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Start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CA14930-7ED8-43AA-B843-441DAA356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476625"/>
            <a:ext cx="1952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Onboard and verified FPU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D255EA6-6005-4AEF-BFFC-F12468D1F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47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Progress follows evidence and valid state transitions. Financial discrepancies stop the journey.</a:t>
            </a:r>
          </a:p>
        </p:txBody>
      </p:sp>
    </p:spTree>
    <p:extLst>
      <p:ext uri="{BB962C8B-B14F-4D97-AF65-F5344CB8AC3E}">
        <p14:creationId xmlns:p14="http://schemas.microsoft.com/office/powerpoint/2010/main" val="47576562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4E630C-51C6-4A63-81DE-88F2F413B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Decision experience and wireframes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401E1C-65FB-405F-9A88-C2DE9DD1B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04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MOVEBOOKS AI   /   BOUNDED SYNTHETIC BETA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4A3038-8DD8-4EF5-BA57-F97BAC4D3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33412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1560A1-BA56-4C19-8434-344DA6CCCEA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20a47932a44b55"/>
          <a:stretch xmlns:a="http://schemas.openxmlformats.org/drawingml/2006/main"/>
        </p:blipFill>
        <p:spPr>
          <a:xfrm xmlns:a="http://schemas.openxmlformats.org/drawingml/2006/main">
            <a:off x="962025" y="1428750"/>
            <a:ext cx="7010400" cy="438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31A037-8086-4AFC-890E-AE999014E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666875"/>
            <a:ext cx="276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Evidence first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66D86F-49F6-42FC-A21D-71F6E3C72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2571750"/>
            <a:ext cx="276225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What is happening?</a:t>
            </a:r>
          </a:p>
          <a:p xmlns:a="http://schemas.openxmlformats.org/drawingml/2006/main">
            <a: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Why is it happening?</a:t>
            </a:r>
          </a:p>
          <a:p xmlns:a="http://schemas.openxmlformats.org/drawingml/2006/main">
            <a: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What happens next?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281D89-AC38-4CD2-AD91-8FEBC90C2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4905375"/>
            <a:ext cx="2762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Historical implemented UI evidence; final candidate capture pending.</a:t>
            </a:r>
          </a:p>
        </p:txBody>
      </p:sp>
    </p:spTree>
    <p:extLst>
      <p:ext uri="{BB962C8B-B14F-4D97-AF65-F5344CB8AC3E}">
        <p14:creationId xmlns:p14="http://schemas.microsoft.com/office/powerpoint/2010/main" val="194587439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7F7226D-33E1-4AFD-98EE-8FDDB2BBC498}"/>
              </a:ext>
            </a:extLst>
          </p:cNvPr>
          <p:cNvCxnSpPr>
            <a:stCxn xmlns:a="http://schemas.openxmlformats.org/drawingml/2006/main" id="8" idx="2"/>
            <a:endCxn xmlns:a="http://schemas.openxmlformats.org/drawingml/2006/main" id="14" idx="0"/>
          </p:cNvCxnSpPr>
          <p:nvPr/>
        </p:nvCxnSpPr>
        <p:spPr>
          <a:xfrm xmlns:a="http://schemas.openxmlformats.org/drawingml/2006/main">
            <a:off x="9953625" y="2571750"/>
            <a:ext cx="0" cy="11430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63EB"/>
            </a:solidFill>
            <a:tailEnd type="arrow" w="med" len="med"/>
          </a:ln>
        </p:spPr>
      </p:cxnSp>
      <p:cxnSp>
        <p:nvCxn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D52050-A547-4D13-A3B7-52917F69BB86}"/>
              </a:ext>
            </a:extLst>
          </p:cNvPr>
          <p:cNvCxnSpPr>
            <a:stCxn xmlns:a="http://schemas.openxmlformats.org/drawingml/2006/main" id="6" idx="2"/>
            <a:endCxn xmlns:a="http://schemas.openxmlformats.org/drawingml/2006/main" id="12" idx="0"/>
          </p:cNvCxnSpPr>
          <p:nvPr/>
        </p:nvCxnSpPr>
        <p:spPr>
          <a:xfrm xmlns:a="http://schemas.openxmlformats.org/drawingml/2006/main">
            <a:off x="5953125" y="2571750"/>
            <a:ext cx="0" cy="11430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63EB"/>
            </a:solidFill>
            <a:tailEnd type="arrow" w="med" len="med"/>
          </a:ln>
        </p:spPr>
      </p:cxnSp>
      <p:cxnSp>
        <p:nvCxn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EDE91C-9805-4574-AC32-3CAB454620D0}"/>
              </a:ext>
            </a:extLst>
          </p:cNvPr>
          <p:cNvCxnSpPr>
            <a:stCxn xmlns:a="http://schemas.openxmlformats.org/drawingml/2006/main" id="10" idx="0"/>
            <a:endCxn xmlns:a="http://schemas.openxmlformats.org/drawingml/2006/main" id="4" idx="2"/>
          </p:cNvCxnSpPr>
          <p:nvPr/>
        </p:nvCxnSpPr>
        <p:spPr>
          <a:xfrm xmlns:a="http://schemas.openxmlformats.org/drawingml/2006/main" flipV="1">
            <a:off x="2085975" y="2571750"/>
            <a:ext cx="0" cy="11430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63EB"/>
            </a:solidFill>
            <a:tailEnd type="arrow" w="med" len="med"/>
          </a:ln>
        </p:spPr>
      </p:cxnSp>
      <p:cxnSp>
        <p:nvCxn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A31A0A0-42D0-4BDE-9319-8B6D2F1E4196}"/>
              </a:ext>
            </a:extLst>
          </p:cNvPr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7572375" y="2143125"/>
            <a:ext cx="762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63EB"/>
            </a:solidFill>
            <a:tailEnd type="arrow" w="med" len="med"/>
          </a:ln>
        </p:spPr>
      </p:cxnSp>
      <p:cxnSp>
        <p:nvCxn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8F3F35-C3C5-4B4E-A1F1-C4CDF575DEE7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562350" y="2143125"/>
            <a:ext cx="7715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63EB"/>
            </a:solidFill>
            <a:tailEnd type="arrow" w="med" len="med"/>
          </a:ln>
        </p:spPr>
      </p:cxn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6F1523-9BF6-458E-B165-905E54A44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Technical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16ABA1-608B-416F-A235-D95C878ED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04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MOVEBOOKS AI   /   BOUNDED SYNTHETIC BETA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2BA4EF-5522-4F10-8C56-F8A070F1B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33412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FB9B5B-8A06-4D9E-9EED-0CB2CED40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2952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F"/>
          </a:solidFill>
          <a:ln xmlns:a="http://schemas.openxmlformats.org/drawingml/2006/main" w="9525">
            <a:solidFill>
              <a:srgbClr val="2563EB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51A65C-32D1-4C1D-BE55-56931EB34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1924050"/>
            <a:ext cx="266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Accountant and UI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D231D1-42A5-4DA7-8FD2-CEE89491F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1714500"/>
            <a:ext cx="3238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F"/>
          </a:solidFill>
          <a:ln xmlns:a="http://schemas.openxmlformats.org/drawingml/2006/main" w="9525">
            <a:solidFill>
              <a:srgbClr val="2563EB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2A57AB-4C4C-45C2-B1AD-0AE8FE92F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924050"/>
            <a:ext cx="2952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Authenticated API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10255E-0632-4664-A07E-EF99848B9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714500"/>
            <a:ext cx="3238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F"/>
          </a:solidFill>
          <a:ln xmlns:a="http://schemas.openxmlformats.org/drawingml/2006/main" w="9525">
            <a:solidFill>
              <a:srgbClr val="2563EB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C8A353-F59E-4AE2-B93C-F340CA184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924050"/>
            <a:ext cx="2952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Deterministic workflow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FC29D5-6232-4263-991D-29A4C0460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2952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F"/>
          </a:solidFill>
          <a:ln xmlns:a="http://schemas.openxmlformats.org/drawingml/2006/main" w="9525">
            <a:solidFill>
              <a:srgbClr val="2563EB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CBFEBE-BDFB-46A9-B802-2EC71BEF7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924300"/>
            <a:ext cx="266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Human decisions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7A6F44-138B-4310-BBF8-9F6501458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714750"/>
            <a:ext cx="3238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F"/>
          </a:solidFill>
          <a:ln xmlns:a="http://schemas.openxmlformats.org/drawingml/2006/main" w="9525">
            <a:solidFill>
              <a:srgbClr val="2563EB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28CB96-1D3A-416E-89A7-2A6AFB654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924300"/>
            <a:ext cx="2952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Gemini / Reviewer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9DE916-A70F-4F43-9FEA-5B951D431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714750"/>
            <a:ext cx="3238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F"/>
          </a:solidFill>
          <a:ln xmlns:a="http://schemas.openxmlformats.org/drawingml/2006/main" w="9525">
            <a:solidFill>
              <a:srgbClr val="2563EB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36EE93-AE34-44B7-873C-081FC0A5F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924300"/>
            <a:ext cx="2952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Financial tools / SQL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AC413AC-080A-4F91-A254-7022A4E68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76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Advisory output returns to the accountant. Only authorized deterministic operations change financial state.</a:t>
            </a:r>
          </a:p>
        </p:txBody>
      </p:sp>
    </p:spTree>
    <p:extLst>
      <p:ext uri="{BB962C8B-B14F-4D97-AF65-F5344CB8AC3E}">
        <p14:creationId xmlns:p14="http://schemas.microsoft.com/office/powerpoint/2010/main" val="120421665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6FD625-4CF1-402D-9CC1-B4329FDD5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Google Cloud technologies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8A0181-74A4-421B-8689-3A9CB0CAE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04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MOVEBOOKS AI   /   BOUNDED SYNTHETIC BETA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80D5AB-E866-43ED-B2B2-2305F9438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33412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DC7EA7-A8EB-44D1-B396-3F1C6C585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572750" cy="1209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Firebase Hosting, Firebase Authentication and Cloud Run form the application and identity boundaries.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81E04A-081D-4979-BB27-0218114E9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95600"/>
            <a:ext cx="10572750" cy="1209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Cloud SQL / PostgreSQL retains financial and transactional authority. Cloud Storage and Secret Manager have scoped adapter boundaries.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2A478C-BB92-42B5-B677-73ABE65D2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9575"/>
            <a:ext cx="10572750" cy="1209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Vertex AI / Gemini and Google ADK supply bounded advisory integration. Firestore operational controls remain separately activation-gated.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31CBFE-36BB-4B7A-A0AF-ED3F26A90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67375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Last known public mode: deterministic-only. Vertex API enablement alone does not prove inference access.</a:t>
            </a:r>
          </a:p>
        </p:txBody>
      </p:sp>
    </p:spTree>
    <p:extLst>
      <p:ext uri="{BB962C8B-B14F-4D97-AF65-F5344CB8AC3E}">
        <p14:creationId xmlns:p14="http://schemas.microsoft.com/office/powerpoint/2010/main" val="53223842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FE77E5-FD09-4882-884D-50F63857D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Implementation cost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50C78B-B4C9-45D7-A1F6-F76FFCD4E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04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MOVEBOOKS AI   /   BOUNDED SYNTHETIC BETA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0FDF8E-EDA6-4E7B-A32A-CB16AA726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33412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C3DAEF-9333-4755-B66B-8AE69DD7F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defPPr>
            <a:lvl1pPr>
              <a:defRPr sz="27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1pPr>
            <a:lvl2pPr>
              <a:defRPr sz="27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2pPr>
            <a:lvl3pPr>
              <a:defRPr sz="27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3pPr>
            <a:lvl4pPr>
              <a:defRPr sz="27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4pPr>
            <a:lvl5pPr>
              <a:defRPr sz="27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5pPr>
            <a:lvl6pPr>
              <a:defRPr sz="27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6pPr>
            <a:lvl7pPr>
              <a:defRPr sz="27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7pPr>
            <a:lvl8pPr>
              <a:defRPr sz="27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8pPr>
            <a:lvl9pPr>
              <a:defRPr sz="27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7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A bounded cost model precedes activation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A90CC5-3B52-474F-9ECF-EC48B57D5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5727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Compute and database: runtime seconds, memory, SQL capacity, storage and backups.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13E2DC-1866-4B4A-A90D-ECA6C7E35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5727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AI and operations: model tokens, Firestore operations, logs, storage and egress.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5A5C71-61AD-4215-AE39-010C263A9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3900"/>
            <a:ext cx="105727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Service effort: support, financial review and recovery. Owner quotas, durable budgets and a kill switch bound exposure.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7F9234-B1BE-437C-A23D-D2F305AA3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Estimate status: unpriced. Publish currency, region, pricing date, workload assumptions and observed spend before asserting cost.</a:t>
            </a:r>
          </a:p>
        </p:txBody>
      </p:sp>
    </p:spTree>
    <p:extLst>
      <p:ext uri="{BB962C8B-B14F-4D97-AF65-F5344CB8AC3E}">
        <p14:creationId xmlns:p14="http://schemas.microsoft.com/office/powerpoint/2010/main" val="133556535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8BD62E-0607-45A4-A65F-8325DA9F1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Financial verification and first productive use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3B5DE5-F2AF-4F83-BCA9-D8CA570E7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04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MOVEBOOKS AI   /   BOUNDED SYNTHETIC BETA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CCAA73-D603-4CB3-9E0B-4364A329B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33412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737FEA-9C6E-41BF-8A5A-A8F867FA795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924c103df74625"/>
          <a:stretch xmlns:a="http://schemas.openxmlformats.org/drawingml/2006/main"/>
        </p:blipFill>
        <p:spPr>
          <a:xfrm xmlns:a="http://schemas.openxmlformats.org/drawingml/2006/main">
            <a:off x="962025" y="1428750"/>
            <a:ext cx="7010400" cy="438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212621-A6C1-4A2A-9A6C-9673FA6E5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71450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Verified outcome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3B78A1-ED33-4775-A51F-CB321E850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2524125"/>
            <a:ext cx="276225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Required controls pass.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The owner approves a synthetic invoice.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A deterministic receipt verifies its effect.</a:t>
            </a:r>
          </a:p>
        </p:txBody>
      </p:sp>
    </p:spTree>
    <p:extLst>
      <p:ext uri="{BB962C8B-B14F-4D97-AF65-F5344CB8AC3E}">
        <p14:creationId xmlns:p14="http://schemas.microsoft.com/office/powerpoint/2010/main" val="24313772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398EFD-8A17-4B19-B7B5-E3842FE56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Benchmarking and validation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6E4B6F-0205-4485-9B67-1567FD4A6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04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MOVEBOOKS AI   /   BOUNDED SYNTHETIC BETA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A49840-1BA5-46A8-9668-3E4407F07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33412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296E0F-057D-4C7F-A55F-EF0EC0F66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647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70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70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70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70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70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70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70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70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70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70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Candidate backend tests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2571AC-2125-4FFE-9366-3D5F0C053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6477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9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defPPr>
            <a:lvl1pPr>
              <a:defRPr sz="49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1pPr>
            <a:lvl2pPr>
              <a:defRPr sz="49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2pPr>
            <a:lvl3pPr>
              <a:defRPr sz="49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3pPr>
            <a:lvl4pPr>
              <a:defRPr sz="49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4pPr>
            <a:lvl5pPr>
              <a:defRPr sz="49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5pPr>
            <a:lvl6pPr>
              <a:defRPr sz="49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6pPr>
            <a:lvl7pPr>
              <a:defRPr sz="49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7pPr>
            <a:lvl8pPr>
              <a:defRPr sz="49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8pPr>
            <a:lvl9pPr>
              <a:defRPr sz="49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49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553 passed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759F43-4842-4DAF-9575-39E0C4822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647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25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25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25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25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25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25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25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25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25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58 skipped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B857EB-0F78-481C-80CA-80A09C415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666875"/>
            <a:ext cx="400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What the evidence covers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33DA71-907E-4206-AC52-C1218EE39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571750"/>
            <a:ext cx="4000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Owner/approval boundaries</a:t>
            </a:r>
          </a:p>
          <a:p xmlns:a="http://schemas.openxmlformats.org/drawingml/2006/main">
            <a: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State transitions and replay</a:t>
            </a:r>
          </a:p>
          <a:p xmlns:a="http://schemas.openxmlformats.org/drawingml/2006/main">
            <a: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Recovery and reconciliation</a:t>
            </a:r>
          </a:p>
          <a:p xmlns:a="http://schemas.openxmlformats.org/drawingml/2006/main">
            <a: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Synthetic FPU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804E1A-F67F-4D09-BCEA-2AB09DB04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66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Local candidate test run, 58 skips explicit. No live-model accuracy, external provider benchmark or customer-impact claim.</a:t>
            </a:r>
          </a:p>
        </p:txBody>
      </p:sp>
    </p:spTree>
    <p:extLst>
      <p:ext uri="{BB962C8B-B14F-4D97-AF65-F5344CB8AC3E}">
        <p14:creationId xmlns:p14="http://schemas.microsoft.com/office/powerpoint/2010/main" val="56238816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1C3697-1C6F-4230-A8E7-0980976D9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Future roadmap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C38F94-6CB0-4B1F-AFE6-01775FCB9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04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MOVEBOOKS AI   /   BOUNDED SYNTHETIC BETA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C3C0EE-2A32-49D9-8729-186547DD1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33412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F8B0D8-14F2-4D11-A242-D3318BEE8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10572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Now: accept the synthetic journey, Play mission, local intake, mapping review, offline evaluation and submission evidence.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D9B778-DAC7-4E4F-99EA-34728DB69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81325"/>
            <a:ext cx="10572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Next, gated: verify live Gemini and Firestore operations; complete independent hosted-upload safety and operating controls.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0793CB-3227-4FF5-879D-9747B756F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95775"/>
            <a:ext cx="10572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Later: reviewed provider adapters, real-data handling, delegated roles and observed customer outcomes.</a:t>
            </a:r>
          </a:p>
        </p:txBody>
      </p:sp>
    </p:spTree>
    <p:extLst>
      <p:ext uri="{BB962C8B-B14F-4D97-AF65-F5344CB8AC3E}">
        <p14:creationId xmlns:p14="http://schemas.microsoft.com/office/powerpoint/2010/main" val="49418915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BBCB5D-2E1A-468D-B927-7F109B678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Submission links and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53AB7B-FEEE-400A-8A31-4C66F37D0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04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MOVEBOOKS AI   /   BOUNDED SYNTHETIC BETA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728977-20FF-441C-8D75-A27637016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33412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EED9C0-5B9C-4CB3-8385-D33FC135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238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Working Beta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21C38E-1B34-4BD2-98BF-D429A6661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666875"/>
            <a:ext cx="8096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https://movebooks-si.web.app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92C613-6E7F-451C-966C-E65598CA6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238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Public source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1E3089-0924-4B92-ADA8-35DFCD70A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667000"/>
            <a:ext cx="8096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github.com/JEMathew/movers-and-ledgers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7548B9-B47A-415B-AEE2-BCD2B5BDB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67125"/>
            <a:ext cx="238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Evidence package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F5FA55-B1E1-4CDC-B21D-8E8676CF5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667125"/>
            <a:ext cx="8096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Working Backwards, PM blueprint, editable diagrams and candidate acceptance manifest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A28B22-C5B8-4012-8410-1BEA3F10A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1066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Release completion requires the official template, portal checks, accepted candidate evidence and an authentic 3–4 minute video.</a:t>
            </a:r>
          </a:p>
        </p:txBody>
      </p:sp>
    </p:spTree>
    <p:extLst>
      <p:ext uri="{BB962C8B-B14F-4D97-AF65-F5344CB8AC3E}">
        <p14:creationId xmlns:p14="http://schemas.microsoft.com/office/powerpoint/2010/main" val="52592851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2026-10-17T09:04:09.3730000Z</dcterms:created>
  <dcterms:modified xsi:type="dcterms:W3CDTF">2026-10-17T09:04:09.3730000Z</dcterms:modified>
</coreProperties>
</file>