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a13d3c5d94180" /><Relationship Type="http://schemas.openxmlformats.org/officeDocument/2006/relationships/extended-properties" Target="/docProps/app.xml" Id="Rae7cc7569a2d4bd3" /><Relationship Type="http://schemas.openxmlformats.org/officeDocument/2006/relationships/officeDocument" Target="/ppt/presentation.xml" Id="Rc20a6d4cf7224c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fbd4e9d60844b9"/>
  </p:sldMasterIdLst>
  <p:notesMasterIdLst>
    <p:notesMasterId xmlns:r="http://schemas.openxmlformats.org/officeDocument/2006/relationships" r:id="R687c678c44c644eb"/>
  </p:notesMasterIdLst>
  <p:sldIdLst>
    <p:sldId xmlns:r="http://schemas.openxmlformats.org/officeDocument/2006/relationships" id="256" r:id="R3f5665b294ad4a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70d4073cfa4316" /><Relationship Type="http://schemas.openxmlformats.org/officeDocument/2006/relationships/slideMaster" Target="/ppt/slideMasters/slideMaster1.xml" Id="Ra6fbd4e9d60844b9" /><Relationship Type="http://schemas.openxmlformats.org/officeDocument/2006/relationships/notesMaster" Target="/ppt/notesMasters/notesMaster1.xml" Id="R687c678c44c644eb" /><Relationship Type="http://schemas.openxmlformats.org/officeDocument/2006/relationships/presProps" Target="/ppt/presProps.xml" Id="Rf92151c68521490d" /><Relationship Type="http://schemas.openxmlformats.org/officeDocument/2006/relationships/tableStyles" Target="/ppt/tableStyles.xml" Id="Rf8502abe57eb4e54" /><Relationship Type="http://schemas.openxmlformats.org/officeDocument/2006/relationships/slide" Target="/ppt/slides/slide1.xml" Id="R3f5665b294ad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50f9171dcd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oveBooks Process">
      <a:dk1>
        <a:srgbClr val="000000"/>
      </a:dk1>
      <a:lt1>
        <a:srgbClr val="FFFFFF"/>
      </a:lt1>
      <a:dk2>
        <a:srgbClr val="17243F"/>
      </a:dk2>
      <a:lt2>
        <a:srgbClr val="F0F3F6"/>
      </a:lt2>
      <a:accent1>
        <a:srgbClr val="087F80"/>
      </a:accent1>
      <a:accent2>
        <a:srgbClr val="A56A18"/>
      </a:accent2>
      <a:accent3>
        <a:srgbClr val="8793A4"/>
      </a:accent3>
      <a:accent4>
        <a:srgbClr val="D6E8E7"/>
      </a:accent4>
      <a:accent5>
        <a:srgbClr val="4E6279"/>
      </a:accent5>
      <a:accent6>
        <a:srgbClr val="EED9B6"/>
      </a:accent6>
      <a:hlink>
        <a:srgbClr val="087F80"/>
      </a:hlink>
      <a:folHlink>
        <a:srgbClr val="087F8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oveBooks Proc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bd9ef4a724fdf" /><Relationship Type="http://schemas.openxmlformats.org/officeDocument/2006/relationships/notesMaster" Target="/ppt/notesMasters/notesMaster1.xml" Id="R87e84d07d5f5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scope: demonstrated local synthetic Beta, not complete production migration or a live AI-agent deployment. Current source inspected on delivery/submission-integration at aacd3a5. Existing classes named agents run deterministic specialist tools; none of the phase boxes asserts successful live Gemini execution. Optional AI advice/Reviewer remains Partial, with live runtime verification pending. Production accounting connectors and autonomous orchestration are Target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column has customer objective/action, deterministic system activity, input-to-output evidence, human decision and completion criterion. Source readiness and mapping/plan approval are rechecked before authorized migration. High-level readiness gate denotes approval/write readiness: a blocked draft plan may still be generated for review. It is not a claim that planning UI is inaccessible while blockers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Forward direction: Discover completion → Assess. Assess → source-readiness gate → Plan &amp; Approve on Yes. Plan &amp; Approve → mapping-approval gate → Migrate &amp; Resolve on Yes. Migration completion and resolved blocking exceptions → exception gate → Validate &amp; Configure. A VERIFIED financial report AND current approved configuration are required before FPU; the reconciliation gate is shorthand for both, not financial checks alone. FPU verified gate → terminal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Rework direction: missing evidence/readiness failure returns to source correction and a fresh assessment; existing checksum-pinned source evidence is not silently replaced. Failed/rejected mappings require revision or explicit reconsideration with owner review, preserving prior decisions. Blocking exceptions remain paused; supported fixes require attributable approval when policy says so, while low-risk retry paths remain bounded and idempotent. Validation discrepancy permits only the supported approved restoration of a displayed synthetic source record, followed by exact revalidation. This is not a generic ledger adjustment. FPU failure retains posted evidence and resumes verification, never blindly posts a second invoice; unexecuted modified contracts require fresh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irreversible automatic cutover is represented. No real production provider, customer data or regulatory assurance is claimed. The slide is a process abstraction; live/deployed candidate acceptance is separate from local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docs/product-management/feature-contracts.md; docs/architecture-experience/source/user-system-swimlane.mmd; docs/architecture-experience/source/service-blueprint.mmd; services/api/src/movebooks_api/discover_assess/service.py; agents/discovery/agent.py; agents/assessment/agent.py; agents/orchestrator/plan_map_approve.py; agents/orchestrator/migrate_resolve.py; agents/orchestrator/validate_configure.py; agents/orchestrator/onboard_fpu.py; agents/migration/agent.py; agents/resolution/agent.py; domain/migration_resolution/policy.py; docs/submission/acceptance-report.md; docs/submission/browser-journey/dryrun/browser-evidence.json. All paths relative to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06b83524f46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46db3935e4d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431d19b904b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73af2013340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b02520fdc47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ef4ec7787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A4677D-6DCF-4DF6-BD08-BD0C81C1E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B2B012-3F4D-46F7-B168-C2AE11F207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98C547-6624-4314-8613-A69F0B439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5F4860-88C5-4744-8390-A873C55DE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719E99-A80A-43D2-BADA-B875BFE1E5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E30602-EC61-411B-9D3B-2A7507A27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F794F7-29CE-4CCA-8F77-054F9C34DB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9BE9E1-03F3-42E5-943A-D6E8AA70CB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64316F-B98D-4B36-B012-8761A63E4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2764C1-3D59-467D-9F14-7C8383B309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4380729134c31" /><Relationship Type="http://schemas.openxmlformats.org/officeDocument/2006/relationships/slideLayout" Target="/ppt/slideLayouts/slideLayout1.xml" Id="Rb13e65a0b40b4f82" /><Relationship Type="http://schemas.openxmlformats.org/officeDocument/2006/relationships/slideLayout" Target="/ppt/slideLayouts/slideLayout2.xml" Id="R38df68cbdb454d79" /><Relationship Type="http://schemas.openxmlformats.org/officeDocument/2006/relationships/slideLayout" Target="/ppt/slideLayouts/slideLayout3.xml" Id="R690e72e3d2bc4dc8" /><Relationship Type="http://schemas.openxmlformats.org/officeDocument/2006/relationships/slideLayout" Target="/ppt/slideLayouts/slideLayout4.xml" Id="R0943378d8dc545aa" /><Relationship Type="http://schemas.openxmlformats.org/officeDocument/2006/relationships/slideLayout" Target="/ppt/slideLayouts/slideLayout5.xml" Id="Rda1f1f82eb73477b" /><Relationship Type="http://schemas.openxmlformats.org/officeDocument/2006/relationships/slideLayout" Target="/ppt/slideLayouts/slideLayout6.xml" Id="R432e275a551f46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e65a0b40b4f82"/>
    <p:sldLayoutId xmlns:r="http://schemas.openxmlformats.org/officeDocument/2006/relationships" id="2147483650" r:id="R38df68cbdb454d79"/>
    <p:sldLayoutId xmlns:r="http://schemas.openxmlformats.org/officeDocument/2006/relationships" id="2147483651" r:id="R690e72e3d2bc4dc8"/>
    <p:sldLayoutId xmlns:r="http://schemas.openxmlformats.org/officeDocument/2006/relationships" id="2147483652" r:id="R0943378d8dc545aa"/>
    <p:sldLayoutId xmlns:r="http://schemas.openxmlformats.org/officeDocument/2006/relationships" id="2147483653" r:id="Rda1f1f82eb73477b"/>
    <p:sldLayoutId xmlns:r="http://schemas.openxmlformats.org/officeDocument/2006/relationships" id="2147483654" r:id="R432e275a551f46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oveBooks Process">
      <a:dk1>
        <a:srgbClr val="000000"/>
      </a:dk1>
      <a:lt1>
        <a:srgbClr val="FFFFFF"/>
      </a:lt1>
      <a:dk2>
        <a:srgbClr val="17243F"/>
      </a:dk2>
      <a:lt2>
        <a:srgbClr val="F0F3F6"/>
      </a:lt2>
      <a:accent1>
        <a:srgbClr val="087F80"/>
      </a:accent1>
      <a:accent2>
        <a:srgbClr val="A56A18"/>
      </a:accent2>
      <a:accent3>
        <a:srgbClr val="8793A4"/>
      </a:accent3>
      <a:accent4>
        <a:srgbClr val="D6E8E7"/>
      </a:accent4>
      <a:accent5>
        <a:srgbClr val="4E6279"/>
      </a:accent5>
      <a:accent6>
        <a:srgbClr val="EED9B6"/>
      </a:accent6>
      <a:hlink>
        <a:srgbClr val="087F80"/>
      </a:hlink>
      <a:folHlink>
        <a:srgbClr val="087F8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oveBooks Proc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537c399d245bc" /><Relationship Type="http://schemas.openxmlformats.org/officeDocument/2006/relationships/notesSlide" Target="/ppt/notesSlides/notesSlide1.xml" Id="R65d366c43f71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4" name="Phase 6 evidence → gate">
            <a:extLst xmlns:a="http://schemas.openxmlformats.org/drawingml/2006/main">
              <a:ext uri="{FF2B5EF4-FFF2-40B4-BE49-F238E27FC236}">
                <a16:creationId xmlns:a16="http://schemas.microsoft.com/office/drawing/2014/main" id="{8712A4D8-E48D-4B60-8078-7456526AEAA7}"/>
              </a:ext>
            </a:extLst>
          </p:cNvPr>
          <p:cNvCxnSpPr>
            <a:stCxn xmlns:a="http://schemas.openxmlformats.org/drawingml/2006/main" id="80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13720763" y="52959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43F"/>
            </a:solidFill>
            <a:tailEnd type="triangle" w="sm" len="sm"/>
          </a:ln>
        </p:spPr>
      </p:cxnSp>
      <p:cxnSp>
        <p:nvCxnSpPr>
          <p:cNvPr id="125" name="Phase 5 evidence → gate">
            <a:extLst xmlns:a="http://schemas.openxmlformats.org/drawingml/2006/main">
              <a:ext uri="{FF2B5EF4-FFF2-40B4-BE49-F238E27FC236}">
                <a16:creationId xmlns:a16="http://schemas.microsoft.com/office/drawing/2014/main" id="{B3EDCD14-2FF6-4496-97C1-4302C3125CED}"/>
              </a:ext>
            </a:extLst>
          </p:cNvPr>
          <p:cNvCxnSpPr>
            <a:stCxn xmlns:a="http://schemas.openxmlformats.org/drawingml/2006/main" id="65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11520488" y="52959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43F"/>
            </a:solidFill>
            <a:tailEnd type="triangle" w="sm" len="sm"/>
          </a:ln>
        </p:spPr>
      </p:cxnSp>
      <p:cxnSp>
        <p:nvCxnSpPr>
          <p:cNvPr id="116" name="Phase 4 evidence → gate">
            <a:extLst xmlns:a="http://schemas.openxmlformats.org/drawingml/2006/main">
              <a:ext uri="{FF2B5EF4-FFF2-40B4-BE49-F238E27FC236}">
                <a16:creationId xmlns:a16="http://schemas.microsoft.com/office/drawing/2014/main" id="{C59FE971-BC3F-465B-9C37-F5E7B1DFE5BB}"/>
              </a:ext>
            </a:extLst>
          </p:cNvPr>
          <p:cNvCxnSpPr>
            <a:stCxn xmlns:a="http://schemas.openxmlformats.org/drawingml/2006/main" id="50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9320213" y="5295900"/>
            <a:ext cx="1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43F"/>
            </a:solidFill>
            <a:tailEnd type="triangle" w="sm" len="sm"/>
          </a:ln>
        </p:spPr>
      </p:cxnSp>
      <p:cxnSp>
        <p:nvCxnSpPr>
          <p:cNvPr id="107" name="Phase 3 evidence → gate">
            <a:extLst xmlns:a="http://schemas.openxmlformats.org/drawingml/2006/main">
              <a:ext uri="{FF2B5EF4-FFF2-40B4-BE49-F238E27FC236}">
                <a16:creationId xmlns:a16="http://schemas.microsoft.com/office/drawing/2014/main" id="{A81E78FB-FEA8-4869-94E5-CF5EFE6A0C95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7119938" y="5295900"/>
            <a:ext cx="1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43F"/>
            </a:solidFill>
            <a:tailEnd type="triangle" w="sm" len="sm"/>
          </a:ln>
        </p:spPr>
      </p:cxnSp>
      <p:cxnSp>
        <p:nvCxnSpPr>
          <p:cNvPr id="98" name="Phase 2 evidence → gate">
            <a:extLst xmlns:a="http://schemas.openxmlformats.org/drawingml/2006/main">
              <a:ext uri="{FF2B5EF4-FFF2-40B4-BE49-F238E27FC236}">
                <a16:creationId xmlns:a16="http://schemas.microsoft.com/office/drawing/2014/main" id="{39832A20-2DFB-44C8-8763-FAB2DA42B729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4919663" y="52959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43F"/>
            </a:solidFill>
            <a:tailEnd type="triangle" w="sm" len="sm"/>
          </a:ln>
        </p:spPr>
      </p:cxnSp>
      <p:sp>
        <p:nvSpPr>
          <p:cNvPr id="16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DF27CF6-7AC6-4515-A6D1-2EFB6BD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432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MoveBooks AI | End-to-End Process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A4D04B-F05A-49CC-838E-73A91AD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"/>
            <a:ext cx="1432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Demonstrated synthetic beta · deterministic specialists · teal = pass; amber = rework</a:t>
            </a:r>
          </a:p>
        </p:txBody>
      </p:sp>
      <p:cxnSp>
        <p:nvCxnSpPr>
          <p:cNvPr id="3" name="Title rule">
            <a:extLst xmlns:a="http://schemas.openxmlformats.org/drawingml/2006/main">
              <a:ext uri="{FF2B5EF4-FFF2-40B4-BE49-F238E27FC236}">
                <a16:creationId xmlns:a16="http://schemas.microsoft.com/office/drawing/2014/main" id="{B3BDEEE0-213D-4A61-A18F-E418D928DE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" y="1476375"/>
            <a:ext cx="14325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4" name="Lane label 0">
            <a:extLst xmlns:a="http://schemas.openxmlformats.org/drawingml/2006/main">
              <a:ext uri="{FF2B5EF4-FFF2-40B4-BE49-F238E27FC236}">
                <a16:creationId xmlns:a16="http://schemas.microsoft.com/office/drawing/2014/main" id="{9AB40380-6A52-4FAB-83BE-7A88CF0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Goal / action</a:t>
            </a:r>
          </a:p>
        </p:txBody>
      </p:sp>
      <p:sp>
        <p:nvSpPr>
          <p:cNvPr id="5" name="Lane label 1">
            <a:extLst xmlns:a="http://schemas.openxmlformats.org/drawingml/2006/main">
              <a:ext uri="{FF2B5EF4-FFF2-40B4-BE49-F238E27FC236}">
                <a16:creationId xmlns:a16="http://schemas.microsoft.com/office/drawing/2014/main" id="{AD0FA6F5-96F5-4A66-B4A2-C6FC227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System /</a:t>
            </a:r>
          </a:p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6" name="Lane label 2">
            <a:extLst xmlns:a="http://schemas.openxmlformats.org/drawingml/2006/main">
              <a:ext uri="{FF2B5EF4-FFF2-40B4-BE49-F238E27FC236}">
                <a16:creationId xmlns:a16="http://schemas.microsoft.com/office/drawing/2014/main" id="{0EB88BC9-2790-4FF8-A731-A479CF21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In → out</a:t>
            </a:r>
          </a:p>
        </p:txBody>
      </p:sp>
      <p:sp>
        <p:nvSpPr>
          <p:cNvPr id="7" name="Lane label 3">
            <a:extLst xmlns:a="http://schemas.openxmlformats.org/drawingml/2006/main">
              <a:ext uri="{FF2B5EF4-FFF2-40B4-BE49-F238E27FC236}">
                <a16:creationId xmlns:a16="http://schemas.microsoft.com/office/drawing/2014/main" id="{C86FD518-CE66-4B31-9317-ABB1026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l">
              <a:defRPr sz="1313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8" name="Lane label 4">
            <a:extLst xmlns:a="http://schemas.openxmlformats.org/drawingml/2006/main">
              <a:ext uri="{FF2B5EF4-FFF2-40B4-BE49-F238E27FC236}">
                <a16:creationId xmlns:a16="http://schemas.microsoft.com/office/drawing/2014/main" id="{BC631D14-6B06-4C36-A27F-19517F1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Completion</a:t>
            </a:r>
          </a:p>
          <a:p xmlns:a="http://schemas.openxmlformats.org/drawingml/2006/main">
            <a:pPr algn="l">
              <a:defRPr sz="1313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criterion</a:t>
            </a:r>
          </a:p>
        </p:txBody>
      </p:sp>
      <p:sp>
        <p:nvSpPr>
          <p:cNvPr id="9" name="Phase 1 · Discover">
            <a:extLst xmlns:a="http://schemas.openxmlformats.org/drawingml/2006/main">
              <a:ext uri="{FF2B5EF4-FFF2-40B4-BE49-F238E27FC236}">
                <a16:creationId xmlns:a16="http://schemas.microsoft.com/office/drawing/2014/main" id="{C6D1B0C7-B96F-4538-B453-CD141ED1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10" name="Header 1">
            <a:extLst xmlns:a="http://schemas.openxmlformats.org/drawingml/2006/main">
              <a:ext uri="{FF2B5EF4-FFF2-40B4-BE49-F238E27FC236}">
                <a16:creationId xmlns:a16="http://schemas.microsoft.com/office/drawing/2014/main" id="{CD558FE7-10B7-431C-A6C2-8AFA2A4D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eta status 1">
            <a:extLst xmlns:a="http://schemas.openxmlformats.org/drawingml/2006/main">
              <a:ext uri="{FF2B5EF4-FFF2-40B4-BE49-F238E27FC236}">
                <a16:creationId xmlns:a16="http://schemas.microsoft.com/office/drawing/2014/main" id="{3A9A0177-69A1-4B10-A46B-323D316B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 title 1">
            <a:extLst xmlns:a="http://schemas.openxmlformats.org/drawingml/2006/main">
              <a:ext uri="{FF2B5EF4-FFF2-40B4-BE49-F238E27FC236}">
                <a16:creationId xmlns:a16="http://schemas.microsoft.com/office/drawing/2014/main" id="{363FA58D-8E47-4409-88FA-7E69A821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3" name="Phase 1 / customer">
            <a:extLst xmlns:a="http://schemas.openxmlformats.org/drawingml/2006/main">
              <a:ext uri="{FF2B5EF4-FFF2-40B4-BE49-F238E27FC236}">
                <a16:creationId xmlns:a16="http://schemas.microsoft.com/office/drawing/2014/main" id="{007AB226-339F-4832-A3AD-EFD7C52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Know your source;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select sample books</a:t>
            </a:r>
          </a:p>
        </p:txBody>
      </p:sp>
      <p:cxnSp>
        <p:nvCxnSpPr>
          <p:cNvPr id="14" name="Row rule 0 0">
            <a:extLst xmlns:a="http://schemas.openxmlformats.org/drawingml/2006/main">
              <a:ext uri="{FF2B5EF4-FFF2-40B4-BE49-F238E27FC236}">
                <a16:creationId xmlns:a16="http://schemas.microsoft.com/office/drawing/2014/main" id="{86FA7AD7-057F-4DAB-BF5B-0B073327BE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90700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15" name="Phase 1 / system">
            <a:extLst xmlns:a="http://schemas.openxmlformats.org/drawingml/2006/main">
              <a:ext uri="{FF2B5EF4-FFF2-40B4-BE49-F238E27FC236}">
                <a16:creationId xmlns:a16="http://schemas.microsoft.com/office/drawing/2014/main" id="{D253C911-53CE-4C6E-AFBF-B5C5D0CC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Discovery: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schema / link checks</a:t>
            </a:r>
          </a:p>
        </p:txBody>
      </p:sp>
      <p:cxnSp>
        <p:nvCxnSpPr>
          <p:cNvPr id="16" name="Row rule 0 1">
            <a:extLst xmlns:a="http://schemas.openxmlformats.org/drawingml/2006/main">
              <a:ext uri="{FF2B5EF4-FFF2-40B4-BE49-F238E27FC236}">
                <a16:creationId xmlns:a16="http://schemas.microsoft.com/office/drawing/2014/main" id="{3A1FD3B9-2F16-4E4F-981A-DE6567C102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90700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17" name="Phase 1 / evidence">
            <a:extLst xmlns:a="http://schemas.openxmlformats.org/drawingml/2006/main">
              <a:ext uri="{FF2B5EF4-FFF2-40B4-BE49-F238E27FC236}">
                <a16:creationId xmlns:a16="http://schemas.microsoft.com/office/drawing/2014/main" id="{A8E4D33F-C731-4EDF-8AAF-0C251E3A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Synthetic source →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profile + findings</a:t>
            </a:r>
          </a:p>
        </p:txBody>
      </p:sp>
      <p:cxnSp>
        <p:nvCxnSpPr>
          <p:cNvPr id="18" name="Row rule 0 2">
            <a:extLst xmlns:a="http://schemas.openxmlformats.org/drawingml/2006/main">
              <a:ext uri="{FF2B5EF4-FFF2-40B4-BE49-F238E27FC236}">
                <a16:creationId xmlns:a16="http://schemas.microsoft.com/office/drawing/2014/main" id="{B6BB2183-DB90-416E-B545-CF13387F56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90700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19" name="Phase 1 / human">
            <a:extLst xmlns:a="http://schemas.openxmlformats.org/drawingml/2006/main">
              <a:ext uri="{FF2B5EF4-FFF2-40B4-BE49-F238E27FC236}">
                <a16:creationId xmlns:a16="http://schemas.microsoft.com/office/drawing/2014/main" id="{144D6E37-102E-4157-95E1-469B18A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Select / confirm scope</a:t>
            </a:r>
          </a:p>
        </p:txBody>
      </p:sp>
      <p:cxnSp>
        <p:nvCxnSpPr>
          <p:cNvPr id="20" name="Row rule 0 3">
            <a:extLst xmlns:a="http://schemas.openxmlformats.org/drawingml/2006/main">
              <a:ext uri="{FF2B5EF4-FFF2-40B4-BE49-F238E27FC236}">
                <a16:creationId xmlns:a16="http://schemas.microsoft.com/office/drawing/2014/main" id="{497EE923-19D6-4C1B-AB26-89C8FB0A21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90700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21" name="Phase 1 / completion">
            <a:extLst xmlns:a="http://schemas.openxmlformats.org/drawingml/2006/main">
              <a:ext uri="{FF2B5EF4-FFF2-40B4-BE49-F238E27FC236}">
                <a16:creationId xmlns:a16="http://schemas.microsoft.com/office/drawing/2014/main" id="{B14D82F9-F7AD-45AE-94F3-30FEABA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Discovery captured</a:t>
            </a:r>
          </a:p>
        </p:txBody>
      </p:sp>
      <p:sp>
        <p:nvSpPr>
          <p:cNvPr id="22" name="Phase 2 · Assess">
            <a:extLst xmlns:a="http://schemas.openxmlformats.org/drawingml/2006/main">
              <a:ext uri="{FF2B5EF4-FFF2-40B4-BE49-F238E27FC236}">
                <a16:creationId xmlns:a16="http://schemas.microsoft.com/office/drawing/2014/main" id="{861B2089-3654-416E-8BDA-F7848CE2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23" name="Header 2">
            <a:extLst xmlns:a="http://schemas.openxmlformats.org/drawingml/2006/main">
              <a:ext uri="{FF2B5EF4-FFF2-40B4-BE49-F238E27FC236}">
                <a16:creationId xmlns:a16="http://schemas.microsoft.com/office/drawing/2014/main" id="{697C982B-0DB5-46CC-B0D4-15D1F450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eta status 2">
            <a:extLst xmlns:a="http://schemas.openxmlformats.org/drawingml/2006/main">
              <a:ext uri="{FF2B5EF4-FFF2-40B4-BE49-F238E27FC236}">
                <a16:creationId xmlns:a16="http://schemas.microsoft.com/office/drawing/2014/main" id="{A85919F2-50A2-4372-9AF9-E4E28FAF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hase title 2">
            <a:extLst xmlns:a="http://schemas.openxmlformats.org/drawingml/2006/main">
              <a:ext uri="{FF2B5EF4-FFF2-40B4-BE49-F238E27FC236}">
                <a16:creationId xmlns:a16="http://schemas.microsoft.com/office/drawing/2014/main" id="{A918C7CB-A4EA-45E9-BA16-1465AE8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6" name="Phase 2 / customer">
            <a:extLst xmlns:a="http://schemas.openxmlformats.org/drawingml/2006/main">
              <a:ext uri="{FF2B5EF4-FFF2-40B4-BE49-F238E27FC236}">
                <a16:creationId xmlns:a16="http://schemas.microsoft.com/office/drawing/2014/main" id="{884349DC-BED1-465B-AEF5-84D0642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Know the risks;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review readiness</a:t>
            </a:r>
          </a:p>
        </p:txBody>
      </p:sp>
      <p:cxnSp>
        <p:nvCxnSpPr>
          <p:cNvPr id="27" name="Row rule 1 0">
            <a:extLst xmlns:a="http://schemas.openxmlformats.org/drawingml/2006/main">
              <a:ext uri="{FF2B5EF4-FFF2-40B4-BE49-F238E27FC236}">
                <a16:creationId xmlns:a16="http://schemas.microsoft.com/office/drawing/2014/main" id="{7AB14202-3C38-44D6-B373-BBDB20C568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90975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28" name="Phase 2 / system">
            <a:extLst xmlns:a="http://schemas.openxmlformats.org/drawingml/2006/main">
              <a:ext uri="{FF2B5EF4-FFF2-40B4-BE49-F238E27FC236}">
                <a16:creationId xmlns:a16="http://schemas.microsoft.com/office/drawing/2014/main" id="{12003A4F-215C-4C3E-827F-0E7E0C3D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Assessment: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classify risk / blockers</a:t>
            </a:r>
          </a:p>
        </p:txBody>
      </p:sp>
      <p:cxnSp>
        <p:nvCxnSpPr>
          <p:cNvPr id="29" name="Row rule 1 1">
            <a:extLst xmlns:a="http://schemas.openxmlformats.org/drawingml/2006/main">
              <a:ext uri="{FF2B5EF4-FFF2-40B4-BE49-F238E27FC236}">
                <a16:creationId xmlns:a16="http://schemas.microsoft.com/office/drawing/2014/main" id="{9A9F1138-9C0E-47D6-A009-79A2F86450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90975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30" name="Phase 2 / evidence">
            <a:extLst xmlns:a="http://schemas.openxmlformats.org/drawingml/2006/main">
              <a:ext uri="{FF2B5EF4-FFF2-40B4-BE49-F238E27FC236}">
                <a16:creationId xmlns:a16="http://schemas.microsoft.com/office/drawing/2014/main" id="{3BEEBACA-F37F-4DDE-93C0-673368AF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Findings → readiness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report + blockers</a:t>
            </a:r>
          </a:p>
        </p:txBody>
      </p:sp>
      <p:cxnSp>
        <p:nvCxnSpPr>
          <p:cNvPr id="31" name="Row rule 1 2">
            <a:extLst xmlns:a="http://schemas.openxmlformats.org/drawingml/2006/main">
              <a:ext uri="{FF2B5EF4-FFF2-40B4-BE49-F238E27FC236}">
                <a16:creationId xmlns:a16="http://schemas.microsoft.com/office/drawing/2014/main" id="{1D963658-0815-4356-BD29-6211DE382B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90975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32" name="Phase 2 / human">
            <a:extLst xmlns:a="http://schemas.openxmlformats.org/drawingml/2006/main">
              <a:ext uri="{FF2B5EF4-FFF2-40B4-BE49-F238E27FC236}">
                <a16:creationId xmlns:a16="http://schemas.microsoft.com/office/drawing/2014/main" id="{382FEED4-7CB1-4C1C-B08C-753AA26D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Review hard blockers</a:t>
            </a:r>
          </a:p>
        </p:txBody>
      </p:sp>
      <p:cxnSp>
        <p:nvCxnSpPr>
          <p:cNvPr id="33" name="Row rule 1 3">
            <a:extLst xmlns:a="http://schemas.openxmlformats.org/drawingml/2006/main">
              <a:ext uri="{FF2B5EF4-FFF2-40B4-BE49-F238E27FC236}">
                <a16:creationId xmlns:a16="http://schemas.microsoft.com/office/drawing/2014/main" id="{F43678EB-34CA-46F7-9F35-D3B13EFF32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90975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34" name="Phase 2 / completion">
            <a:extLst xmlns:a="http://schemas.openxmlformats.org/drawingml/2006/main">
              <a:ext uri="{FF2B5EF4-FFF2-40B4-BE49-F238E27FC236}">
                <a16:creationId xmlns:a16="http://schemas.microsoft.com/office/drawing/2014/main" id="{EC89A339-6C86-4835-9157-FA39EDE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Readiness captured;</a:t>
            </a:r>
          </a:p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blockers listed</a:t>
            </a:r>
          </a:p>
        </p:txBody>
      </p:sp>
      <p:sp>
        <p:nvSpPr>
          <p:cNvPr id="35" name="Phase 3 · Plan &amp; Approve">
            <a:extLst xmlns:a="http://schemas.openxmlformats.org/drawingml/2006/main">
              <a:ext uri="{FF2B5EF4-FFF2-40B4-BE49-F238E27FC236}">
                <a16:creationId xmlns:a16="http://schemas.microsoft.com/office/drawing/2014/main" id="{48263EB2-636A-409D-A9BB-AC8C2C92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36" name="Header 3">
            <a:extLst xmlns:a="http://schemas.openxmlformats.org/drawingml/2006/main">
              <a:ext uri="{FF2B5EF4-FFF2-40B4-BE49-F238E27FC236}">
                <a16:creationId xmlns:a16="http://schemas.microsoft.com/office/drawing/2014/main" id="{71409486-20AB-42DD-B822-8B246CF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eta status 3">
            <a:extLst xmlns:a="http://schemas.openxmlformats.org/drawingml/2006/main">
              <a:ext uri="{FF2B5EF4-FFF2-40B4-BE49-F238E27FC236}">
                <a16:creationId xmlns:a16="http://schemas.microsoft.com/office/drawing/2014/main" id="{CB55A21A-CB7B-4604-97BF-FB2F0BE3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hase title 3">
            <a:extLst xmlns:a="http://schemas.openxmlformats.org/drawingml/2006/main">
              <a:ext uri="{FF2B5EF4-FFF2-40B4-BE49-F238E27FC236}">
                <a16:creationId xmlns:a16="http://schemas.microsoft.com/office/drawing/2014/main" id="{41093D74-79A1-482C-A42B-AD35166A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&amp;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39" name="Human approval 3 marker">
            <a:extLst xmlns:a="http://schemas.openxmlformats.org/drawingml/2006/main">
              <a:ext uri="{FF2B5EF4-FFF2-40B4-BE49-F238E27FC236}">
                <a16:creationId xmlns:a16="http://schemas.microsoft.com/office/drawing/2014/main" id="{55143A45-5D1E-44A9-81F6-19E7C8DC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man approval 3 H">
            <a:extLst xmlns:a="http://schemas.openxmlformats.org/drawingml/2006/main">
              <a:ext uri="{FF2B5EF4-FFF2-40B4-BE49-F238E27FC236}">
                <a16:creationId xmlns:a16="http://schemas.microsoft.com/office/drawing/2014/main" id="{CE0ED3EE-321C-4D91-9D62-94708499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33600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1" name="Phase 3 / customer">
            <a:extLst xmlns:a="http://schemas.openxmlformats.org/drawingml/2006/main">
              <a:ext uri="{FF2B5EF4-FFF2-40B4-BE49-F238E27FC236}">
                <a16:creationId xmlns:a16="http://schemas.microsoft.com/office/drawing/2014/main" id="{425DDA9D-12D2-4A6A-9A27-E9A9B0A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Choose treatment;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review plan / mappings</a:t>
            </a:r>
          </a:p>
        </p:txBody>
      </p:sp>
      <p:cxnSp>
        <p:nvCxnSpPr>
          <p:cNvPr id="42" name="Row rule 2 0">
            <a:extLst xmlns:a="http://schemas.openxmlformats.org/drawingml/2006/main">
              <a:ext uri="{FF2B5EF4-FFF2-40B4-BE49-F238E27FC236}">
                <a16:creationId xmlns:a16="http://schemas.microsoft.com/office/drawing/2014/main" id="{2EFFE1FA-FC04-4012-9AE8-E12042BF69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43" name="Phase 3 / system">
            <a:extLst xmlns:a="http://schemas.openxmlformats.org/drawingml/2006/main">
              <a:ext uri="{FF2B5EF4-FFF2-40B4-BE49-F238E27FC236}">
                <a16:creationId xmlns:a16="http://schemas.microsoft.com/office/drawing/2014/main" id="{72AFD002-3FAD-41D9-A95F-79A2CDF6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Planning + mapping: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propose; enforce rules</a:t>
            </a:r>
          </a:p>
        </p:txBody>
      </p:sp>
      <p:cxnSp>
        <p:nvCxnSpPr>
          <p:cNvPr id="44" name="Row rule 2 1">
            <a:extLst xmlns:a="http://schemas.openxmlformats.org/drawingml/2006/main">
              <a:ext uri="{FF2B5EF4-FFF2-40B4-BE49-F238E27FC236}">
                <a16:creationId xmlns:a16="http://schemas.microsoft.com/office/drawing/2014/main" id="{D2DE6A20-A26C-4BEB-B3B2-77C802E2C7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45" name="Phase 3 / evidence">
            <a:extLst xmlns:a="http://schemas.openxmlformats.org/drawingml/2006/main">
              <a:ext uri="{FF2B5EF4-FFF2-40B4-BE49-F238E27FC236}">
                <a16:creationId xmlns:a16="http://schemas.microsoft.com/office/drawing/2014/main" id="{1F7E3841-56A1-4072-8928-B3506EBB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Readiness → plan /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mapping decisions</a:t>
            </a:r>
          </a:p>
        </p:txBody>
      </p:sp>
      <p:cxnSp>
        <p:nvCxnSpPr>
          <p:cNvPr id="46" name="Row rule 2 2">
            <a:extLst xmlns:a="http://schemas.openxmlformats.org/drawingml/2006/main">
              <a:ext uri="{FF2B5EF4-FFF2-40B4-BE49-F238E27FC236}">
                <a16:creationId xmlns:a16="http://schemas.microsoft.com/office/drawing/2014/main" id="{C67E4CA1-00A0-46EB-B92C-345119374E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47" name="Phase 3 / human">
            <a:extLst xmlns:a="http://schemas.openxmlformats.org/drawingml/2006/main">
              <a:ext uri="{FF2B5EF4-FFF2-40B4-BE49-F238E27FC236}">
                <a16:creationId xmlns:a16="http://schemas.microsoft.com/office/drawing/2014/main" id="{46E82E5E-87E7-4B19-B0E5-AE25B6A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Approve mappings</a:t>
            </a:r>
          </a:p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and current plan</a:t>
            </a:r>
          </a:p>
        </p:txBody>
      </p:sp>
      <p:cxnSp>
        <p:nvCxnSpPr>
          <p:cNvPr id="48" name="Row rule 2 3">
            <a:extLst xmlns:a="http://schemas.openxmlformats.org/drawingml/2006/main">
              <a:ext uri="{FF2B5EF4-FFF2-40B4-BE49-F238E27FC236}">
                <a16:creationId xmlns:a16="http://schemas.microsoft.com/office/drawing/2014/main" id="{302A1939-330D-4BE1-BA2D-18FB3E45A2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49" name="Phase 3 / completion">
            <a:extLst xmlns:a="http://schemas.openxmlformats.org/drawingml/2006/main">
              <a:ext uri="{FF2B5EF4-FFF2-40B4-BE49-F238E27FC236}">
                <a16:creationId xmlns:a16="http://schemas.microsoft.com/office/drawing/2014/main" id="{8210663A-0191-47D8-B76E-7BE426A8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Mappings reviewed;</a:t>
            </a:r>
          </a:p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plan approval current</a:t>
            </a:r>
          </a:p>
        </p:txBody>
      </p:sp>
      <p:sp>
        <p:nvSpPr>
          <p:cNvPr id="50" name="Phase 4 · Migrate &amp; Resolve">
            <a:extLst xmlns:a="http://schemas.openxmlformats.org/drawingml/2006/main">
              <a:ext uri="{FF2B5EF4-FFF2-40B4-BE49-F238E27FC236}">
                <a16:creationId xmlns:a16="http://schemas.microsoft.com/office/drawing/2014/main" id="{444ADD86-2EB3-4872-BE91-358FD65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51" name="Header 4">
            <a:extLst xmlns:a="http://schemas.openxmlformats.org/drawingml/2006/main">
              <a:ext uri="{FF2B5EF4-FFF2-40B4-BE49-F238E27FC236}">
                <a16:creationId xmlns:a16="http://schemas.microsoft.com/office/drawing/2014/main" id="{A7C7EC9D-DE5D-4442-8A43-7C1AD95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eta status 4">
            <a:extLst xmlns:a="http://schemas.openxmlformats.org/drawingml/2006/main">
              <a:ext uri="{FF2B5EF4-FFF2-40B4-BE49-F238E27FC236}">
                <a16:creationId xmlns:a16="http://schemas.microsoft.com/office/drawing/2014/main" id="{0DDCF0AB-E9CD-47AA-B4CA-26E84118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hase title 4">
            <a:extLst xmlns:a="http://schemas.openxmlformats.org/drawingml/2006/main">
              <a:ext uri="{FF2B5EF4-FFF2-40B4-BE49-F238E27FC236}">
                <a16:creationId xmlns:a16="http://schemas.microsoft.com/office/drawing/2014/main" id="{64347B75-C93A-4B39-B3EE-C4F6798C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Migrate &amp;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54" name="Human approval 4 marker">
            <a:extLst xmlns:a="http://schemas.openxmlformats.org/drawingml/2006/main">
              <a:ext uri="{FF2B5EF4-FFF2-40B4-BE49-F238E27FC236}">
                <a16:creationId xmlns:a16="http://schemas.microsoft.com/office/drawing/2014/main" id="{7DB2BB14-EDC4-43EF-B587-FB759E6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man approval 4 H">
            <a:extLst xmlns:a="http://schemas.openxmlformats.org/drawingml/2006/main">
              <a:ext uri="{FF2B5EF4-FFF2-40B4-BE49-F238E27FC236}">
                <a16:creationId xmlns:a16="http://schemas.microsoft.com/office/drawing/2014/main" id="{6EC9F8F9-4C1E-4460-90A1-3D41A25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33600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6" name="Phase 4 / customer">
            <a:extLst xmlns:a="http://schemas.openxmlformats.org/drawingml/2006/main">
              <a:ext uri="{FF2B5EF4-FFF2-40B4-BE49-F238E27FC236}">
                <a16:creationId xmlns:a16="http://schemas.microsoft.com/office/drawing/2014/main" id="{42A1CC30-B17E-4AED-AA21-F975EB0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Move safely;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authorize / review fixes</a:t>
            </a:r>
          </a:p>
        </p:txBody>
      </p:sp>
      <p:cxnSp>
        <p:nvCxnSpPr>
          <p:cNvPr id="57" name="Row rule 3 0">
            <a:extLst xmlns:a="http://schemas.openxmlformats.org/drawingml/2006/main">
              <a:ext uri="{FF2B5EF4-FFF2-40B4-BE49-F238E27FC236}">
                <a16:creationId xmlns:a16="http://schemas.microsoft.com/office/drawing/2014/main" id="{67624074-7371-40D7-9271-F2B121998A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91525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58" name="Phase 4 / system">
            <a:extLst xmlns:a="http://schemas.openxmlformats.org/drawingml/2006/main">
              <a:ext uri="{FF2B5EF4-FFF2-40B4-BE49-F238E27FC236}">
                <a16:creationId xmlns:a16="http://schemas.microsoft.com/office/drawing/2014/main" id="{467A6F13-AF7F-4F17-91E5-08AF8A3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Migration / resolution: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bounded load / retry</a:t>
            </a:r>
          </a:p>
        </p:txBody>
      </p:sp>
      <p:cxnSp>
        <p:nvCxnSpPr>
          <p:cNvPr id="59" name="Row rule 3 1">
            <a:extLst xmlns:a="http://schemas.openxmlformats.org/drawingml/2006/main">
              <a:ext uri="{FF2B5EF4-FFF2-40B4-BE49-F238E27FC236}">
                <a16:creationId xmlns:a16="http://schemas.microsoft.com/office/drawing/2014/main" id="{F9CCAA43-6C27-41C3-B906-AA00011FC5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91525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60" name="Phase 4 / evidence">
            <a:extLst xmlns:a="http://schemas.openxmlformats.org/drawingml/2006/main">
              <a:ext uri="{FF2B5EF4-FFF2-40B4-BE49-F238E27FC236}">
                <a16:creationId xmlns:a16="http://schemas.microsoft.com/office/drawing/2014/main" id="{FBAE9803-A9C0-45D0-BBF8-8B6FAD8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Approved manifest →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checkpoints / failures</a:t>
            </a:r>
          </a:p>
        </p:txBody>
      </p:sp>
      <p:cxnSp>
        <p:nvCxnSpPr>
          <p:cNvPr id="61" name="Row rule 3 2">
            <a:extLst xmlns:a="http://schemas.openxmlformats.org/drawingml/2006/main">
              <a:ext uri="{FF2B5EF4-FFF2-40B4-BE49-F238E27FC236}">
                <a16:creationId xmlns:a16="http://schemas.microsoft.com/office/drawing/2014/main" id="{7898145D-E84A-4DDD-A87E-62DA894738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91525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62" name="Phase 4 / human">
            <a:extLst xmlns:a="http://schemas.openxmlformats.org/drawingml/2006/main">
              <a:ext uri="{FF2B5EF4-FFF2-40B4-BE49-F238E27FC236}">
                <a16:creationId xmlns:a16="http://schemas.microsoft.com/office/drawing/2014/main" id="{D94EA2DB-23B2-423C-B5B5-4BFE7016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Approve risky fixes;</a:t>
            </a:r>
          </a:p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reject or escalate</a:t>
            </a:r>
          </a:p>
        </p:txBody>
      </p:sp>
      <p:cxnSp>
        <p:nvCxnSpPr>
          <p:cNvPr id="63" name="Row rule 3 3">
            <a:extLst xmlns:a="http://schemas.openxmlformats.org/drawingml/2006/main">
              <a:ext uri="{FF2B5EF4-FFF2-40B4-BE49-F238E27FC236}">
                <a16:creationId xmlns:a16="http://schemas.microsoft.com/office/drawing/2014/main" id="{A6DC5941-C3B4-424B-B6A9-43928B72B9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91525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64" name="Phase 4 / completion">
            <a:extLst xmlns:a="http://schemas.openxmlformats.org/drawingml/2006/main">
              <a:ext uri="{FF2B5EF4-FFF2-40B4-BE49-F238E27FC236}">
                <a16:creationId xmlns:a16="http://schemas.microsoft.com/office/drawing/2014/main" id="{985C54B0-51CA-4E37-8958-D8CB724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All batches done;</a:t>
            </a:r>
          </a:p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no open blockers</a:t>
            </a:r>
          </a:p>
        </p:txBody>
      </p:sp>
      <p:sp>
        <p:nvSpPr>
          <p:cNvPr id="65" name="Phase 5 · Validate &amp; Configure">
            <a:extLst xmlns:a="http://schemas.openxmlformats.org/drawingml/2006/main">
              <a:ext uri="{FF2B5EF4-FFF2-40B4-BE49-F238E27FC236}">
                <a16:creationId xmlns:a16="http://schemas.microsoft.com/office/drawing/2014/main" id="{DA7E0AFF-C84C-4082-B6EC-12C04D2D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66" name="Header 5">
            <a:extLst xmlns:a="http://schemas.openxmlformats.org/drawingml/2006/main">
              <a:ext uri="{FF2B5EF4-FFF2-40B4-BE49-F238E27FC236}">
                <a16:creationId xmlns:a16="http://schemas.microsoft.com/office/drawing/2014/main" id="{A8121966-9078-4692-ABC5-BDC8661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eta status 5">
            <a:extLst xmlns:a="http://schemas.openxmlformats.org/drawingml/2006/main">
              <a:ext uri="{FF2B5EF4-FFF2-40B4-BE49-F238E27FC236}">
                <a16:creationId xmlns:a16="http://schemas.microsoft.com/office/drawing/2014/main" id="{28C4B7F5-EC54-4411-B43E-67B11CEE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hase title 5">
            <a:extLst xmlns:a="http://schemas.openxmlformats.org/drawingml/2006/main">
              <a:ext uri="{FF2B5EF4-FFF2-40B4-BE49-F238E27FC236}">
                <a16:creationId xmlns:a16="http://schemas.microsoft.com/office/drawing/2014/main" id="{A04DEFF0-6BD3-461A-A941-DB8F6A87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&amp;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69" name="Human approval 5 marker">
            <a:extLst xmlns:a="http://schemas.openxmlformats.org/drawingml/2006/main">
              <a:ext uri="{FF2B5EF4-FFF2-40B4-BE49-F238E27FC236}">
                <a16:creationId xmlns:a16="http://schemas.microsoft.com/office/drawing/2014/main" id="{9FFD0672-3D90-47F4-96A1-ED84A35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man approval 5 H">
            <a:extLst xmlns:a="http://schemas.openxmlformats.org/drawingml/2006/main">
              <a:ext uri="{FF2B5EF4-FFF2-40B4-BE49-F238E27FC236}">
                <a16:creationId xmlns:a16="http://schemas.microsoft.com/office/drawing/2014/main" id="{28546C92-2B11-4AAD-A9D6-BF861F20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2133600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1" name="Phase 5 / customer">
            <a:extLst xmlns:a="http://schemas.openxmlformats.org/drawingml/2006/main">
              <a:ext uri="{FF2B5EF4-FFF2-40B4-BE49-F238E27FC236}">
                <a16:creationId xmlns:a16="http://schemas.microsoft.com/office/drawing/2014/main" id="{4DC67A8A-C2DB-4C90-A81D-5990E45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Prove correctness;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review checks / setup</a:t>
            </a:r>
          </a:p>
        </p:txBody>
      </p:sp>
      <p:cxnSp>
        <p:nvCxnSpPr>
          <p:cNvPr id="72" name="Row rule 4 0">
            <a:extLst xmlns:a="http://schemas.openxmlformats.org/drawingml/2006/main">
              <a:ext uri="{FF2B5EF4-FFF2-40B4-BE49-F238E27FC236}">
                <a16:creationId xmlns:a16="http://schemas.microsoft.com/office/drawing/2014/main" id="{DE98B20B-00AF-48DB-8C14-CEE6AB1175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91800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73" name="Phase 5 / system">
            <a:extLst xmlns:a="http://schemas.openxmlformats.org/drawingml/2006/main">
              <a:ext uri="{FF2B5EF4-FFF2-40B4-BE49-F238E27FC236}">
                <a16:creationId xmlns:a16="http://schemas.microsoft.com/office/drawing/2014/main" id="{D2AEF0FD-4B19-4505-A574-D76678F2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Validation / config: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exact checks; setup</a:t>
            </a:r>
          </a:p>
        </p:txBody>
      </p:sp>
      <p:cxnSp>
        <p:nvCxnSpPr>
          <p:cNvPr id="74" name="Row rule 4 1">
            <a:extLst xmlns:a="http://schemas.openxmlformats.org/drawingml/2006/main">
              <a:ext uri="{FF2B5EF4-FFF2-40B4-BE49-F238E27FC236}">
                <a16:creationId xmlns:a16="http://schemas.microsoft.com/office/drawing/2014/main" id="{AB508C79-0B15-4D05-AFB2-C6BEFE403E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91800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75" name="Phase 5 / evidence">
            <a:extLst xmlns:a="http://schemas.openxmlformats.org/drawingml/2006/main">
              <a:ext uri="{FF2B5EF4-FFF2-40B4-BE49-F238E27FC236}">
                <a16:creationId xmlns:a16="http://schemas.microsoft.com/office/drawing/2014/main" id="{3E364EA8-6050-4995-80CA-7447054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Source / target →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report + configuration</a:t>
            </a:r>
          </a:p>
        </p:txBody>
      </p:sp>
      <p:cxnSp>
        <p:nvCxnSpPr>
          <p:cNvPr id="76" name="Row rule 4 2">
            <a:extLst xmlns:a="http://schemas.openxmlformats.org/drawingml/2006/main">
              <a:ext uri="{FF2B5EF4-FFF2-40B4-BE49-F238E27FC236}">
                <a16:creationId xmlns:a16="http://schemas.microsoft.com/office/drawing/2014/main" id="{DA754677-64F3-4271-96A7-1EFFE2F639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91800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77" name="Phase 5 / human">
            <a:extLst xmlns:a="http://schemas.openxmlformats.org/drawingml/2006/main">
              <a:ext uri="{FF2B5EF4-FFF2-40B4-BE49-F238E27FC236}">
                <a16:creationId xmlns:a16="http://schemas.microsoft.com/office/drawing/2014/main" id="{AA301E9F-1F08-4A26-9AE1-D2A529F3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Approve repairs /</a:t>
            </a:r>
          </a:p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sensitive settings</a:t>
            </a:r>
          </a:p>
        </p:txBody>
      </p:sp>
      <p:cxnSp>
        <p:nvCxnSpPr>
          <p:cNvPr id="78" name="Row rule 4 3">
            <a:extLst xmlns:a="http://schemas.openxmlformats.org/drawingml/2006/main">
              <a:ext uri="{FF2B5EF4-FFF2-40B4-BE49-F238E27FC236}">
                <a16:creationId xmlns:a16="http://schemas.microsoft.com/office/drawing/2014/main" id="{AD35ABD9-9237-4D18-B5F3-129BEEB03D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91800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79" name="Phase 5 / completion">
            <a:extLst xmlns:a="http://schemas.openxmlformats.org/drawingml/2006/main">
              <a:ext uri="{FF2B5EF4-FFF2-40B4-BE49-F238E27FC236}">
                <a16:creationId xmlns:a16="http://schemas.microsoft.com/office/drawing/2014/main" id="{9B727307-7D7F-4052-A6B5-FECD5C4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VERIFIED + current</a:t>
            </a:r>
          </a:p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approved setup</a:t>
            </a:r>
          </a:p>
        </p:txBody>
      </p:sp>
      <p:sp>
        <p:nvSpPr>
          <p:cNvPr id="80" name="Phase 6 · First Productive Use">
            <a:extLst xmlns:a="http://schemas.openxmlformats.org/drawingml/2006/main">
              <a:ext uri="{FF2B5EF4-FFF2-40B4-BE49-F238E27FC236}">
                <a16:creationId xmlns:a16="http://schemas.microsoft.com/office/drawing/2014/main" id="{E85A070B-2CDB-42E4-BEB1-47E51A48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1809750"/>
            <a:ext cx="20859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B"/>
            </a:solidFill>
            <a:prstDash val="solid"/>
          </a:ln>
        </p:spPr>
      </p:sp>
      <p:sp>
        <p:nvSpPr>
          <p:cNvPr id="81" name="Header 6">
            <a:extLst xmlns:a="http://schemas.openxmlformats.org/drawingml/2006/main">
              <a:ext uri="{FF2B5EF4-FFF2-40B4-BE49-F238E27FC236}">
                <a16:creationId xmlns:a16="http://schemas.microsoft.com/office/drawing/2014/main" id="{007C05E3-F96D-48FE-8A38-AFC3D882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1809750"/>
            <a:ext cx="20859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Beta status 6">
            <a:extLst xmlns:a="http://schemas.openxmlformats.org/drawingml/2006/main">
              <a:ext uri="{FF2B5EF4-FFF2-40B4-BE49-F238E27FC236}">
                <a16:creationId xmlns:a16="http://schemas.microsoft.com/office/drawing/2014/main" id="{4E67626F-83E6-4896-87EB-BE0C306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180975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hase title 6">
            <a:extLst xmlns:a="http://schemas.openxmlformats.org/drawingml/2006/main">
              <a:ext uri="{FF2B5EF4-FFF2-40B4-BE49-F238E27FC236}">
                <a16:creationId xmlns:a16="http://schemas.microsoft.com/office/drawing/2014/main" id="{5438039B-9A53-4B94-A6BD-6D357C9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18478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 Productive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84" name="Human approval 6 marker">
            <a:extLst xmlns:a="http://schemas.openxmlformats.org/drawingml/2006/main">
              <a:ext uri="{FF2B5EF4-FFF2-40B4-BE49-F238E27FC236}">
                <a16:creationId xmlns:a16="http://schemas.microsoft.com/office/drawing/2014/main" id="{3F7D6B84-61A4-4746-AD67-4525B74F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man approval 6 H">
            <a:extLst xmlns:a="http://schemas.openxmlformats.org/drawingml/2006/main">
              <a:ext uri="{FF2B5EF4-FFF2-40B4-BE49-F238E27FC236}">
                <a16:creationId xmlns:a16="http://schemas.microsoft.com/office/drawing/2014/main" id="{BBF67F80-4C0D-452C-8917-116DDCDE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133600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6" name="Phase 6 / customer">
            <a:extLst xmlns:a="http://schemas.openxmlformats.org/drawingml/2006/main">
              <a:ext uri="{FF2B5EF4-FFF2-40B4-BE49-F238E27FC236}">
                <a16:creationId xmlns:a16="http://schemas.microsoft.com/office/drawing/2014/main" id="{623D07AA-E772-4F0D-BB2E-0EEC1BC7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457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Begin useful work;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finish onboarding</a:t>
            </a:r>
          </a:p>
        </p:txBody>
      </p:sp>
      <p:cxnSp>
        <p:nvCxnSpPr>
          <p:cNvPr id="87" name="Row rule 5 0">
            <a:extLst xmlns:a="http://schemas.openxmlformats.org/drawingml/2006/main">
              <a:ext uri="{FF2B5EF4-FFF2-40B4-BE49-F238E27FC236}">
                <a16:creationId xmlns:a16="http://schemas.microsoft.com/office/drawing/2014/main" id="{BC1F67C9-E522-410A-BBFE-9E4FA9578C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92075" y="2971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88" name="Phase 6 / system">
            <a:extLst xmlns:a="http://schemas.openxmlformats.org/drawingml/2006/main">
              <a:ext uri="{FF2B5EF4-FFF2-40B4-BE49-F238E27FC236}">
                <a16:creationId xmlns:a16="http://schemas.microsoft.com/office/drawing/2014/main" id="{9BD5C1DF-A0AD-4648-8099-BECB6CB9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028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Onboarding + FPU: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post once; verify</a:t>
            </a:r>
          </a:p>
        </p:txBody>
      </p:sp>
      <p:cxnSp>
        <p:nvCxnSpPr>
          <p:cNvPr id="89" name="Row rule 5 1">
            <a:extLst xmlns:a="http://schemas.openxmlformats.org/drawingml/2006/main">
              <a:ext uri="{FF2B5EF4-FFF2-40B4-BE49-F238E27FC236}">
                <a16:creationId xmlns:a16="http://schemas.microsoft.com/office/drawing/2014/main" id="{0CC651E2-BF8F-4A53-85F1-0F0C34649A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92075" y="3543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90" name="Phase 6 / evidence">
            <a:extLst xmlns:a="http://schemas.openxmlformats.org/drawingml/2006/main">
              <a:ext uri="{FF2B5EF4-FFF2-40B4-BE49-F238E27FC236}">
                <a16:creationId xmlns:a16="http://schemas.microsoft.com/office/drawing/2014/main" id="{D10AD62F-0C62-409E-97C7-FFF4CA6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Approved contract →</a:t>
            </a:r>
          </a:p>
          <a:p xmlns:a="http://schemas.openxmlformats.org/drawingml/2006/main">
            <a:pPr algn="l">
              <a:defRPr sz="1425" b="0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43F"/>
                </a:solidFill>
                <a:latin typeface="Arial"/>
                <a:ea typeface="Arial"/>
                <a:cs typeface="Arial"/>
              </a:rPr>
              <a:t>invoice / receipt</a:t>
            </a:r>
          </a:p>
        </p:txBody>
      </p:sp>
      <p:cxnSp>
        <p:nvCxnSpPr>
          <p:cNvPr id="91" name="Row rule 5 2">
            <a:extLst xmlns:a="http://schemas.openxmlformats.org/drawingml/2006/main">
              <a:ext uri="{FF2B5EF4-FFF2-40B4-BE49-F238E27FC236}">
                <a16:creationId xmlns:a16="http://schemas.microsoft.com/office/drawing/2014/main" id="{C570450F-982D-4B52-8181-A1A52F60EE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92075" y="41148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92" name="Phase 6 / human">
            <a:extLst xmlns:a="http://schemas.openxmlformats.org/drawingml/2006/main">
              <a:ext uri="{FF2B5EF4-FFF2-40B4-BE49-F238E27FC236}">
                <a16:creationId xmlns:a16="http://schemas.microsoft.com/office/drawing/2014/main" id="{67157227-0A86-4673-86B9-B825C4A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171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Owner approves</a:t>
            </a:r>
          </a:p>
          <a:p xmlns:a="http://schemas.openxmlformats.org/drawingml/2006/main">
            <a:pPr algn="l">
              <a:defRPr sz="142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exact invoice</a:t>
            </a:r>
          </a:p>
        </p:txBody>
      </p:sp>
      <p:cxnSp>
        <p:nvCxnSpPr>
          <p:cNvPr id="93" name="Row rule 5 3">
            <a:extLst xmlns:a="http://schemas.openxmlformats.org/drawingml/2006/main">
              <a:ext uri="{FF2B5EF4-FFF2-40B4-BE49-F238E27FC236}">
                <a16:creationId xmlns:a16="http://schemas.microsoft.com/office/drawing/2014/main" id="{54DA10B3-F662-4E7E-BEE3-F0961FE673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92075" y="46863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DE5EB"/>
            </a:solidFill>
            <a:prstDash val="solid"/>
            <a:tailEnd type="none" w="sm" len="sm"/>
          </a:ln>
        </p:spPr>
      </p:cxnSp>
      <p:sp>
        <p:nvSpPr>
          <p:cNvPr id="94" name="Phase 6 / completion">
            <a:extLst xmlns:a="http://schemas.openxmlformats.org/drawingml/2006/main">
              <a:ext uri="{FF2B5EF4-FFF2-40B4-BE49-F238E27FC236}">
                <a16:creationId xmlns:a16="http://schemas.microsoft.com/office/drawing/2014/main" id="{F4268382-B46F-4B06-BA96-D9686CD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743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Verified FPU;</a:t>
            </a:r>
          </a:p>
          <a:p xmlns:a="http://schemas.openxmlformats.org/drawingml/2006/main">
            <a:pPr algn="l">
              <a:defRPr sz="14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current receipt</a:t>
            </a:r>
          </a:p>
        </p:txBody>
      </p:sp>
      <p:cxnSp>
        <p:nvCxnSpPr>
          <p:cNvPr id="95" name="Discovery captured → Assess · 1">
            <a:extLst xmlns:a="http://schemas.openxmlformats.org/drawingml/2006/main">
              <a:ext uri="{FF2B5EF4-FFF2-40B4-BE49-F238E27FC236}">
                <a16:creationId xmlns:a16="http://schemas.microsoft.com/office/drawing/2014/main" id="{2240C6EF-0525-4CF1-80BF-52DFCF509A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62375" y="20669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96" name="Decision gate 1 · Source ready?">
            <a:extLst xmlns:a="http://schemas.openxmlformats.org/drawingml/2006/main">
              <a:ext uri="{FF2B5EF4-FFF2-40B4-BE49-F238E27FC236}">
                <a16:creationId xmlns:a16="http://schemas.microsoft.com/office/drawing/2014/main" id="{306A08E2-9341-424E-A14E-C5498791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5619750"/>
            <a:ext cx="146685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43F"/>
            </a:solidFill>
            <a:prstDash val="solid"/>
          </a:ln>
        </p:spPr>
      </p:sp>
      <p:sp>
        <p:nvSpPr>
          <p:cNvPr id="97" name="Gate question 1">
            <a:extLst xmlns:a="http://schemas.openxmlformats.org/drawingml/2006/main">
              <a:ext uri="{FF2B5EF4-FFF2-40B4-BE49-F238E27FC236}">
                <a16:creationId xmlns:a16="http://schemas.microsoft.com/office/drawing/2014/main" id="{8B05905E-A614-4BC3-823A-03FDA2E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738" y="57340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ready?</a:t>
            </a:r>
          </a:p>
        </p:txBody>
      </p:sp>
      <p:cxnSp>
        <p:nvCxnSpPr>
          <p:cNvPr id="99" name="YES 1 → next phase · 1">
            <a:extLst xmlns:a="http://schemas.openxmlformats.org/drawingml/2006/main">
              <a:ext uri="{FF2B5EF4-FFF2-40B4-BE49-F238E27FC236}">
                <a16:creationId xmlns:a16="http://schemas.microsoft.com/office/drawing/2014/main" id="{2714CF56-90DF-4EA0-9734-D4B0B2E49F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53088" y="5924550"/>
            <a:ext cx="36671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00" name="YES 1 → next phase · 2">
            <a:extLst xmlns:a="http://schemas.openxmlformats.org/drawingml/2006/main">
              <a:ext uri="{FF2B5EF4-FFF2-40B4-BE49-F238E27FC236}">
                <a16:creationId xmlns:a16="http://schemas.microsoft.com/office/drawing/2014/main" id="{BEE9073F-590A-41C5-8CCD-40CABC530CC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19800" y="2066925"/>
            <a:ext cx="0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01" name="YES 1 → next phase · 3">
            <a:extLst xmlns:a="http://schemas.openxmlformats.org/drawingml/2006/main">
              <a:ext uri="{FF2B5EF4-FFF2-40B4-BE49-F238E27FC236}">
                <a16:creationId xmlns:a16="http://schemas.microsoft.com/office/drawing/2014/main" id="{E568F674-58A8-4ED3-83DC-34AF50A8BC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19800" y="206692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102" name="YES label 1">
            <a:extLst xmlns:a="http://schemas.openxmlformats.org/drawingml/2006/main">
              <a:ext uri="{FF2B5EF4-FFF2-40B4-BE49-F238E27FC236}">
                <a16:creationId xmlns:a16="http://schemas.microsoft.com/office/drawing/2014/main" id="{4DE6173D-198E-478C-A0F6-9B1484DF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663" y="5705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03" name="NO readiness → source evidence · 1">
            <a:extLst xmlns:a="http://schemas.openxmlformats.org/drawingml/2006/main">
              <a:ext uri="{FF2B5EF4-FFF2-40B4-BE49-F238E27FC236}">
                <a16:creationId xmlns:a16="http://schemas.microsoft.com/office/drawing/2014/main" id="{58B62F4B-2522-4250-9607-A4EFABE4154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719388" y="592455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none" w="sm" len="sm"/>
          </a:ln>
        </p:spPr>
      </p:cxnSp>
      <p:cxnSp>
        <p:nvCxnSpPr>
          <p:cNvPr id="104" name="NO readiness → source evidence · 2">
            <a:extLst xmlns:a="http://schemas.openxmlformats.org/drawingml/2006/main">
              <a:ext uri="{FF2B5EF4-FFF2-40B4-BE49-F238E27FC236}">
                <a16:creationId xmlns:a16="http://schemas.microsoft.com/office/drawing/2014/main" id="{584D61E9-80DC-48A7-832A-38C73A0A44E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719388" y="52959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triangle" w="sm" len="sm"/>
          </a:ln>
        </p:spPr>
      </p:cxnSp>
      <p:sp>
        <p:nvSpPr>
          <p:cNvPr id="105" name="Decision gate 2 · Mapping approved?">
            <a:extLst xmlns:a="http://schemas.openxmlformats.org/drawingml/2006/main">
              <a:ext uri="{FF2B5EF4-FFF2-40B4-BE49-F238E27FC236}">
                <a16:creationId xmlns:a16="http://schemas.microsoft.com/office/drawing/2014/main" id="{5AA80243-4701-4FE6-BFFC-0ABFF98E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513" y="5619750"/>
            <a:ext cx="146685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43F"/>
            </a:solidFill>
            <a:prstDash val="solid"/>
          </a:ln>
        </p:spPr>
      </p:sp>
      <p:sp>
        <p:nvSpPr>
          <p:cNvPr id="106" name="Gate question 2">
            <a:extLst xmlns:a="http://schemas.openxmlformats.org/drawingml/2006/main">
              <a:ext uri="{FF2B5EF4-FFF2-40B4-BE49-F238E27FC236}">
                <a16:creationId xmlns:a16="http://schemas.microsoft.com/office/drawing/2014/main" id="{3C248B58-5847-4863-AC31-0E061B42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13" y="57340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Mapping</a:t>
            </a:r>
          </a:p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approved?</a:t>
            </a:r>
          </a:p>
        </p:txBody>
      </p:sp>
      <p:cxnSp>
        <p:nvCxnSpPr>
          <p:cNvPr id="108" name="YES 2 → next phase · 1">
            <a:extLst xmlns:a="http://schemas.openxmlformats.org/drawingml/2006/main">
              <a:ext uri="{FF2B5EF4-FFF2-40B4-BE49-F238E27FC236}">
                <a16:creationId xmlns:a16="http://schemas.microsoft.com/office/drawing/2014/main" id="{44343120-2B53-4124-89D9-585BEC3B26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53363" y="5924550"/>
            <a:ext cx="36671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09" name="YES 2 → next phase · 2">
            <a:extLst xmlns:a="http://schemas.openxmlformats.org/drawingml/2006/main">
              <a:ext uri="{FF2B5EF4-FFF2-40B4-BE49-F238E27FC236}">
                <a16:creationId xmlns:a16="http://schemas.microsoft.com/office/drawing/2014/main" id="{7EE9E11B-38CA-4D9D-B232-F787B587C12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220075" y="2066925"/>
            <a:ext cx="0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10" name="YES 2 → next phase · 3">
            <a:extLst xmlns:a="http://schemas.openxmlformats.org/drawingml/2006/main">
              <a:ext uri="{FF2B5EF4-FFF2-40B4-BE49-F238E27FC236}">
                <a16:creationId xmlns:a16="http://schemas.microsoft.com/office/drawing/2014/main" id="{222DFE36-365B-46EE-996B-69C67FEFC8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20075" y="206692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111" name="YES label 2">
            <a:extLst xmlns:a="http://schemas.openxmlformats.org/drawingml/2006/main">
              <a:ext uri="{FF2B5EF4-FFF2-40B4-BE49-F238E27FC236}">
                <a16:creationId xmlns:a16="http://schemas.microsoft.com/office/drawing/2014/main" id="{D00F3C8B-2D2D-4091-A4B4-157C961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5705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2" name="NO 2 → same-phase review · 1">
            <a:extLst xmlns:a="http://schemas.openxmlformats.org/drawingml/2006/main">
              <a:ext uri="{FF2B5EF4-FFF2-40B4-BE49-F238E27FC236}">
                <a16:creationId xmlns:a16="http://schemas.microsoft.com/office/drawing/2014/main" id="{84F52A5F-40A1-43E1-BB9F-33D1CD0C93B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191250" y="5924550"/>
            <a:ext cx="1952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none" w="sm" len="sm"/>
          </a:ln>
        </p:spPr>
      </p:cxnSp>
      <p:cxnSp>
        <p:nvCxnSpPr>
          <p:cNvPr id="113" name="NO 2 → same-phase review · 2">
            <a:extLst xmlns:a="http://schemas.openxmlformats.org/drawingml/2006/main">
              <a:ext uri="{FF2B5EF4-FFF2-40B4-BE49-F238E27FC236}">
                <a16:creationId xmlns:a16="http://schemas.microsoft.com/office/drawing/2014/main" id="{E4ECB478-57B5-4309-B80D-0473F91AD13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91250" y="52959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triangle" w="sm" len="sm"/>
          </a:ln>
        </p:spPr>
      </p:cxnSp>
      <p:sp>
        <p:nvSpPr>
          <p:cNvPr id="114" name="Decision gate 3 · Exceptions clear?">
            <a:extLst xmlns:a="http://schemas.openxmlformats.org/drawingml/2006/main">
              <a:ext uri="{FF2B5EF4-FFF2-40B4-BE49-F238E27FC236}">
                <a16:creationId xmlns:a16="http://schemas.microsoft.com/office/drawing/2014/main" id="{E363AD25-FACE-4DF7-A231-11DE92EC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5619750"/>
            <a:ext cx="146685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43F"/>
            </a:solidFill>
            <a:prstDash val="solid"/>
          </a:ln>
        </p:spPr>
      </p:sp>
      <p:sp>
        <p:nvSpPr>
          <p:cNvPr id="115" name="Gate question 3">
            <a:extLst xmlns:a="http://schemas.openxmlformats.org/drawingml/2006/main">
              <a:ext uri="{FF2B5EF4-FFF2-40B4-BE49-F238E27FC236}">
                <a16:creationId xmlns:a16="http://schemas.microsoft.com/office/drawing/2014/main" id="{CFAB5A54-F3A4-464F-8A85-2553795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57340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Exceptions</a:t>
            </a:r>
          </a:p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clear?</a:t>
            </a:r>
          </a:p>
        </p:txBody>
      </p:sp>
      <p:cxnSp>
        <p:nvCxnSpPr>
          <p:cNvPr id="117" name="YES 3 → next phase · 1">
            <a:extLst xmlns:a="http://schemas.openxmlformats.org/drawingml/2006/main">
              <a:ext uri="{FF2B5EF4-FFF2-40B4-BE49-F238E27FC236}">
                <a16:creationId xmlns:a16="http://schemas.microsoft.com/office/drawing/2014/main" id="{9D0A7DE1-A087-494C-9228-07B56ECAAC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53638" y="5924550"/>
            <a:ext cx="36671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18" name="YES 3 → next phase · 2">
            <a:extLst xmlns:a="http://schemas.openxmlformats.org/drawingml/2006/main">
              <a:ext uri="{FF2B5EF4-FFF2-40B4-BE49-F238E27FC236}">
                <a16:creationId xmlns:a16="http://schemas.microsoft.com/office/drawing/2014/main" id="{E8CED89D-0F6F-41C0-B59B-15DBCD04970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20350" y="2066925"/>
            <a:ext cx="0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19" name="YES 3 → next phase · 3">
            <a:extLst xmlns:a="http://schemas.openxmlformats.org/drawingml/2006/main">
              <a:ext uri="{FF2B5EF4-FFF2-40B4-BE49-F238E27FC236}">
                <a16:creationId xmlns:a16="http://schemas.microsoft.com/office/drawing/2014/main" id="{EC3EE035-0547-4F9B-ABAA-287F1E1EB5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20350" y="206692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120" name="YES label 3">
            <a:extLst xmlns:a="http://schemas.openxmlformats.org/drawingml/2006/main">
              <a:ext uri="{FF2B5EF4-FFF2-40B4-BE49-F238E27FC236}">
                <a16:creationId xmlns:a16="http://schemas.microsoft.com/office/drawing/2014/main" id="{8FD247C1-446F-4A73-9906-29BA2CC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213" y="5705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21" name="NO 3 → same-phase review · 1">
            <a:extLst xmlns:a="http://schemas.openxmlformats.org/drawingml/2006/main">
              <a:ext uri="{FF2B5EF4-FFF2-40B4-BE49-F238E27FC236}">
                <a16:creationId xmlns:a16="http://schemas.microsoft.com/office/drawing/2014/main" id="{852DEC0A-E53F-4442-801E-CC9417B5CBF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391525" y="5924550"/>
            <a:ext cx="1952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none" w="sm" len="sm"/>
          </a:ln>
        </p:spPr>
      </p:cxnSp>
      <p:cxnSp>
        <p:nvCxnSpPr>
          <p:cNvPr id="122" name="NO 3 → same-phase review · 2">
            <a:extLst xmlns:a="http://schemas.openxmlformats.org/drawingml/2006/main">
              <a:ext uri="{FF2B5EF4-FFF2-40B4-BE49-F238E27FC236}">
                <a16:creationId xmlns:a16="http://schemas.microsoft.com/office/drawing/2014/main" id="{2E41B11D-6112-4C16-BC1C-AED7EC383A1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391525" y="52959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triangle" w="sm" len="sm"/>
          </a:ln>
        </p:spPr>
      </p:cxnSp>
      <p:sp>
        <p:nvSpPr>
          <p:cNvPr id="123" name="Decision gate 4 · Financials reconcile?">
            <a:extLst xmlns:a="http://schemas.openxmlformats.org/drawingml/2006/main">
              <a:ext uri="{FF2B5EF4-FFF2-40B4-BE49-F238E27FC236}">
                <a16:creationId xmlns:a16="http://schemas.microsoft.com/office/drawing/2014/main" id="{A8BA344A-F47F-40C5-BC86-342C86C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5619750"/>
            <a:ext cx="146685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43F"/>
            </a:solidFill>
            <a:prstDash val="solid"/>
          </a:ln>
        </p:spPr>
      </p:sp>
      <p:sp>
        <p:nvSpPr>
          <p:cNvPr id="124" name="Gate question 4">
            <a:extLst xmlns:a="http://schemas.openxmlformats.org/drawingml/2006/main">
              <a:ext uri="{FF2B5EF4-FFF2-40B4-BE49-F238E27FC236}">
                <a16:creationId xmlns:a16="http://schemas.microsoft.com/office/drawing/2014/main" id="{1E513CC9-C602-431C-B8EF-6FCB121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563" y="57340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Financials</a:t>
            </a:r>
          </a:p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reconcile?</a:t>
            </a:r>
          </a:p>
        </p:txBody>
      </p:sp>
      <p:cxnSp>
        <p:nvCxnSpPr>
          <p:cNvPr id="126" name="YES 4 → next phase · 1">
            <a:extLst xmlns:a="http://schemas.openxmlformats.org/drawingml/2006/main">
              <a:ext uri="{FF2B5EF4-FFF2-40B4-BE49-F238E27FC236}">
                <a16:creationId xmlns:a16="http://schemas.microsoft.com/office/drawing/2014/main" id="{8E039331-0AED-4F4A-BADC-607617DB08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53913" y="5924550"/>
            <a:ext cx="36671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27" name="YES 4 → next phase · 2">
            <a:extLst xmlns:a="http://schemas.openxmlformats.org/drawingml/2006/main">
              <a:ext uri="{FF2B5EF4-FFF2-40B4-BE49-F238E27FC236}">
                <a16:creationId xmlns:a16="http://schemas.microsoft.com/office/drawing/2014/main" id="{D7F0BF4C-1AD1-4D5C-98EF-3E6E3DA5D3C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620625" y="2066925"/>
            <a:ext cx="0" cy="3857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28" name="YES 4 → next phase · 3">
            <a:extLst xmlns:a="http://schemas.openxmlformats.org/drawingml/2006/main">
              <a:ext uri="{FF2B5EF4-FFF2-40B4-BE49-F238E27FC236}">
                <a16:creationId xmlns:a16="http://schemas.microsoft.com/office/drawing/2014/main" id="{CC786C8B-251C-41BE-A9E5-24F1939D2E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20625" y="206692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129" name="YES label 4">
            <a:extLst xmlns:a="http://schemas.openxmlformats.org/drawingml/2006/main">
              <a:ext uri="{FF2B5EF4-FFF2-40B4-BE49-F238E27FC236}">
                <a16:creationId xmlns:a16="http://schemas.microsoft.com/office/drawing/2014/main" id="{C8D9634C-DD23-4832-BD48-80CCD268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88" y="5705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30" name="NO 4 → same-phase review · 1">
            <a:extLst xmlns:a="http://schemas.openxmlformats.org/drawingml/2006/main">
              <a:ext uri="{FF2B5EF4-FFF2-40B4-BE49-F238E27FC236}">
                <a16:creationId xmlns:a16="http://schemas.microsoft.com/office/drawing/2014/main" id="{99B45382-6474-4537-A3E9-BCAAECDF921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591800" y="5924550"/>
            <a:ext cx="1952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none" w="sm" len="sm"/>
          </a:ln>
        </p:spPr>
      </p:cxnSp>
      <p:cxnSp>
        <p:nvCxnSpPr>
          <p:cNvPr id="131" name="NO 4 → same-phase review · 2">
            <a:extLst xmlns:a="http://schemas.openxmlformats.org/drawingml/2006/main">
              <a:ext uri="{FF2B5EF4-FFF2-40B4-BE49-F238E27FC236}">
                <a16:creationId xmlns:a16="http://schemas.microsoft.com/office/drawing/2014/main" id="{7F7F6BAC-E7A8-4ADF-B29D-65F717C2D67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591800" y="52959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triangle" w="sm" len="sm"/>
          </a:ln>
        </p:spPr>
      </p:cxnSp>
      <p:sp>
        <p:nvSpPr>
          <p:cNvPr id="132" name="Decision gate 5 · FPU verified?">
            <a:extLst xmlns:a="http://schemas.openxmlformats.org/drawingml/2006/main">
              <a:ext uri="{FF2B5EF4-FFF2-40B4-BE49-F238E27FC236}">
                <a16:creationId xmlns:a16="http://schemas.microsoft.com/office/drawing/2014/main" id="{5F503DFD-7127-4B53-8323-4F5516E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338" y="5619750"/>
            <a:ext cx="146685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43F"/>
            </a:solidFill>
            <a:prstDash val="solid"/>
          </a:ln>
        </p:spPr>
      </p:sp>
      <p:sp>
        <p:nvSpPr>
          <p:cNvPr id="133" name="Gate question 5">
            <a:extLst xmlns:a="http://schemas.openxmlformats.org/drawingml/2006/main">
              <a:ext uri="{FF2B5EF4-FFF2-40B4-BE49-F238E27FC236}">
                <a16:creationId xmlns:a16="http://schemas.microsoft.com/office/drawing/2014/main" id="{5C193AEE-6A36-4468-B924-AFAC1741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838" y="57340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FPU</a:t>
            </a:r>
          </a:p>
          <a:p xmlns:a="http://schemas.openxmlformats.org/drawingml/2006/main">
            <a:pPr algn="ctr">
              <a:defRPr sz="1275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verified?</a:t>
            </a:r>
          </a:p>
        </p:txBody>
      </p:sp>
      <p:cxnSp>
        <p:nvCxnSpPr>
          <p:cNvPr id="135" name="YES FPU → verified terminal · 1">
            <a:extLst xmlns:a="http://schemas.openxmlformats.org/drawingml/2006/main">
              <a:ext uri="{FF2B5EF4-FFF2-40B4-BE49-F238E27FC236}">
                <a16:creationId xmlns:a16="http://schemas.microsoft.com/office/drawing/2014/main" id="{D1D5B8FB-371E-4280-9929-90A5C58AFC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454188" y="5924550"/>
            <a:ext cx="10001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0"/>
            </a:solidFill>
            <a:prstDash val="solid"/>
            <a:tailEnd type="triangle" w="sm" len="sm"/>
          </a:ln>
        </p:spPr>
      </p:cxnSp>
      <p:sp>
        <p:nvSpPr>
          <p:cNvPr id="136" name="YES final">
            <a:extLst xmlns:a="http://schemas.openxmlformats.org/drawingml/2006/main">
              <a:ext uri="{FF2B5EF4-FFF2-40B4-BE49-F238E27FC236}">
                <a16:creationId xmlns:a16="http://schemas.microsoft.com/office/drawing/2014/main" id="{66F53DDD-668F-4190-BBFA-B53E5F8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57054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37" name="NO 5 → same-phase review · 1">
            <a:extLst xmlns:a="http://schemas.openxmlformats.org/drawingml/2006/main">
              <a:ext uri="{FF2B5EF4-FFF2-40B4-BE49-F238E27FC236}">
                <a16:creationId xmlns:a16="http://schemas.microsoft.com/office/drawing/2014/main" id="{4F19E3E7-D7C0-45A1-B48B-748ADB67CBC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2792075" y="5924550"/>
            <a:ext cx="1952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none" w="sm" len="sm"/>
          </a:ln>
        </p:spPr>
      </p:cxnSp>
      <p:cxnSp>
        <p:nvCxnSpPr>
          <p:cNvPr id="138" name="NO 5 → same-phase review · 2">
            <a:extLst xmlns:a="http://schemas.openxmlformats.org/drawingml/2006/main">
              <a:ext uri="{FF2B5EF4-FFF2-40B4-BE49-F238E27FC236}">
                <a16:creationId xmlns:a16="http://schemas.microsoft.com/office/drawing/2014/main" id="{80CD5641-EFA9-4337-AC1C-DDD584B04F4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792075" y="52959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6A18"/>
            </a:solidFill>
            <a:prstDash val="solid"/>
            <a:tailEnd type="triangle" w="sm" len="sm"/>
          </a:ln>
        </p:spPr>
      </p:cxnSp>
      <p:sp>
        <p:nvSpPr>
          <p:cNvPr id="139" name="Verified terminal">
            <a:extLst xmlns:a="http://schemas.openxmlformats.org/drawingml/2006/main">
              <a:ext uri="{FF2B5EF4-FFF2-40B4-BE49-F238E27FC236}">
                <a16:creationId xmlns:a16="http://schemas.microsoft.com/office/drawing/2014/main" id="{AF71303B-B16C-4884-9530-23A58295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810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cxnSp>
        <p:nvCxnSpPr>
          <p:cNvPr id="140" name="Verified check left">
            <a:extLst xmlns:a="http://schemas.openxmlformats.org/drawingml/2006/main">
              <a:ext uri="{FF2B5EF4-FFF2-40B4-BE49-F238E27FC236}">
                <a16:creationId xmlns:a16="http://schemas.microsoft.com/office/drawing/2014/main" id="{F81472BA-46DC-4D85-A40B-67C96085B1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601825" y="5924550"/>
            <a:ext cx="47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none" w="sm" len="sm"/>
          </a:ln>
        </p:spPr>
      </p:cxnSp>
      <p:cxnSp>
        <p:nvCxnSpPr>
          <p:cNvPr id="141" name="Verified check right">
            <a:extLst xmlns:a="http://schemas.openxmlformats.org/drawingml/2006/main">
              <a:ext uri="{FF2B5EF4-FFF2-40B4-BE49-F238E27FC236}">
                <a16:creationId xmlns:a16="http://schemas.microsoft.com/office/drawing/2014/main" id="{ABF19A79-43F6-40C9-A0C2-134E320B57E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649450" y="5867400"/>
            <a:ext cx="8572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prstDash val="solid"/>
            <a:tailEnd type="none" w="sm" len="sm"/>
          </a:ln>
        </p:spPr>
      </p:cxnSp>
      <p:sp>
        <p:nvSpPr>
          <p:cNvPr id="142" name="Rework 0">
            <a:extLst xmlns:a="http://schemas.openxmlformats.org/drawingml/2006/main">
              <a:ext uri="{FF2B5EF4-FFF2-40B4-BE49-F238E27FC236}">
                <a16:creationId xmlns:a16="http://schemas.microsoft.com/office/drawing/2014/main" id="{9FD4A1E9-F4E9-4B2C-ABE2-F2E36CBB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NO · Missing evidence</a:t>
            </a:r>
          </a:p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Correct source; reassess</a:t>
            </a:r>
          </a:p>
        </p:txBody>
      </p:sp>
      <p:sp>
        <p:nvSpPr>
          <p:cNvPr id="143" name="Rework 2">
            <a:extLst xmlns:a="http://schemas.openxmlformats.org/drawingml/2006/main">
              <a:ext uri="{FF2B5EF4-FFF2-40B4-BE49-F238E27FC236}">
                <a16:creationId xmlns:a16="http://schemas.microsoft.com/office/drawing/2014/main" id="{4EE7D449-D877-4E79-8321-999344FA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4389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NO · Revise / reconsider</a:t>
            </a:r>
          </a:p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Owner reviews again</a:t>
            </a:r>
          </a:p>
        </p:txBody>
      </p:sp>
      <p:sp>
        <p:nvSpPr>
          <p:cNvPr id="144" name="Rework 3">
            <a:extLst xmlns:a="http://schemas.openxmlformats.org/drawingml/2006/main">
              <a:ext uri="{FF2B5EF4-FFF2-40B4-BE49-F238E27FC236}">
                <a16:creationId xmlns:a16="http://schemas.microsoft.com/office/drawing/2014/main" id="{97C74728-A984-40B2-8771-DDB059FF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64389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NO · Inspect evidence</a:t>
            </a:r>
          </a:p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Approve fix; retry safely</a:t>
            </a:r>
          </a:p>
        </p:txBody>
      </p:sp>
      <p:sp>
        <p:nvSpPr>
          <p:cNvPr id="145" name="Rework 4">
            <a:extLst xmlns:a="http://schemas.openxmlformats.org/drawingml/2006/main">
              <a:ext uri="{FF2B5EF4-FFF2-40B4-BE49-F238E27FC236}">
                <a16:creationId xmlns:a16="http://schemas.microsoft.com/office/drawing/2014/main" id="{D5B53B26-9742-4709-BD07-5CBDF30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NO · Supported repair</a:t>
            </a:r>
          </a:p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Approve; rerun checks</a:t>
            </a:r>
          </a:p>
        </p:txBody>
      </p:sp>
      <p:sp>
        <p:nvSpPr>
          <p:cNvPr id="146" name="Rework 5">
            <a:extLst xmlns:a="http://schemas.openxmlformats.org/drawingml/2006/main">
              <a:ext uri="{FF2B5EF4-FFF2-40B4-BE49-F238E27FC236}">
                <a16:creationId xmlns:a16="http://schemas.microsoft.com/office/drawing/2014/main" id="{2CA52AD6-71F4-438F-9D3D-82FC42CF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64389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NO · Remediate / approve</a:t>
            </a:r>
          </a:p>
          <a:p xmlns:a="http://schemas.openxmlformats.org/drawingml/2006/main">
            <a:pPr algn="l">
              <a:defRPr sz="1275" b="0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6A18"/>
                </a:solidFill>
                <a:latin typeface="Arial"/>
                <a:ea typeface="Arial"/>
                <a:cs typeface="Arial"/>
              </a:rPr>
              <a:t>Resume, never duplicate</a:t>
            </a:r>
          </a:p>
        </p:txBody>
      </p:sp>
      <p:sp>
        <p:nvSpPr>
          <p:cNvPr id="147" name="Partial state band">
            <a:extLst xmlns:a="http://schemas.openxmlformats.org/drawingml/2006/main">
              <a:ext uri="{FF2B5EF4-FFF2-40B4-BE49-F238E27FC236}">
                <a16:creationId xmlns:a16="http://schemas.microsoft.com/office/drawing/2014/main" id="{5559C4BF-D64C-43E5-99A5-A285FDC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0"/>
            <a:ext cx="701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rtial accent">
            <a:extLst xmlns:a="http://schemas.openxmlformats.org/drawingml/2006/main">
              <a:ext uri="{FF2B5EF4-FFF2-40B4-BE49-F238E27FC236}">
                <a16:creationId xmlns:a16="http://schemas.microsoft.com/office/drawing/2014/main" id="{B2186752-6325-4AE5-98DC-B81A5B8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rtial label">
            <a:extLst xmlns:a="http://schemas.openxmlformats.org/drawingml/2006/main">
              <a:ext uri="{FF2B5EF4-FFF2-40B4-BE49-F238E27FC236}">
                <a16:creationId xmlns:a16="http://schemas.microsoft.com/office/drawing/2014/main" id="{7094E0EE-9D85-4706-A3F0-B157B17D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771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56A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6A18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50" name="Partial scope">
            <a:extLst xmlns:a="http://schemas.openxmlformats.org/drawingml/2006/main">
              <a:ext uri="{FF2B5EF4-FFF2-40B4-BE49-F238E27FC236}">
                <a16:creationId xmlns:a16="http://schemas.microsoft.com/office/drawing/2014/main" id="{F23DCE54-2DE9-43E8-A883-72FE085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771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AI advice / Reviewer · live runtime pending</a:t>
            </a:r>
          </a:p>
        </p:txBody>
      </p:sp>
      <p:sp>
        <p:nvSpPr>
          <p:cNvPr id="151" name="Target state band">
            <a:extLst xmlns:a="http://schemas.openxmlformats.org/drawingml/2006/main">
              <a:ext uri="{FF2B5EF4-FFF2-40B4-BE49-F238E27FC236}">
                <a16:creationId xmlns:a16="http://schemas.microsoft.com/office/drawing/2014/main" id="{C21C9E28-1B3F-44CC-8053-54F6AAC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43750"/>
            <a:ext cx="701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3A4"/>
            </a:solidFill>
            <a:prstDash val="dash"/>
          </a:ln>
        </p:spPr>
      </p:sp>
      <p:sp>
        <p:nvSpPr>
          <p:cNvPr id="152" name="Target state label">
            <a:extLst xmlns:a="http://schemas.openxmlformats.org/drawingml/2006/main">
              <a:ext uri="{FF2B5EF4-FFF2-40B4-BE49-F238E27FC236}">
                <a16:creationId xmlns:a16="http://schemas.microsoft.com/office/drawing/2014/main" id="{FC948C6F-5B91-439F-A551-8580E43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277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57A"/>
                </a:solidFill>
                <a:latin typeface="Arial"/>
                <a:ea typeface="Arial"/>
                <a:cs typeface="Arial"/>
              </a:rPr>
              <a:t>Target State</a:t>
            </a:r>
          </a:p>
        </p:txBody>
      </p:sp>
      <p:sp>
        <p:nvSpPr>
          <p:cNvPr id="153" name="Target scope">
            <a:extLst xmlns:a="http://schemas.openxmlformats.org/drawingml/2006/main">
              <a:ext uri="{FF2B5EF4-FFF2-40B4-BE49-F238E27FC236}">
                <a16:creationId xmlns:a16="http://schemas.microsoft.com/office/drawing/2014/main" id="{6AD2950C-0EFA-4D39-A5D2-50CB121D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7277100"/>
            <a:ext cx="536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Production connectors / autonomous orchestration</a:t>
            </a:r>
          </a:p>
        </p:txBody>
      </p:sp>
      <p:sp>
        <p:nvSpPr>
          <p:cNvPr id="154" name="Key takeaway">
            <a:extLst xmlns:a="http://schemas.openxmlformats.org/drawingml/2006/main">
              <a:ext uri="{FF2B5EF4-FFF2-40B4-BE49-F238E27FC236}">
                <a16:creationId xmlns:a16="http://schemas.microsoft.com/office/drawing/2014/main" id="{2A9248DE-8CC5-4442-A1C5-0B88E82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0025"/>
            <a:ext cx="1432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4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F"/>
                </a:solidFill>
                <a:latin typeface="Arial"/>
                <a:ea typeface="Arial"/>
                <a:cs typeface="Arial"/>
              </a:rPr>
              <a:t>Evidence and human approvals unlock progress. Failed checks return to review — never an automatic cutover.</a:t>
            </a:r>
          </a:p>
        </p:txBody>
      </p:sp>
      <p:sp>
        <p:nvSpPr>
          <p:cNvPr id="155" name="Legend beta">
            <a:extLst xmlns:a="http://schemas.openxmlformats.org/drawingml/2006/main">
              <a:ext uri="{FF2B5EF4-FFF2-40B4-BE49-F238E27FC236}">
                <a16:creationId xmlns:a16="http://schemas.microsoft.com/office/drawing/2014/main" id="{6EB8D4CA-AF02-4CA9-8DFC-1C50720E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05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Legend beta text">
            <a:extLst xmlns:a="http://schemas.openxmlformats.org/drawingml/2006/main">
              <a:ext uri="{FF2B5EF4-FFF2-40B4-BE49-F238E27FC236}">
                <a16:creationId xmlns:a16="http://schemas.microsoft.com/office/drawing/2014/main" id="{9FC65325-BC8C-4DDF-8BE9-3358BD55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277225"/>
            <a:ext cx="320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Beta Implemented (synthetic)</a:t>
            </a:r>
          </a:p>
        </p:txBody>
      </p:sp>
      <p:sp>
        <p:nvSpPr>
          <p:cNvPr id="157" name="Legend partial">
            <a:extLst xmlns:a="http://schemas.openxmlformats.org/drawingml/2006/main">
              <a:ext uri="{FF2B5EF4-FFF2-40B4-BE49-F238E27FC236}">
                <a16:creationId xmlns:a16="http://schemas.microsoft.com/office/drawing/2014/main" id="{2BCB4A19-E3F3-4934-9E31-8AE40659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305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Legend partial text">
            <a:extLst xmlns:a="http://schemas.openxmlformats.org/drawingml/2006/main">
              <a:ext uri="{FF2B5EF4-FFF2-40B4-BE49-F238E27FC236}">
                <a16:creationId xmlns:a16="http://schemas.microsoft.com/office/drawing/2014/main" id="{26B22B2B-2A02-421D-A11E-E167636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8277225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59" name="Legend target">
            <a:extLst xmlns:a="http://schemas.openxmlformats.org/drawingml/2006/main">
              <a:ext uri="{FF2B5EF4-FFF2-40B4-BE49-F238E27FC236}">
                <a16:creationId xmlns:a16="http://schemas.microsoft.com/office/drawing/2014/main" id="{6CE6A508-EF70-4795-9F5C-70A6291A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2962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3A4"/>
            </a:solidFill>
            <a:prstDash val="dash"/>
          </a:ln>
        </p:spPr>
      </p:sp>
      <p:sp>
        <p:nvSpPr>
          <p:cNvPr id="160" name="Legend target text">
            <a:extLst xmlns:a="http://schemas.openxmlformats.org/drawingml/2006/main">
              <a:ext uri="{FF2B5EF4-FFF2-40B4-BE49-F238E27FC236}">
                <a16:creationId xmlns:a16="http://schemas.microsoft.com/office/drawing/2014/main" id="{1E814FCF-2367-4541-8CFE-24A48C1A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27722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Target State</a:t>
            </a:r>
          </a:p>
        </p:txBody>
      </p:sp>
      <p:sp>
        <p:nvSpPr>
          <p:cNvPr id="161" name="Legend approval marker">
            <a:extLst xmlns:a="http://schemas.openxmlformats.org/drawingml/2006/main">
              <a:ext uri="{FF2B5EF4-FFF2-40B4-BE49-F238E27FC236}">
                <a16:creationId xmlns:a16="http://schemas.microsoft.com/office/drawing/2014/main" id="{A3C411D1-986D-4654-97FB-9892C47E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7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Legend approval H">
            <a:extLst xmlns:a="http://schemas.openxmlformats.org/drawingml/2006/main">
              <a:ext uri="{FF2B5EF4-FFF2-40B4-BE49-F238E27FC236}">
                <a16:creationId xmlns:a16="http://schemas.microsoft.com/office/drawing/2014/main" id="{158F4C18-866E-4C5D-A7EB-4F99250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8296275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3" name="Legend approval text">
            <a:extLst xmlns:a="http://schemas.openxmlformats.org/drawingml/2006/main">
              <a:ext uri="{FF2B5EF4-FFF2-40B4-BE49-F238E27FC236}">
                <a16:creationId xmlns:a16="http://schemas.microsoft.com/office/drawing/2014/main" id="{1CE13FA1-A3A6-484F-8C10-F28C0A3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27722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7A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</p:spTree>
    <p:extLst>
      <p:ext uri="{BB962C8B-B14F-4D97-AF65-F5344CB8AC3E}">
        <p14:creationId xmlns:p14="http://schemas.microsoft.com/office/powerpoint/2010/main" val="970703673"/>
      </p:ext>
    </p:extLst>
  </p:cSld>
</p:sld>
</file>

<file path=ppt/theme/theme1.xml><?xml version="1.0" encoding="utf-8"?>
<a:theme xmlns:a="http://schemas.openxmlformats.org/drawingml/2006/main" name="ChatGPT">
  <a:themeElements>
    <a:clrScheme name="MoveBooks Process">
      <a:dk1>
        <a:srgbClr val="000000"/>
      </a:dk1>
      <a:lt1>
        <a:srgbClr val="FFFFFF"/>
      </a:lt1>
      <a:dk2>
        <a:srgbClr val="17243F"/>
      </a:dk2>
      <a:lt2>
        <a:srgbClr val="F0F3F6"/>
      </a:lt2>
      <a:accent1>
        <a:srgbClr val="087F80"/>
      </a:accent1>
      <a:accent2>
        <a:srgbClr val="A56A18"/>
      </a:accent2>
      <a:accent3>
        <a:srgbClr val="8793A4"/>
      </a:accent3>
      <a:accent4>
        <a:srgbClr val="D6E8E7"/>
      </a:accent4>
      <a:accent5>
        <a:srgbClr val="4E6279"/>
      </a:accent5>
      <a:accent6>
        <a:srgbClr val="EED9B6"/>
      </a:accent6>
      <a:hlink>
        <a:srgbClr val="087F80"/>
      </a:hlink>
      <a:folHlink>
        <a:srgbClr val="087F8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oveBooks Proc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2026-10-18T10:39:13.6930000Z</dcterms:created>
  <dcterms:modified xsi:type="dcterms:W3CDTF">2026-10-18T10:39:13.6930000Z</dcterms:modified>
</coreProperties>
</file>