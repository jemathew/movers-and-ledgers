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351297d3464dbf" /><Relationship Type="http://schemas.openxmlformats.org/officeDocument/2006/relationships/extended-properties" Target="/docProps/app.xml" Id="R36ef39f7d07449e8" /><Relationship Type="http://schemas.openxmlformats.org/officeDocument/2006/relationships/officeDocument" Target="/ppt/presentation.xml" Id="R7fca29a12c754ba5" /></Relationships>
</file>

<file path=ppt/presentation.xml><?xml version="1.0" encoding="utf-8"?>
<p:presentation xmlns:p="http://schemas.openxmlformats.org/presentationml/2006/main">
  <p:sldMasterIdLst>
    <p:sldMasterId xmlns:r="http://schemas.openxmlformats.org/officeDocument/2006/relationships" id="2147483648" r:id="R323f94d8932b468c"/>
  </p:sldMasterIdLst>
  <p:notesMasterIdLst>
    <p:notesMasterId xmlns:r="http://schemas.openxmlformats.org/officeDocument/2006/relationships" r:id="R42ab0bd3295e4a59"/>
  </p:notesMasterIdLst>
  <p:sldIdLst>
    <p:sldId xmlns:r="http://schemas.openxmlformats.org/officeDocument/2006/relationships" id="256" r:id="Rc82b9b76eb144d26"/>
    <p:sldId xmlns:r="http://schemas.openxmlformats.org/officeDocument/2006/relationships" id="257" r:id="R7b960af416b94bb2"/>
    <p:sldId xmlns:r="http://schemas.openxmlformats.org/officeDocument/2006/relationships" id="258" r:id="R0a67f16c64694f25"/>
    <p:sldId xmlns:r="http://schemas.openxmlformats.org/officeDocument/2006/relationships" id="259" r:id="Rc564fde5630442a8"/>
    <p:sldId xmlns:r="http://schemas.openxmlformats.org/officeDocument/2006/relationships" id="260" r:id="R546f6a42ae524dc5"/>
    <p:sldId xmlns:r="http://schemas.openxmlformats.org/officeDocument/2006/relationships" id="261" r:id="R996a9d6fda2e482d"/>
    <p:sldId xmlns:r="http://schemas.openxmlformats.org/officeDocument/2006/relationships" id="262" r:id="Rb3ac57c747a84215"/>
    <p:sldId xmlns:r="http://schemas.openxmlformats.org/officeDocument/2006/relationships" id="263" r:id="R115ba7dddccc4c0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a356b2d7f64908" /><Relationship Type="http://schemas.openxmlformats.org/officeDocument/2006/relationships/slideMaster" Target="/ppt/slideMasters/slideMaster1.xml" Id="R323f94d8932b468c" /><Relationship Type="http://schemas.openxmlformats.org/officeDocument/2006/relationships/notesMaster" Target="/ppt/notesMasters/notesMaster1.xml" Id="R42ab0bd3295e4a59" /><Relationship Type="http://schemas.openxmlformats.org/officeDocument/2006/relationships/presProps" Target="/ppt/presProps.xml" Id="R0fe02f0b46cd4512" /><Relationship Type="http://schemas.openxmlformats.org/officeDocument/2006/relationships/tableStyles" Target="/ppt/tableStyles.xml" Id="Rd97c099a4e364ed6" /><Relationship Type="http://schemas.openxmlformats.org/officeDocument/2006/relationships/slide" Target="/ppt/slides/slide1.xml" Id="Rc82b9b76eb144d26" /><Relationship Type="http://schemas.openxmlformats.org/officeDocument/2006/relationships/slide" Target="/ppt/slides/slide2.xml" Id="R7b960af416b94bb2" /><Relationship Type="http://schemas.openxmlformats.org/officeDocument/2006/relationships/slide" Target="/ppt/slides/slide3.xml" Id="R0a67f16c64694f25" /><Relationship Type="http://schemas.openxmlformats.org/officeDocument/2006/relationships/slide" Target="/ppt/slides/slide4.xml" Id="Rc564fde5630442a8" /><Relationship Type="http://schemas.openxmlformats.org/officeDocument/2006/relationships/slide" Target="/ppt/slides/slide5.xml" Id="R546f6a42ae524dc5" /><Relationship Type="http://schemas.openxmlformats.org/officeDocument/2006/relationships/slide" Target="/ppt/slides/slide6.xml" Id="R996a9d6fda2e482d" /><Relationship Type="http://schemas.openxmlformats.org/officeDocument/2006/relationships/slide" Target="/ppt/slides/slide7.xml" Id="Rb3ac57c747a84215" /><Relationship Type="http://schemas.openxmlformats.org/officeDocument/2006/relationships/slide" Target="/ppt/slides/slide8.xml" Id="R115ba7dddccc4c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b0b9c1859f42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7116adabd74cc4" /><Relationship Type="http://schemas.openxmlformats.org/officeDocument/2006/relationships/notesMaster" Target="/ppt/notesMasters/notesMaster1.xml" Id="R8b6db64b747e48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de932657214525" /><Relationship Type="http://schemas.openxmlformats.org/officeDocument/2006/relationships/notesMaster" Target="/ppt/notesMasters/notesMaster1.xml" Id="Rd59d1ebd5f1242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ca87c21c144367" /><Relationship Type="http://schemas.openxmlformats.org/officeDocument/2006/relationships/notesMaster" Target="/ppt/notesMasters/notesMaster1.xml" Id="R97ced08334a248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ca511d69ee4b69" /><Relationship Type="http://schemas.openxmlformats.org/officeDocument/2006/relationships/notesMaster" Target="/ppt/notesMasters/notesMaster1.xml" Id="R306c72b297ec41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6bb6e83b63481f" /><Relationship Type="http://schemas.openxmlformats.org/officeDocument/2006/relationships/notesMaster" Target="/ppt/notesMasters/notesMaster1.xml" Id="R8c2195819f4e41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494e51b52245e9" /><Relationship Type="http://schemas.openxmlformats.org/officeDocument/2006/relationships/notesMaster" Target="/ppt/notesMasters/notesMaster1.xml" Id="Rb955ec97c98e47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a11af12bec4914" /><Relationship Type="http://schemas.openxmlformats.org/officeDocument/2006/relationships/notesMaster" Target="/ppt/notesMasters/notesMaster1.xml" Id="Rfde6e900e97543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ddb4e1e0bb4046" /><Relationship Type="http://schemas.openxmlformats.org/officeDocument/2006/relationships/notesMaster" Target="/ppt/notesMasters/notesMaster1.xml" Id="Rd2e7957f2c5342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 Browser viewport 1440×800, device scale factor 2. Viewport cropped to 1440×710 to exclude conceptual vision media.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a6bc5d3d963d9f4f9a59743895232abf018cfd5fa0f3cd56d784a5f8592720f7. Image objects can be repositioned/resized/replaced in PowerPoint. Titles, maturity labels and captions are editable native text. Screenshot UI pixels are not editable controls. No production accounting integration, hosted file processing or cloud acceptance claim. 7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/assess?sample=harbor-light-migrate-demo. Browser viewport 1440×800, device scale factor 2. Uncropped 1440×800 viewport.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01c02caa7b35b59087638d65344990b9a03d82d3f4dda0a162021a2ef4641775. Image objects can be repositioned/resized/replaced in PowerPoint. Titles, maturity labels and captions are editable native text. Screenshot UI pixels are not editable controls. No production accounting integration, hosted file processing or cloud acceptance claim. 4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/assess?session=&lt;synthetic-session&gt;. Browser viewport 1440×800, device scale factor 2. Uncropped 1440×800 viewport.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b39dc56b29bdb83d6f993db895cfa2770f95df6853f8c394b5131e6014cd827e. Image objects can be repositioned/resized/replaced in PowerPoint. Titles, maturity labels and captions are editable native text. Screenshot UI pixels are not editable controls. No production accounting integration, hosted file processing or cloud acceptance claim. 2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/plan-map-approve?session=&lt;synthetic-session&gt;. Browser viewport 1440×800, device scale factor 2. Uncropped 1440×800 viewport.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79704cb5f9f932a0c73d01fd5f51404edc49c350fa9884a987dbdd2f0d7a3735. Image objects can be repositioned/resized/replaced in PowerPoint. Titles, maturity labels and captions are editable native text. Screenshot UI pixels are not editable controls. No production accounting integration, hosted file processing or cloud acceptance claim. 5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/migrate-resolve?session=&lt;synthetic-session&gt;. Browser viewport 1440×800, device scale factor 2. Uncropped 1440×800 viewport.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e03d60b8db250bb6665138fd99a1a022459f1e5bf4044edfdc09970e6d751528. Image objects can be repositioned/resized/replaced in PowerPoint. Titles, maturity labels and captions are editable native text. Screenshot UI pixels are not editable controls. No production accounting integration, hosted file processing or cloud acceptance claim. 6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/validate-configure?session=&lt;synthetic-session&gt;. Browser viewport 1440×800, device scale factor 2. Uncropped 1440×800 viewport.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53806b5c33496c5e466d13ff9b46dc88a41cd67bf92c1b5aa0e8cba8cc90828f. Image objects can be repositioned/resized/replaced in PowerPoint. Titles, maturity labels and captions are editable native text. Screenshot UI pixels are not editable controls. No production accounting integration, hosted file processing or cloud acceptance claim. 21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/onboard-fpu?session=&lt;synthetic-session&gt;. Browser viewport 1440×800, device scale factor 2. Uncropped 1440×800 viewport.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bcb9ffef963be985da88f19c6f6c959c61eea7c5df759b015137b6199fa91d46. Image objects can be repositioned/resized/replaced in PowerPoint. Titles, maturity labels and captions are editable native text. Screenshot UI pixels are not editable controls. No production accounting integration, hosted file processing or cloud acceptance claim. 4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application rendering captured 2026-10-18T13:07:43.444Z. Source worktree delivery/submission-integration at aacd3a50409bb2ea3e95329405e3871669cb7572. Route /trust?view=evidence&amp;session=&lt;synthetic-session&gt;. Browser viewport 1440×800, device scale factor 2. Uncropped 1440×800 viewport. Existing local development preview and local memory API. Source commit is the inspected working tree, not an attestation of an immutable server binary. No mocked responses or fabricated UI. Only the Next.js development indicator was hidden. All workflow records, account names, invoices, identifiers and approvals are synthetic. UI labels such as Agent refer to the implementation's bounded deterministic workflow, not verified model-driven execution. External browser requests and reasoning endpoints were blocked. No live inference or production provider calls were triggered. Screenshot SHA-256 259e9c168c91a2d3add4b287b412cc533bbb41476559eca547fefba5f8282e09. Image objects can be repositioned/resized/replaced in PowerPoint. Titles, maturity labels and captions are editable native text. Screenshot UI pixels are not editable controls. No production accounting integration, hosted file processing or cloud acceptance claim. 5 headings rendered; zero browser runtime errors. Full safe endpoint-status evidence in screenshot-manifest.json.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2268f664de45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f1d43bc6d441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28c3362da740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de93604aeb4b4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179f58f89549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65f466f9974d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9C3B08-D443-46F2-80B0-EE434768BAB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51D6AA-AFE3-405F-B39C-70F558EA38DE}"/>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3A99BC-29BF-48FA-B155-E0D77AE2FAFA}"/>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BF1D06-FBA5-4230-A685-281C0698E6F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6EC3C47-144C-4EC8-BE17-8062418AA7D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C99DC8-D336-481E-A132-F53A4908F3A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3AA237-B5D8-406E-B692-A1959B8DD4A5}"/>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E7ACC9-524D-4A48-BE08-05500E11539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81CB29-EBCE-45E8-BFE2-9AD718C864A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5F2B549-09BB-4BD4-9816-4DC4222E7B9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c06292cfda470f" /><Relationship Type="http://schemas.openxmlformats.org/officeDocument/2006/relationships/slideLayout" Target="/ppt/slideLayouts/slideLayout1.xml" Id="R4c94a8cef3aa4a61" /><Relationship Type="http://schemas.openxmlformats.org/officeDocument/2006/relationships/slideLayout" Target="/ppt/slideLayouts/slideLayout2.xml" Id="Rb6726624e4da46b2" /><Relationship Type="http://schemas.openxmlformats.org/officeDocument/2006/relationships/slideLayout" Target="/ppt/slideLayouts/slideLayout3.xml" Id="R6e67cacae9c14911" /><Relationship Type="http://schemas.openxmlformats.org/officeDocument/2006/relationships/slideLayout" Target="/ppt/slideLayouts/slideLayout4.xml" Id="R69342af8c56149e8" /><Relationship Type="http://schemas.openxmlformats.org/officeDocument/2006/relationships/slideLayout" Target="/ppt/slideLayouts/slideLayout5.xml" Id="Rcf429f6009894a2f" /><Relationship Type="http://schemas.openxmlformats.org/officeDocument/2006/relationships/slideLayout" Target="/ppt/slideLayouts/slideLayout6.xml" Id="Ra11ec368226b41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94a8cef3aa4a61"/>
    <p:sldLayoutId xmlns:r="http://schemas.openxmlformats.org/officeDocument/2006/relationships" id="2147483650" r:id="Rb6726624e4da46b2"/>
    <p:sldLayoutId xmlns:r="http://schemas.openxmlformats.org/officeDocument/2006/relationships" id="2147483651" r:id="R6e67cacae9c14911"/>
    <p:sldLayoutId xmlns:r="http://schemas.openxmlformats.org/officeDocument/2006/relationships" id="2147483652" r:id="R69342af8c56149e8"/>
    <p:sldLayoutId xmlns:r="http://schemas.openxmlformats.org/officeDocument/2006/relationships" id="2147483653" r:id="Rcf429f6009894a2f"/>
    <p:sldLayoutId xmlns:r="http://schemas.openxmlformats.org/officeDocument/2006/relationships" id="2147483654" r:id="Ra11ec368226b41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a57df1b4084cfa" /><Relationship Type="http://schemas.openxmlformats.org/officeDocument/2006/relationships/image" Target="/ppt/media/image.png" Id="Ra8d8d06c590340ff" /><Relationship Type="http://schemas.openxmlformats.org/officeDocument/2006/relationships/notesSlide" Target="/ppt/notesSlides/notesSlide1.xml" Id="R659f6b01d4d64c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0f2a86b0b74534" /><Relationship Type="http://schemas.openxmlformats.org/officeDocument/2006/relationships/image" Target="/ppt/media/image2.png" Id="Ra01c76ca8a8a425d" /><Relationship Type="http://schemas.openxmlformats.org/officeDocument/2006/relationships/notesSlide" Target="/ppt/notesSlides/notesSlide2.xml" Id="R9bd29abfaf1246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74762aa3ef4285" /><Relationship Type="http://schemas.openxmlformats.org/officeDocument/2006/relationships/image" Target="/ppt/media/image3.png" Id="Rc720bd1cfb3d4a4b" /><Relationship Type="http://schemas.openxmlformats.org/officeDocument/2006/relationships/notesSlide" Target="/ppt/notesSlides/notesSlide3.xml" Id="Red78207e6ff642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8dc43ace5b4b9d" /><Relationship Type="http://schemas.openxmlformats.org/officeDocument/2006/relationships/image" Target="/ppt/media/image4.png" Id="R3f47a5a200d84d79" /><Relationship Type="http://schemas.openxmlformats.org/officeDocument/2006/relationships/notesSlide" Target="/ppt/notesSlides/notesSlide4.xml" Id="R83e82713796443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44f794f8c54c36" /><Relationship Type="http://schemas.openxmlformats.org/officeDocument/2006/relationships/image" Target="/ppt/media/image5.png" Id="Rc6d094ede54e4227" /><Relationship Type="http://schemas.openxmlformats.org/officeDocument/2006/relationships/notesSlide" Target="/ppt/notesSlides/notesSlide5.xml" Id="R4c471ee5af7543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a2cbaf4e0ef4ecd" /><Relationship Type="http://schemas.openxmlformats.org/officeDocument/2006/relationships/image" Target="/ppt/media/image6.png" Id="Ra7f793d88c774d63" /><Relationship Type="http://schemas.openxmlformats.org/officeDocument/2006/relationships/notesSlide" Target="/ppt/notesSlides/notesSlide6.xml" Id="R7383c254f8af43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370e71691a4d16" /><Relationship Type="http://schemas.openxmlformats.org/officeDocument/2006/relationships/image" Target="/ppt/media/image7.png" Id="R10899bada5cf4d89" /><Relationship Type="http://schemas.openxmlformats.org/officeDocument/2006/relationships/notesSlide" Target="/ppt/notesSlides/notesSlide7.xml" Id="Rd59a6e9acda24b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180ec9c4ad40cf" /><Relationship Type="http://schemas.openxmlformats.org/officeDocument/2006/relationships/image" Target="/ppt/media/image8.png" Id="Rc147b7119eec4ef0" /><Relationship Type="http://schemas.openxmlformats.org/officeDocument/2006/relationships/notesSlide" Target="/ppt/notesSlides/notesSlide8.xml" Id="R64cbe0b8837244af"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D25DCAB1-DA06-4379-9BF2-320C39DCA26C}"/>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01  Product landing</a:t>
            </a:r>
          </a:p>
        </p:txBody>
      </p:sp>
      <p:sp>
        <p:nvSpPr>
          <p:cNvPr id="2" name="Implementation maturity">
            <a:extLst xmlns:a="http://schemas.openxmlformats.org/drawingml/2006/main">
              <a:ext uri="{FF2B5EF4-FFF2-40B4-BE49-F238E27FC236}">
                <a16:creationId xmlns:a16="http://schemas.microsoft.com/office/drawing/2014/main" id="{D111CCD2-9B5A-4BAD-A2A2-D993F7A3E951}"/>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D21FD734-507B-4558-AD56-9C7B15AD11F1}"/>
              </a:ext>
            </a:extLst>
          </p:cNvPr>
          <p:cNvPicPr>
            <a:picLocks xmlns:a="http://schemas.openxmlformats.org/drawingml/2006/main" noChangeAspect="1"/>
          </p:cNvPicPr>
          <p:nvPr/>
        </p:nvPicPr>
        <p:blipFill>
          <a:blip xmlns:r="http://schemas.openxmlformats.org/officeDocument/2006/relationships" xmlns:a="http://schemas.openxmlformats.org/drawingml/2006/main" r:embed="Ra8d8d06c590340ff"/>
          <a:stretch xmlns:a="http://schemas.openxmlformats.org/drawingml/2006/main"/>
        </p:blipFill>
        <p:spPr>
          <a:xfrm xmlns:a="http://schemas.openxmlformats.org/drawingml/2006/main">
            <a:off x="762000" y="1123950"/>
            <a:ext cx="1371600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FBA478D5-615C-482F-8D1E-BEE0C03B8B3F}"/>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A bounded synthetic Beta with a clear route into the product.</a:t>
            </a:r>
          </a:p>
        </p:txBody>
      </p:sp>
    </p:spTree>
    <p:extLst>
      <p:ext uri="{BB962C8B-B14F-4D97-AF65-F5344CB8AC3E}">
        <p14:creationId xmlns:p14="http://schemas.microsoft.com/office/powerpoint/2010/main" val="1155202224"/>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5950D1F4-C220-4997-B24E-C196215728BB}"/>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02  Discovery journey</a:t>
            </a:r>
          </a:p>
        </p:txBody>
      </p:sp>
      <p:sp>
        <p:nvSpPr>
          <p:cNvPr id="2" name="Implementation maturity">
            <a:extLst xmlns:a="http://schemas.openxmlformats.org/drawingml/2006/main">
              <a:ext uri="{FF2B5EF4-FFF2-40B4-BE49-F238E27FC236}">
                <a16:creationId xmlns:a16="http://schemas.microsoft.com/office/drawing/2014/main" id="{DFFC3AA1-697C-443A-A479-FA72F3F876A0}"/>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90815E8F-8E7F-46CA-B022-D3E4F69DEA60}"/>
              </a:ext>
            </a:extLst>
          </p:cNvPr>
          <p:cNvPicPr>
            <a:picLocks xmlns:a="http://schemas.openxmlformats.org/drawingml/2006/main" noChangeAspect="1"/>
          </p:cNvPicPr>
          <p:nvPr/>
        </p:nvPicPr>
        <p:blipFill>
          <a:blip xmlns:r="http://schemas.openxmlformats.org/officeDocument/2006/relationships" xmlns:a="http://schemas.openxmlformats.org/drawingml/2006/main" r:embed="Ra01c76ca8a8a425d"/>
          <a:stretch xmlns:a="http://schemas.openxmlformats.org/drawingml/2006/main"/>
        </p:blipFill>
        <p:spPr>
          <a:xfrm xmlns:a="http://schemas.openxmlformats.org/drawingml/2006/main">
            <a:off x="1533525" y="1123950"/>
            <a:ext cx="1217295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F42ECF2E-7765-4A5A-848E-85469201BB33}"/>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Select a synthetic source business and capture migration context.</a:t>
            </a:r>
          </a:p>
        </p:txBody>
      </p:sp>
    </p:spTree>
    <p:extLst>
      <p:ext uri="{BB962C8B-B14F-4D97-AF65-F5344CB8AC3E}">
        <p14:creationId xmlns:p14="http://schemas.microsoft.com/office/powerpoint/2010/main" val="970252499"/>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254679D6-8F80-44E6-8829-70F2B4A95A77}"/>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03  Assessment and readiness</a:t>
            </a:r>
          </a:p>
        </p:txBody>
      </p:sp>
      <p:sp>
        <p:nvSpPr>
          <p:cNvPr id="2" name="Implementation maturity">
            <a:extLst xmlns:a="http://schemas.openxmlformats.org/drawingml/2006/main">
              <a:ext uri="{FF2B5EF4-FFF2-40B4-BE49-F238E27FC236}">
                <a16:creationId xmlns:a16="http://schemas.microsoft.com/office/drawing/2014/main" id="{CCE9A56A-D086-4E29-942C-2D346BF672AF}"/>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E3C1CF6F-D5AC-430E-90AB-CB38DEA5DE02}"/>
              </a:ext>
            </a:extLst>
          </p:cNvPr>
          <p:cNvPicPr>
            <a:picLocks xmlns:a="http://schemas.openxmlformats.org/drawingml/2006/main" noChangeAspect="1"/>
          </p:cNvPicPr>
          <p:nvPr/>
        </p:nvPicPr>
        <p:blipFill>
          <a:blip xmlns:r="http://schemas.openxmlformats.org/officeDocument/2006/relationships" xmlns:a="http://schemas.openxmlformats.org/drawingml/2006/main" r:embed="Rc720bd1cfb3d4a4b"/>
          <a:stretch xmlns:a="http://schemas.openxmlformats.org/drawingml/2006/main"/>
        </p:blipFill>
        <p:spPr>
          <a:xfrm xmlns:a="http://schemas.openxmlformats.org/drawingml/2006/main">
            <a:off x="1533525" y="1123950"/>
            <a:ext cx="1217295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93748FCD-2264-45B3-AAF9-19851C3CD546}"/>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Understand readiness findings before preparing a migration plan.</a:t>
            </a:r>
          </a:p>
        </p:txBody>
      </p:sp>
    </p:spTree>
    <p:extLst>
      <p:ext uri="{BB962C8B-B14F-4D97-AF65-F5344CB8AC3E}">
        <p14:creationId xmlns:p14="http://schemas.microsoft.com/office/powerpoint/2010/main" val="1350857562"/>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CB3D2A88-932C-4A37-8BD7-2AF7A55E680B}"/>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04  Planning and mapping</a:t>
            </a:r>
          </a:p>
        </p:txBody>
      </p:sp>
      <p:sp>
        <p:nvSpPr>
          <p:cNvPr id="2" name="Implementation maturity">
            <a:extLst xmlns:a="http://schemas.openxmlformats.org/drawingml/2006/main">
              <a:ext uri="{FF2B5EF4-FFF2-40B4-BE49-F238E27FC236}">
                <a16:creationId xmlns:a16="http://schemas.microsoft.com/office/drawing/2014/main" id="{64F5B521-0274-4DE3-B0FA-913CDA8716D6}"/>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791ED8B8-CDCB-4061-A960-BD3E9F1D046A}"/>
              </a:ext>
            </a:extLst>
          </p:cNvPr>
          <p:cNvPicPr>
            <a:picLocks xmlns:a="http://schemas.openxmlformats.org/drawingml/2006/main" noChangeAspect="1"/>
          </p:cNvPicPr>
          <p:nvPr/>
        </p:nvPicPr>
        <p:blipFill>
          <a:blip xmlns:r="http://schemas.openxmlformats.org/officeDocument/2006/relationships" xmlns:a="http://schemas.openxmlformats.org/drawingml/2006/main" r:embed="R3f47a5a200d84d79"/>
          <a:stretch xmlns:a="http://schemas.openxmlformats.org/drawingml/2006/main"/>
        </p:blipFill>
        <p:spPr>
          <a:xfrm xmlns:a="http://schemas.openxmlformats.org/drawingml/2006/main">
            <a:off x="1533525" y="1123950"/>
            <a:ext cx="1217295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7BEA42DC-FFA7-42DB-9131-0582DBEF9702}"/>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Inspect ambiguous mappings before explicit human approval.</a:t>
            </a:r>
          </a:p>
        </p:txBody>
      </p:sp>
    </p:spTree>
    <p:extLst>
      <p:ext uri="{BB962C8B-B14F-4D97-AF65-F5344CB8AC3E}">
        <p14:creationId xmlns:p14="http://schemas.microsoft.com/office/powerpoint/2010/main" val="912395965"/>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1083D6BF-CA78-461B-A8DB-BE54AC026B9D}"/>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05  Migration and exception resolution</a:t>
            </a:r>
          </a:p>
        </p:txBody>
      </p:sp>
      <p:sp>
        <p:nvSpPr>
          <p:cNvPr id="2" name="Implementation maturity">
            <a:extLst xmlns:a="http://schemas.openxmlformats.org/drawingml/2006/main">
              <a:ext uri="{FF2B5EF4-FFF2-40B4-BE49-F238E27FC236}">
                <a16:creationId xmlns:a16="http://schemas.microsoft.com/office/drawing/2014/main" id="{5256F257-1E6E-43B2-8734-19960128D5F1}"/>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5A0C522A-4B9A-4B2D-9EF6-0BF93F66B4E2}"/>
              </a:ext>
            </a:extLst>
          </p:cNvPr>
          <p:cNvPicPr>
            <a:picLocks xmlns:a="http://schemas.openxmlformats.org/drawingml/2006/main" noChangeAspect="1"/>
          </p:cNvPicPr>
          <p:nvPr/>
        </p:nvPicPr>
        <p:blipFill>
          <a:blip xmlns:r="http://schemas.openxmlformats.org/officeDocument/2006/relationships" xmlns:a="http://schemas.openxmlformats.org/drawingml/2006/main" r:embed="Rc6d094ede54e4227"/>
          <a:stretch xmlns:a="http://schemas.openxmlformats.org/drawingml/2006/main"/>
        </p:blipFill>
        <p:spPr>
          <a:xfrm xmlns:a="http://schemas.openxmlformats.org/drawingml/2006/main">
            <a:off x="1533525" y="1123950"/>
            <a:ext cx="1217295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31E0EA74-55DB-49AF-9FD2-E269623B3AB8}"/>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Review the duplicate remedy before retrying a failed synthetic batch.</a:t>
            </a:r>
          </a:p>
        </p:txBody>
      </p:sp>
    </p:spTree>
    <p:extLst>
      <p:ext uri="{BB962C8B-B14F-4D97-AF65-F5344CB8AC3E}">
        <p14:creationId xmlns:p14="http://schemas.microsoft.com/office/powerpoint/2010/main" val="619868547"/>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F94A1AE1-08F5-48F7-BE2D-FF37CF9C22F3}"/>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06  Financial validation</a:t>
            </a:r>
          </a:p>
        </p:txBody>
      </p:sp>
      <p:sp>
        <p:nvSpPr>
          <p:cNvPr id="2" name="Implementation maturity">
            <a:extLst xmlns:a="http://schemas.openxmlformats.org/drawingml/2006/main">
              <a:ext uri="{FF2B5EF4-FFF2-40B4-BE49-F238E27FC236}">
                <a16:creationId xmlns:a16="http://schemas.microsoft.com/office/drawing/2014/main" id="{13F228AC-27A6-4B12-B9A5-C64734481149}"/>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EDD6A13A-C642-4E77-9D3E-0C117210FAD2}"/>
              </a:ext>
            </a:extLst>
          </p:cNvPr>
          <p:cNvPicPr>
            <a:picLocks xmlns:a="http://schemas.openxmlformats.org/drawingml/2006/main" noChangeAspect="1"/>
          </p:cNvPicPr>
          <p:nvPr/>
        </p:nvPicPr>
        <p:blipFill>
          <a:blip xmlns:r="http://schemas.openxmlformats.org/officeDocument/2006/relationships" xmlns:a="http://schemas.openxmlformats.org/drawingml/2006/main" r:embed="Ra7f793d88c774d63"/>
          <a:stretch xmlns:a="http://schemas.openxmlformats.org/drawingml/2006/main"/>
        </p:blipFill>
        <p:spPr>
          <a:xfrm xmlns:a="http://schemas.openxmlformats.org/drawingml/2006/main">
            <a:off x="1533525" y="1123950"/>
            <a:ext cx="1217295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2FEC048E-20FE-4F03-AD8B-1B11EE1A55C4}"/>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Inspect deterministic reconciliation before configuration.</a:t>
            </a:r>
          </a:p>
        </p:txBody>
      </p:sp>
    </p:spTree>
    <p:extLst>
      <p:ext uri="{BB962C8B-B14F-4D97-AF65-F5344CB8AC3E}">
        <p14:creationId xmlns:p14="http://schemas.microsoft.com/office/powerpoint/2010/main" val="345346059"/>
      </p:ext>
    </p:extLst>
  </p:cSld>
</p:sld>
</file>

<file path=ppt/slides/slide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C08F20F7-76BA-4513-AFE3-FFD14F38DFCE}"/>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07  Onboarding and First Productive Use</a:t>
            </a:r>
          </a:p>
        </p:txBody>
      </p:sp>
      <p:sp>
        <p:nvSpPr>
          <p:cNvPr id="2" name="Implementation maturity">
            <a:extLst xmlns:a="http://schemas.openxmlformats.org/drawingml/2006/main">
              <a:ext uri="{FF2B5EF4-FFF2-40B4-BE49-F238E27FC236}">
                <a16:creationId xmlns:a16="http://schemas.microsoft.com/office/drawing/2014/main" id="{C65C1B16-E6F8-456B-B644-979265BC7C37}"/>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9E7AB8D5-D58A-418A-9FF9-87E72AD587AB}"/>
              </a:ext>
            </a:extLst>
          </p:cNvPr>
          <p:cNvPicPr>
            <a:picLocks xmlns:a="http://schemas.openxmlformats.org/drawingml/2006/main" noChangeAspect="1"/>
          </p:cNvPicPr>
          <p:nvPr/>
        </p:nvPicPr>
        <p:blipFill>
          <a:blip xmlns:r="http://schemas.openxmlformats.org/officeDocument/2006/relationships" xmlns:a="http://schemas.openxmlformats.org/drawingml/2006/main" r:embed="R10899bada5cf4d89"/>
          <a:stretch xmlns:a="http://schemas.openxmlformats.org/drawingml/2006/main"/>
        </p:blipFill>
        <p:spPr>
          <a:xfrm xmlns:a="http://schemas.openxmlformats.org/drawingml/2006/main">
            <a:off x="1533525" y="1123950"/>
            <a:ext cx="1217295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335E6038-E610-4369-802D-89761FCEFCA5}"/>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Verify the first approved synthetic invoice and its accounting effect.</a:t>
            </a:r>
          </a:p>
        </p:txBody>
      </p:sp>
    </p:spTree>
    <p:extLst>
      <p:ext uri="{BB962C8B-B14F-4D97-AF65-F5344CB8AC3E}">
        <p14:creationId xmlns:p14="http://schemas.microsoft.com/office/powerpoint/2010/main" val="80280937"/>
      </p:ext>
    </p:extLst>
  </p:cSld>
</p:sld>
</file>

<file path=ppt/slides/slide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C49F64D9-B657-48F4-802B-76C759C6FE6F}"/>
              </a:ext>
            </a:extLst>
          </p:cNvPr>
          <p:cNvSpPr>
            <a:spLocks xmlns:a="http://schemas.openxmlformats.org/drawingml/2006/main" noGrp="1"/>
          </p:cNvSpPr>
          <p:nvPr/>
        </p:nvSpPr>
        <p:spPr>
          <a:xfrm xmlns:a="http://schemas.openxmlformats.org/drawingml/2006/main">
            <a:off x="419100" y="190500"/>
            <a:ext cx="14401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3300" b="1">
                <a:solidFill>
                  <a:srgbClr val="17243F"/>
                </a:solidFill>
                <a:latin typeface="Arial"/>
                <a:ea typeface="Arial"/>
                <a:cs typeface="Arial"/>
              </a:defRPr>
            </a:defPPr>
            <a:lvl1pPr>
              <a:defRPr sz="3300" b="1">
                <a:solidFill>
                  <a:srgbClr val="17243F"/>
                </a:solidFill>
                <a:latin typeface="Arial"/>
                <a:ea typeface="Arial"/>
                <a:cs typeface="Arial"/>
              </a:defRPr>
            </a:lvl1pPr>
            <a:lvl2pPr>
              <a:defRPr sz="3300" b="1">
                <a:solidFill>
                  <a:srgbClr val="17243F"/>
                </a:solidFill>
                <a:latin typeface="Arial"/>
                <a:ea typeface="Arial"/>
                <a:cs typeface="Arial"/>
              </a:defRPr>
            </a:lvl2pPr>
            <a:lvl3pPr>
              <a:defRPr sz="3300" b="1">
                <a:solidFill>
                  <a:srgbClr val="17243F"/>
                </a:solidFill>
                <a:latin typeface="Arial"/>
                <a:ea typeface="Arial"/>
                <a:cs typeface="Arial"/>
              </a:defRPr>
            </a:lvl3pPr>
            <a:lvl4pPr>
              <a:defRPr sz="3300" b="1">
                <a:solidFill>
                  <a:srgbClr val="17243F"/>
                </a:solidFill>
                <a:latin typeface="Arial"/>
                <a:ea typeface="Arial"/>
                <a:cs typeface="Arial"/>
              </a:defRPr>
            </a:lvl4pPr>
            <a:lvl5pPr>
              <a:defRPr sz="3300" b="1">
                <a:solidFill>
                  <a:srgbClr val="17243F"/>
                </a:solidFill>
                <a:latin typeface="Arial"/>
                <a:ea typeface="Arial"/>
                <a:cs typeface="Arial"/>
              </a:defRPr>
            </a:lvl5pPr>
            <a:lvl6pPr>
              <a:defRPr sz="3300" b="1">
                <a:solidFill>
                  <a:srgbClr val="17243F"/>
                </a:solidFill>
                <a:latin typeface="Arial"/>
                <a:ea typeface="Arial"/>
                <a:cs typeface="Arial"/>
              </a:defRPr>
            </a:lvl6pPr>
            <a:lvl7pPr>
              <a:defRPr sz="3300" b="1">
                <a:solidFill>
                  <a:srgbClr val="17243F"/>
                </a:solidFill>
                <a:latin typeface="Arial"/>
                <a:ea typeface="Arial"/>
                <a:cs typeface="Arial"/>
              </a:defRPr>
            </a:lvl7pPr>
            <a:lvl8pPr>
              <a:defRPr sz="3300" b="1">
                <a:solidFill>
                  <a:srgbClr val="17243F"/>
                </a:solidFill>
                <a:latin typeface="Arial"/>
                <a:ea typeface="Arial"/>
                <a:cs typeface="Arial"/>
              </a:defRPr>
            </a:lvl8pPr>
            <a:lvl9pPr>
              <a:defRPr sz="3300" b="1">
                <a:solidFill>
                  <a:srgbClr val="17243F"/>
                </a:solidFill>
                <a:latin typeface="Arial"/>
                <a:ea typeface="Arial"/>
                <a:cs typeface="Arial"/>
              </a:defRPr>
            </a:lvl9pPr>
          </a:lstStyle>
          <a:p xmlns:a="http://schemas.openxmlformats.org/drawingml/2006/main">
            <a:pPr>
              <a:defRPr sz="3300" b="1">
                <a:solidFill>
                  <a:srgbClr val="17243F"/>
                </a:solidFill>
                <a:latin typeface="Arial"/>
                <a:ea typeface="Arial"/>
                <a:cs typeface="Arial"/>
              </a:defRPr>
            </a:pPr>
            <a:r>
              <a:rPr sz="3300" b="1">
                <a:solidFill>
                  <a:srgbClr val="17243F"/>
                </a:solidFill>
                <a:latin typeface="Arial"/>
                <a:ea typeface="Arial"/>
                <a:cs typeface="Arial"/>
              </a:rPr>
              <a:t>08  Evidence and trust</a:t>
            </a:r>
          </a:p>
        </p:txBody>
      </p:sp>
      <p:sp>
        <p:nvSpPr>
          <p:cNvPr id="2" name="Implementation maturity">
            <a:extLst xmlns:a="http://schemas.openxmlformats.org/drawingml/2006/main">
              <a:ext uri="{FF2B5EF4-FFF2-40B4-BE49-F238E27FC236}">
                <a16:creationId xmlns:a16="http://schemas.microsoft.com/office/drawing/2014/main" id="{66B667CD-E5EA-40F8-A62F-D24F10828926}"/>
              </a:ext>
            </a:extLst>
          </p:cNvPr>
          <p:cNvSpPr>
            <a:spLocks xmlns:a="http://schemas.openxmlformats.org/drawingml/2006/main" noGrp="1"/>
          </p:cNvSpPr>
          <p:nvPr/>
        </p:nvSpPr>
        <p:spPr>
          <a:xfrm xmlns:a="http://schemas.openxmlformats.org/drawingml/2006/main">
            <a:off x="419100" y="752475"/>
            <a:ext cx="14401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575" b="0">
                <a:solidFill>
                  <a:srgbClr val="087F80"/>
                </a:solidFill>
                <a:latin typeface="Arial"/>
                <a:ea typeface="Arial"/>
                <a:cs typeface="Arial"/>
              </a:defRPr>
            </a:defPPr>
            <a:lvl1pPr>
              <a:defRPr sz="1575" b="0">
                <a:solidFill>
                  <a:srgbClr val="087F80"/>
                </a:solidFill>
                <a:latin typeface="Arial"/>
                <a:ea typeface="Arial"/>
                <a:cs typeface="Arial"/>
              </a:defRPr>
            </a:lvl1pPr>
            <a:lvl2pPr>
              <a:defRPr sz="1575" b="0">
                <a:solidFill>
                  <a:srgbClr val="087F80"/>
                </a:solidFill>
                <a:latin typeface="Arial"/>
                <a:ea typeface="Arial"/>
                <a:cs typeface="Arial"/>
              </a:defRPr>
            </a:lvl2pPr>
            <a:lvl3pPr>
              <a:defRPr sz="1575" b="0">
                <a:solidFill>
                  <a:srgbClr val="087F80"/>
                </a:solidFill>
                <a:latin typeface="Arial"/>
                <a:ea typeface="Arial"/>
                <a:cs typeface="Arial"/>
              </a:defRPr>
            </a:lvl3pPr>
            <a:lvl4pPr>
              <a:defRPr sz="1575" b="0">
                <a:solidFill>
                  <a:srgbClr val="087F80"/>
                </a:solidFill>
                <a:latin typeface="Arial"/>
                <a:ea typeface="Arial"/>
                <a:cs typeface="Arial"/>
              </a:defRPr>
            </a:lvl4pPr>
            <a:lvl5pPr>
              <a:defRPr sz="1575" b="0">
                <a:solidFill>
                  <a:srgbClr val="087F80"/>
                </a:solidFill>
                <a:latin typeface="Arial"/>
                <a:ea typeface="Arial"/>
                <a:cs typeface="Arial"/>
              </a:defRPr>
            </a:lvl5pPr>
            <a:lvl6pPr>
              <a:defRPr sz="1575" b="0">
                <a:solidFill>
                  <a:srgbClr val="087F80"/>
                </a:solidFill>
                <a:latin typeface="Arial"/>
                <a:ea typeface="Arial"/>
                <a:cs typeface="Arial"/>
              </a:defRPr>
            </a:lvl6pPr>
            <a:lvl7pPr>
              <a:defRPr sz="1575" b="0">
                <a:solidFill>
                  <a:srgbClr val="087F80"/>
                </a:solidFill>
                <a:latin typeface="Arial"/>
                <a:ea typeface="Arial"/>
                <a:cs typeface="Arial"/>
              </a:defRPr>
            </a:lvl7pPr>
            <a:lvl8pPr>
              <a:defRPr sz="1575" b="0">
                <a:solidFill>
                  <a:srgbClr val="087F80"/>
                </a:solidFill>
                <a:latin typeface="Arial"/>
                <a:ea typeface="Arial"/>
                <a:cs typeface="Arial"/>
              </a:defRPr>
            </a:lvl8pPr>
            <a:lvl9pPr>
              <a:defRPr sz="1575" b="0">
                <a:solidFill>
                  <a:srgbClr val="087F80"/>
                </a:solidFill>
                <a:latin typeface="Arial"/>
                <a:ea typeface="Arial"/>
                <a:cs typeface="Arial"/>
              </a:defRPr>
            </a:lvl9pPr>
          </a:lstStyle>
          <a:p xmlns:a="http://schemas.openxmlformats.org/drawingml/2006/main">
            <a:pPr>
              <a:defRPr sz="1575" b="0">
                <a:solidFill>
                  <a:srgbClr val="087F80"/>
                </a:solidFill>
                <a:latin typeface="Arial"/>
                <a:ea typeface="Arial"/>
                <a:cs typeface="Arial"/>
              </a:defRPr>
            </a:pPr>
            <a:r>
              <a:rPr sz="1575" b="0">
                <a:solidFill>
                  <a:srgbClr val="087F80"/>
                </a:solidFill>
                <a:latin typeface="Arial"/>
                <a:ea typeface="Arial"/>
                <a:cs typeface="Arial"/>
              </a:rPr>
              <a:t>MoveBooks AI   /   Actual local UI   /   Synthetic Beta   /   Gemini runtime unverified</a:t>
            </a:r>
          </a:p>
        </p:txBody>
      </p:sp>
      <p:pic>
        <p:nvPicPr>
          <p:cNvPr id="3" name="">
            <a:extLst xmlns:a="http://schemas.openxmlformats.org/drawingml/2006/main">
              <a:ext uri="{FF2B5EF4-FFF2-40B4-BE49-F238E27FC236}">
                <a16:creationId xmlns:a16="http://schemas.microsoft.com/office/drawing/2014/main" id="{B05C420A-0F72-473D-9B2F-D6EBE4F06098}"/>
              </a:ext>
            </a:extLst>
          </p:cNvPr>
          <p:cNvPicPr>
            <a:picLocks xmlns:a="http://schemas.openxmlformats.org/drawingml/2006/main" noChangeAspect="1"/>
          </p:cNvPicPr>
          <p:nvPr/>
        </p:nvPicPr>
        <p:blipFill>
          <a:blip xmlns:r="http://schemas.openxmlformats.org/officeDocument/2006/relationships" xmlns:a="http://schemas.openxmlformats.org/drawingml/2006/main" r:embed="Rc147b7119eec4ef0"/>
          <a:stretch xmlns:a="http://schemas.openxmlformats.org/drawingml/2006/main"/>
        </p:blipFill>
        <p:spPr>
          <a:xfrm xmlns:a="http://schemas.openxmlformats.org/drawingml/2006/main">
            <a:off x="1533525" y="1123950"/>
            <a:ext cx="12172950" cy="6762750"/>
          </a:xfrm>
          <a:prstGeom xmlns:a="http://schemas.openxmlformats.org/drawingml/2006/main" prst="rect">
            <a:avLst/>
          </a:prstGeom>
        </p:spPr>
      </p:pic>
      <p:sp>
        <p:nvSpPr>
          <p:cNvPr id="4" name="Value caption">
            <a:extLst xmlns:a="http://schemas.openxmlformats.org/drawingml/2006/main">
              <a:ext uri="{FF2B5EF4-FFF2-40B4-BE49-F238E27FC236}">
                <a16:creationId xmlns:a16="http://schemas.microsoft.com/office/drawing/2014/main" id="{3039FDCC-43B4-475C-8544-7E21D84AB345}"/>
              </a:ext>
            </a:extLst>
          </p:cNvPr>
          <p:cNvSpPr>
            <a:spLocks xmlns:a="http://schemas.openxmlformats.org/drawingml/2006/main" noGrp="1"/>
          </p:cNvSpPr>
          <p:nvPr/>
        </p:nvSpPr>
        <p:spPr>
          <a:xfrm xmlns:a="http://schemas.openxmlformats.org/drawingml/2006/main">
            <a:off x="419100" y="8010525"/>
            <a:ext cx="1440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defRPr sz="1725" b="0">
                <a:solidFill>
                  <a:srgbClr val="17243F"/>
                </a:solidFill>
                <a:latin typeface="Arial"/>
                <a:ea typeface="Arial"/>
                <a:cs typeface="Arial"/>
              </a:defRPr>
            </a:defPPr>
            <a:lvl1pPr>
              <a:defRPr sz="1725" b="0">
                <a:solidFill>
                  <a:srgbClr val="17243F"/>
                </a:solidFill>
                <a:latin typeface="Arial"/>
                <a:ea typeface="Arial"/>
                <a:cs typeface="Arial"/>
              </a:defRPr>
            </a:lvl1pPr>
            <a:lvl2pPr>
              <a:defRPr sz="1725" b="0">
                <a:solidFill>
                  <a:srgbClr val="17243F"/>
                </a:solidFill>
                <a:latin typeface="Arial"/>
                <a:ea typeface="Arial"/>
                <a:cs typeface="Arial"/>
              </a:defRPr>
            </a:lvl2pPr>
            <a:lvl3pPr>
              <a:defRPr sz="1725" b="0">
                <a:solidFill>
                  <a:srgbClr val="17243F"/>
                </a:solidFill>
                <a:latin typeface="Arial"/>
                <a:ea typeface="Arial"/>
                <a:cs typeface="Arial"/>
              </a:defRPr>
            </a:lvl3pPr>
            <a:lvl4pPr>
              <a:defRPr sz="1725" b="0">
                <a:solidFill>
                  <a:srgbClr val="17243F"/>
                </a:solidFill>
                <a:latin typeface="Arial"/>
                <a:ea typeface="Arial"/>
                <a:cs typeface="Arial"/>
              </a:defRPr>
            </a:lvl4pPr>
            <a:lvl5pPr>
              <a:defRPr sz="1725" b="0">
                <a:solidFill>
                  <a:srgbClr val="17243F"/>
                </a:solidFill>
                <a:latin typeface="Arial"/>
                <a:ea typeface="Arial"/>
                <a:cs typeface="Arial"/>
              </a:defRPr>
            </a:lvl5pPr>
            <a:lvl6pPr>
              <a:defRPr sz="1725" b="0">
                <a:solidFill>
                  <a:srgbClr val="17243F"/>
                </a:solidFill>
                <a:latin typeface="Arial"/>
                <a:ea typeface="Arial"/>
                <a:cs typeface="Arial"/>
              </a:defRPr>
            </a:lvl6pPr>
            <a:lvl7pPr>
              <a:defRPr sz="1725" b="0">
                <a:solidFill>
                  <a:srgbClr val="17243F"/>
                </a:solidFill>
                <a:latin typeface="Arial"/>
                <a:ea typeface="Arial"/>
                <a:cs typeface="Arial"/>
              </a:defRPr>
            </a:lvl7pPr>
            <a:lvl8pPr>
              <a:defRPr sz="1725" b="0">
                <a:solidFill>
                  <a:srgbClr val="17243F"/>
                </a:solidFill>
                <a:latin typeface="Arial"/>
                <a:ea typeface="Arial"/>
                <a:cs typeface="Arial"/>
              </a:defRPr>
            </a:lvl8pPr>
            <a:lvl9pPr>
              <a:defRPr sz="1725" b="0">
                <a:solidFill>
                  <a:srgbClr val="17243F"/>
                </a:solidFill>
                <a:latin typeface="Arial"/>
                <a:ea typeface="Arial"/>
                <a:cs typeface="Arial"/>
              </a:defRPr>
            </a:lvl9pPr>
          </a:lstStyle>
          <a:p xmlns:a="http://schemas.openxmlformats.org/drawingml/2006/main">
            <a:pPr>
              <a:defRPr sz="1725" b="0">
                <a:solidFill>
                  <a:srgbClr val="17243F"/>
                </a:solidFill>
                <a:latin typeface="Arial"/>
                <a:ea typeface="Arial"/>
                <a:cs typeface="Arial"/>
              </a:defRPr>
            </a:pPr>
            <a:r>
              <a:rPr sz="1725" b="0">
                <a:solidFill>
                  <a:srgbClr val="17243F"/>
                </a:solidFill>
                <a:latin typeface="Arial"/>
                <a:ea typeface="Arial"/>
                <a:cs typeface="Arial"/>
              </a:rPr>
              <a:t>Inspect workflow evidence and recorded approval decisions.</a:t>
            </a:r>
          </a:p>
        </p:txBody>
      </p:sp>
    </p:spTree>
    <p:extLst>
      <p:ext uri="{BB962C8B-B14F-4D97-AF65-F5344CB8AC3E}">
        <p14:creationId xmlns:p14="http://schemas.microsoft.com/office/powerpoint/2010/main" val="17696959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2026-10-18T13:10:44.3920000Z</dcterms:created>
  <dcterms:modified xsi:type="dcterms:W3CDTF">2026-10-18T13:10:44.3920000Z</dcterms:modified>
</coreProperties>
</file>