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da8be753ac4a73" /><Relationship Type="http://schemas.openxmlformats.org/officeDocument/2006/relationships/extended-properties" Target="/docProps/app.xml" Id="Red5bdf7ac6624459" /><Relationship Type="http://schemas.openxmlformats.org/officeDocument/2006/relationships/officeDocument" Target="/ppt/presentation.xml" Id="R7c66d7a291e44f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f415dafb3d404f"/>
  </p:sldMasterIdLst>
  <p:notesMasterIdLst>
    <p:notesMasterId xmlns:r="http://schemas.openxmlformats.org/officeDocument/2006/relationships" r:id="Reee538943166425c"/>
  </p:notesMasterIdLst>
  <p:sldIdLst>
    <p:sldId xmlns:r="http://schemas.openxmlformats.org/officeDocument/2006/relationships" id="256" r:id="Ra9cfea5012ac4333"/>
    <p:sldId xmlns:r="http://schemas.openxmlformats.org/officeDocument/2006/relationships" id="257" r:id="Ra1ca7181c99644ef"/>
    <p:sldId xmlns:r="http://schemas.openxmlformats.org/officeDocument/2006/relationships" id="258" r:id="R24670fa9efa249a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105bf11db24d13" /><Relationship Type="http://schemas.openxmlformats.org/officeDocument/2006/relationships/slideMaster" Target="/ppt/slideMasters/slideMaster1.xml" Id="Rcff415dafb3d404f" /><Relationship Type="http://schemas.openxmlformats.org/officeDocument/2006/relationships/notesMaster" Target="/ppt/notesMasters/notesMaster1.xml" Id="Reee538943166425c" /><Relationship Type="http://schemas.openxmlformats.org/officeDocument/2006/relationships/presProps" Target="/ppt/presProps.xml" Id="Rab3bc79ef3a9437e" /><Relationship Type="http://schemas.openxmlformats.org/officeDocument/2006/relationships/tableStyles" Target="/ppt/tableStyles.xml" Id="Rb210660cadc4459f" /><Relationship Type="http://schemas.openxmlformats.org/officeDocument/2006/relationships/slide" Target="/ppt/slides/slide1.xml" Id="Ra9cfea5012ac4333" /><Relationship Type="http://schemas.openxmlformats.org/officeDocument/2006/relationships/slide" Target="/ppt/slides/slide2.xml" Id="Ra1ca7181c99644ef" /><Relationship Type="http://schemas.openxmlformats.org/officeDocument/2006/relationships/slide" Target="/ppt/slides/slide3.xml" Id="R24670fa9efa249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05ff800ba46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a8a7a28904f16" /><Relationship Type="http://schemas.openxmlformats.org/officeDocument/2006/relationships/notesMaster" Target="/ppt/notesMasters/notesMaster1.xml" Id="R0586ee9faa88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4d1cd7712941e1" /><Relationship Type="http://schemas.openxmlformats.org/officeDocument/2006/relationships/notesMaster" Target="/ppt/notesMasters/notesMaster1.xml" Id="R51b40be8439b40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4cc3f576dc4d76" /><Relationship Type="http://schemas.openxmlformats.org/officeDocument/2006/relationships/notesMaster" Target="/ppt/notesMasters/notesMaster1.xml" Id="R5b759034aff842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docs/PRODUCT_CONSTITUTION.md, docs/MIGRATION_PRINCIPLES.md, docs/product-management/blueprint.md, docs/product-management/feature-contracts.md, docs/working-backwards/decision-summary.md. Primary needs, segment selection and competitive differentiation are hypotheses, not completed research or a competitor benchmark. No Intuit/QuickBooks affiliation, official endorsement or supported production provider integration is implied. The product remains vendor independent. Current authorization uses one workspace owner, not distinct accountant/approver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Maturity: docs/submission/prototype-snapshots/screenshot-manifest.json records a real local synthetic journey through approved invoice and FPU at inspected worktree aacd3a50409bb2ea3e95329405e3871669cb7572, with existing server binary equivalence not independently attested. docs/submission/technology-stack/technology-maturity.md and docs/submission/performance-benchmarking/methodology-and-limitations.md qualify cloud, security, performance and current model gaps. Current local mode is deterministic-only. Independent review is a bounded mapping implementation, not proof that every specialist is a live autonomous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later docs/submission/final-experience/RELEASE-HANDOFF.md records owner-reported candidate build/scan/publication, backup and no-traffic readiness, expressly not re-verified. Do not erase that report by repeating older no-deployment wording, or promote it to current cloud acceptance. Older promise traceability and blueprint asset-pending fields are superseded only within evidence scope. The new future-development brief synthesizes these conflicts and does not rewrite older documents.</a:t>
            </a:r>
          </a:p>
          <a:p xmlns:a="http://schemas.openxmlformats.org/drawingml/2006/main">
            <a:r>
              <a:t>Visual cues: Lucide icons, ISC license, from existing lucide-react dependency used by apps/web/components/ui/icons.ts. https://lucide.dev/license. Icons are explanatory, not vendor logos or new implementation claims. Roadmap remains a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editable strategic roadmap, not a dated project schedule or a new authorization. All horizon development is proposed. Evidence-gated ordering reflects customer value, financial/trust risk, relative implementation effort, technical feasibility and strategic differentiation. No invented weighted ROI or feature-velocity target. See docs/submission/future-development/future-development-brief.md for the qualitative nine-item prioritization, scope assumptions, exit criteria and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exact current-candidate authorization/isolation, recoverability, security artifact provenance and synthetic FPU are unresolved acceptance needs. Accessibility evidence is scoped keyboard/mobile/reduced-motion, with broader audit/research unperformed. Outcome metrics and representative model quality/cost are unmeasured. Sources: docs/submission/acceptance-report.md, prototype-snapshots/screenshot-manifest.json, performance-benchmarking/benchmark-evidence-matrix.csv and technology-stack/technology-maturity.md. This roadmap does not make live inference mandatory for an honestly labelled deterministic Beta.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source/target pair, jurisdiction, supported history/entities and customer eligibility are not selected. Proposed starting segment: accountant-assisted, single-currency service businesses with bounded history and an explicit FPU task. Provider documentation/test rights, consent and ingestion/privacy/security approval are dependencies. No production connector exists by virtue of this diagram. Safe mapping/exception/reconciliation work builds on the deterministic canonical architecture in docs/MIGRATION_PRINCIPLES.md.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Later: adapter expansion follows conformance and measured pilot outcome/cost evidence. Model-driven task delegation, wider evidence-aware review, policy-based reversible low-risk tasks and delegated roles require value, safety, authorization, isolation and operational gates. Do not confuse current deterministic specialist functions with deployed autonomous agents. Current owner-only access does not imply existing partner/accountant workspaces or a partnership.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Authority: docs/AI_AGENT_CONSTITUTION.md and docs/EVALUATION_PRINCIPLES.md require bounded tools, evidence, safe stops, idempotency and explicit escalation. Human approvals remain for material financial treatment/execution contracts, access, exception disposition, cutover/rollback and first productive actions. Deterministic verification alone can mark the controls passed. docs/submission/release-prep/RELEASE-GATES.md and the later owner-reported handoff retain separate approval requirements. The proposed UX-IMPLEMENTATION-PLAN.md is not automatically committed by this roadmap. Dormant Phase A acceptance and authorized local Phase B are historical narrow approvals, not cloud/model/public-release authorization.</a:t>
            </a:r>
          </a:p>
          <a:p xmlns:a="http://schemas.openxmlformats.org/drawingml/2006/main">
            <a:r>
              <a:t>Visual cues: Lucide icons, ISC license, from existing lucide-react dependency used by apps/web/components/ui/icons.ts. https://lucide.dev/license. Icons are explanatory, not vendor logos or new implementation claims. Roadmap remains a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formulas are proposed measurement contracts, not measured results or numerical targets. Source: docs/METRICS_FRAMEWORK.md and docs/PRODUCT_CONSTITUTION.md. The accompanying future-development brief defines prerequisites, owners, windows, segmentation, privacy and guards. Percentage metrics multiply ratios by 100. Zero denominator is n/a. Eligibility, cohort start and exclusions are fixed before analysis. Open/abandoned/unsupported journeys stay visible. Segment source/target, complexity, customer and assistance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North Star numerator requires the versioned FPU contract: authorized customer user completes the agreed meaningful task in the intended target, after data, exact reconciliation, configuration/access/onboarding and exception controls pass, with observed evidence/time. A support operator doing it for the customer cannot count. Migration completion uses a separate versioned completion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Time-to-FPU is median wall-clock FPU observation minus first persisted consented journey start for completers, alongside completion rate, open and abandoned journeys, paused/customer-wait time. Mapping acceptance is approved-without-edit / reviewed recommendations, linked to overrides/downstream correctness. Exception resolution requires verified closure within a declared window and severity, preserving reopened/unresolved items. Reconciliation run rate is paired with first-pass vs retry and journey outcomes. Human intervention here means extra support beyond planned approvals; required approvals remain mandatory and visible. Cost includes all attributed cohort cloud/model/integration/human review/support/failed-attempt operating costs per verified migration completion, with one-time engineering separate and cost per FPU also tracked. CSAT uses a versioned post-task question, predeclared favorability and valid respondent / eligible invitee response rate, covering failure/assistance slices rather than only successful respondents.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Risks/dependencies: accounting domain semantics and provider access, consent/jurisdiction/tenant and role boundaries, current exact-image security and recovery, effective model access/explicit global-processing approval, independent holdout quality, sustainable human and infrastructure cost, complete traceability and incident ownership. Sources: docs/MIGRATION_PRINCIPLES.md; docs/submission/technology-stack/technology-maturity.md; docs/security/model-replacement-gate.md; docs/submission/performance-benchmarking/benchmark-evidence-matrix.csv; docs/submission/implementation-cost/methodology-and-limitations.md. Historical cost scenarios are assumptions, not actual spending or funding commitments. Global model routing can process outside Singapore. No active cloud service or paid inference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Autonomy gate: representative/versioned holdout and shadow comparison to deterministic baseline, independent human review, tool/argument correctness, groundedness, appropriate escalation, owner isolation, retries and idempotency, budget/kill switch, latency/cost and downstream financial/FPU outcomes. Critical control regression stops or revokes eligibility. Agent count/autonomy is diagnostic, never a substitute for customer outcome.</a:t>
            </a:r>
          </a:p>
          <a:p xmlns:a="http://schemas.openxmlformats.org/drawingml/2006/main">
            <a:r>
              <a:t>Visual cues: Lucide icons, ISC license, from existing lucide-react dependency used by apps/web/components/ui/icons.ts. https://lucide.dev/license. Icons are explanatory, not vendor logos or new implementation claims. Roadmap remains a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eabe088e44d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8b998a57e4c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91f85b50b4c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bcdc4d23d4a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a32aa07bb4b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f127bc7a1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6314BD-6B71-48B5-9805-437BDDD46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AC3DD4-8963-4D89-B3C2-4C8F86A879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B69763-E4A4-46E9-AB5F-4B0EBA745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C0071D-D017-4C3A-AB79-02112085D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FBF855-79B8-4F2B-81E4-07E88251B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D67BE3-4DC0-4801-AC1D-56BC5BEA0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5A11A4-4FCA-4C43-AD2F-309BAA5753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352A72-C914-41CF-BBD0-F543FE0EAD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B83BF6-46FE-412D-8236-B95BFAE6A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CADCF2-4053-425D-8C6D-3F85351B4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537e2ac4b4341" /><Relationship Type="http://schemas.openxmlformats.org/officeDocument/2006/relationships/slideLayout" Target="/ppt/slideLayouts/slideLayout1.xml" Id="Rd34ad9e6c1424ca2" /><Relationship Type="http://schemas.openxmlformats.org/officeDocument/2006/relationships/slideLayout" Target="/ppt/slideLayouts/slideLayout2.xml" Id="R851fa72831934229" /><Relationship Type="http://schemas.openxmlformats.org/officeDocument/2006/relationships/slideLayout" Target="/ppt/slideLayouts/slideLayout3.xml" Id="Ra898f7dba8a24397" /><Relationship Type="http://schemas.openxmlformats.org/officeDocument/2006/relationships/slideLayout" Target="/ppt/slideLayouts/slideLayout4.xml" Id="R398e3e211c22459b" /><Relationship Type="http://schemas.openxmlformats.org/officeDocument/2006/relationships/slideLayout" Target="/ppt/slideLayouts/slideLayout5.xml" Id="Rab385d6c21094cf0" /><Relationship Type="http://schemas.openxmlformats.org/officeDocument/2006/relationships/slideLayout" Target="/ppt/slideLayouts/slideLayout6.xml" Id="R46f229305891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ad9e6c1424ca2"/>
    <p:sldLayoutId xmlns:r="http://schemas.openxmlformats.org/officeDocument/2006/relationships" id="2147483650" r:id="R851fa72831934229"/>
    <p:sldLayoutId xmlns:r="http://schemas.openxmlformats.org/officeDocument/2006/relationships" id="2147483651" r:id="Ra898f7dba8a24397"/>
    <p:sldLayoutId xmlns:r="http://schemas.openxmlformats.org/officeDocument/2006/relationships" id="2147483652" r:id="R398e3e211c22459b"/>
    <p:sldLayoutId xmlns:r="http://schemas.openxmlformats.org/officeDocument/2006/relationships" id="2147483653" r:id="Rab385d6c21094cf0"/>
    <p:sldLayoutId xmlns:r="http://schemas.openxmlformats.org/officeDocument/2006/relationships" id="2147483654" r:id="R46f229305891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95204bf424fea" /><Relationship Type="http://schemas.openxmlformats.org/officeDocument/2006/relationships/image" Target="/ppt/media/image.png" Id="R4be126f280f6467d" /><Relationship Type="http://schemas.openxmlformats.org/officeDocument/2006/relationships/image" Target="/ppt/media/image.svg" Id="R2ea4249cc45e4130" /><Relationship Type="http://schemas.openxmlformats.org/officeDocument/2006/relationships/image" Target="/ppt/media/image2.png" Id="Rb37d723a4a3b4fae" /><Relationship Type="http://schemas.openxmlformats.org/officeDocument/2006/relationships/image" Target="/ppt/media/image2.svg" Id="R65b0259966334a36" /><Relationship Type="http://schemas.openxmlformats.org/officeDocument/2006/relationships/image" Target="/ppt/media/image3.png" Id="Re4d7889ffa024a35" /><Relationship Type="http://schemas.openxmlformats.org/officeDocument/2006/relationships/image" Target="/ppt/media/image3.svg" Id="R4ee3c3e2116244da" /><Relationship Type="http://schemas.openxmlformats.org/officeDocument/2006/relationships/image" Target="/ppt/media/image4.png" Id="Rbe4d9849c4b048db" /><Relationship Type="http://schemas.openxmlformats.org/officeDocument/2006/relationships/image" Target="/ppt/media/image4.svg" Id="R32231f38d52945c2" /><Relationship Type="http://schemas.openxmlformats.org/officeDocument/2006/relationships/image" Target="/ppt/media/image5.png" Id="R3bb76aee39aa4658" /><Relationship Type="http://schemas.openxmlformats.org/officeDocument/2006/relationships/image" Target="/ppt/media/image5.svg" Id="Rf3e422a1699e4b6a" /><Relationship Type="http://schemas.openxmlformats.org/officeDocument/2006/relationships/image" Target="/ppt/media/image6.png" Id="R08a649933bfb4def" /><Relationship Type="http://schemas.openxmlformats.org/officeDocument/2006/relationships/image" Target="/ppt/media/image6.svg" Id="R2b26e16698fa4cf6" /><Relationship Type="http://schemas.openxmlformats.org/officeDocument/2006/relationships/notesSlide" Target="/ppt/notesSlides/notesSlide1.xml" Id="Rfa477a9d9f984e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f244a98c94d0d" /><Relationship Type="http://schemas.openxmlformats.org/officeDocument/2006/relationships/image" Target="/ppt/media/image7.png" Id="R901ab617fdd34468" /><Relationship Type="http://schemas.openxmlformats.org/officeDocument/2006/relationships/image" Target="/ppt/media/image7.svg" Id="R1853f4c93aef48ee" /><Relationship Type="http://schemas.openxmlformats.org/officeDocument/2006/relationships/image" Target="/ppt/media/image8.png" Id="Re26ea45032fc4e36" /><Relationship Type="http://schemas.openxmlformats.org/officeDocument/2006/relationships/image" Target="/ppt/media/image8.svg" Id="R260767b89f42437f" /><Relationship Type="http://schemas.openxmlformats.org/officeDocument/2006/relationships/image" Target="/ppt/media/image9.png" Id="Rd6549e5659264c62" /><Relationship Type="http://schemas.openxmlformats.org/officeDocument/2006/relationships/image" Target="/ppt/media/image9.svg" Id="R117388ef97204f38" /><Relationship Type="http://schemas.openxmlformats.org/officeDocument/2006/relationships/image" Target="/ppt/media/image10.png" Id="R56b71dd43f1f46d4" /><Relationship Type="http://schemas.openxmlformats.org/officeDocument/2006/relationships/image" Target="/ppt/media/image10.svg" Id="R5ca871db9e974a97" /><Relationship Type="http://schemas.openxmlformats.org/officeDocument/2006/relationships/image" Target="/ppt/media/image11.png" Id="Rf22d9be0b63644ab" /><Relationship Type="http://schemas.openxmlformats.org/officeDocument/2006/relationships/image" Target="/ppt/media/image11.svg" Id="Refdac370860f47e0" /><Relationship Type="http://schemas.openxmlformats.org/officeDocument/2006/relationships/image" Target="/ppt/media/image12.png" Id="Rf0db5d68a9a04cb5" /><Relationship Type="http://schemas.openxmlformats.org/officeDocument/2006/relationships/image" Target="/ppt/media/image12.svg" Id="R9e602f8c7f394173" /><Relationship Type="http://schemas.openxmlformats.org/officeDocument/2006/relationships/image" Target="/ppt/media/image13.png" Id="R3a93be87262540ef" /><Relationship Type="http://schemas.openxmlformats.org/officeDocument/2006/relationships/image" Target="/ppt/media/image13.svg" Id="R88e35e4ef07640ac" /><Relationship Type="http://schemas.openxmlformats.org/officeDocument/2006/relationships/image" Target="/ppt/media/image14.png" Id="R72b5724ffc3a472e" /><Relationship Type="http://schemas.openxmlformats.org/officeDocument/2006/relationships/image" Target="/ppt/media/image14.svg" Id="R3bae8df5a1aa4580" /><Relationship Type="http://schemas.openxmlformats.org/officeDocument/2006/relationships/image" Target="/ppt/media/image15.png" Id="R8af6c1b8af8d4d31" /><Relationship Type="http://schemas.openxmlformats.org/officeDocument/2006/relationships/image" Target="/ppt/media/image15.svg" Id="Rb1a0183dfe734a98" /><Relationship Type="http://schemas.openxmlformats.org/officeDocument/2006/relationships/image" Target="/ppt/media/image16.png" Id="Rff58ca307909482a" /><Relationship Type="http://schemas.openxmlformats.org/officeDocument/2006/relationships/image" Target="/ppt/media/image16.svg" Id="R3c6d463de98d41b4" /><Relationship Type="http://schemas.openxmlformats.org/officeDocument/2006/relationships/image" Target="/ppt/media/image17.png" Id="Ref4237de8dce41fe" /><Relationship Type="http://schemas.openxmlformats.org/officeDocument/2006/relationships/image" Target="/ppt/media/image17.svg" Id="R5a78d98a32124bb9" /><Relationship Type="http://schemas.openxmlformats.org/officeDocument/2006/relationships/image" Target="/ppt/media/image18.png" Id="R84ce2500925f418f" /><Relationship Type="http://schemas.openxmlformats.org/officeDocument/2006/relationships/image" Target="/ppt/media/image18.svg" Id="R7c07ce7b5a73411d" /><Relationship Type="http://schemas.openxmlformats.org/officeDocument/2006/relationships/image" Target="/ppt/media/image19.png" Id="Rb2b449c2a54a467f" /><Relationship Type="http://schemas.openxmlformats.org/officeDocument/2006/relationships/image" Target="/ppt/media/image19.svg" Id="Rc274d3e014b54576" /><Relationship Type="http://schemas.openxmlformats.org/officeDocument/2006/relationships/image" Target="/ppt/media/image20.png" Id="Rd2fe21db47704350" /><Relationship Type="http://schemas.openxmlformats.org/officeDocument/2006/relationships/image" Target="/ppt/media/image20.svg" Id="Rb20bb50a154b4ea4" /><Relationship Type="http://schemas.openxmlformats.org/officeDocument/2006/relationships/image" Target="/ppt/media/image21.png" Id="R1f0de4c455154a95" /><Relationship Type="http://schemas.openxmlformats.org/officeDocument/2006/relationships/image" Target="/ppt/media/image21.svg" Id="Re5ed3879753e4472" /><Relationship Type="http://schemas.openxmlformats.org/officeDocument/2006/relationships/notesSlide" Target="/ppt/notesSlides/notesSlide2.xml" Id="R3bdaf7cffdee48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76fe947004b72" /><Relationship Type="http://schemas.openxmlformats.org/officeDocument/2006/relationships/image" Target="/ppt/media/image22.png" Id="R778a82d7f3434994" /><Relationship Type="http://schemas.openxmlformats.org/officeDocument/2006/relationships/image" Target="/ppt/media/image22.svg" Id="R4d66b0485de34252" /><Relationship Type="http://schemas.openxmlformats.org/officeDocument/2006/relationships/image" Target="/ppt/media/image23.png" Id="Rb122477734d74c3b" /><Relationship Type="http://schemas.openxmlformats.org/officeDocument/2006/relationships/image" Target="/ppt/media/image23.svg" Id="R919acd59c5834d17" /><Relationship Type="http://schemas.openxmlformats.org/officeDocument/2006/relationships/image" Target="/ppt/media/image24.png" Id="R27d69326b312422a" /><Relationship Type="http://schemas.openxmlformats.org/officeDocument/2006/relationships/image" Target="/ppt/media/image24.svg" Id="R98d69c1e92a0496f" /><Relationship Type="http://schemas.openxmlformats.org/officeDocument/2006/relationships/image" Target="/ppt/media/image25.png" Id="R9a94229b8fe14391" /><Relationship Type="http://schemas.openxmlformats.org/officeDocument/2006/relationships/image" Target="/ppt/media/image25.svg" Id="R04f70214d545401d" /><Relationship Type="http://schemas.openxmlformats.org/officeDocument/2006/relationships/image" Target="/ppt/media/image26.png" Id="R377f0cdd293f4130" /><Relationship Type="http://schemas.openxmlformats.org/officeDocument/2006/relationships/image" Target="/ppt/media/image26.svg" Id="R4f10943931ed43c0" /><Relationship Type="http://schemas.openxmlformats.org/officeDocument/2006/relationships/image" Target="/ppt/media/image27.png" Id="Rd6b14c7848c1497d" /><Relationship Type="http://schemas.openxmlformats.org/officeDocument/2006/relationships/image" Target="/ppt/media/image27.svg" Id="R603f9cec997f4c65" /><Relationship Type="http://schemas.openxmlformats.org/officeDocument/2006/relationships/notesSlide" Target="/ppt/notesSlides/notesSlide3.xml" Id="Rd447ffdd37ef48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1">
            <a:extLst xmlns:a="http://schemas.openxmlformats.org/drawingml/2006/main">
              <a:ext uri="{FF2B5EF4-FFF2-40B4-BE49-F238E27FC236}">
                <a16:creationId xmlns:a16="http://schemas.microsoft.com/office/drawing/2014/main" id="{85515D58-4494-47FF-9C1F-2F127BA9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440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Product vision and differentiation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2E7C7701-131A-4606-82B0-7DACD413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62025"/>
            <a:ext cx="1440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MoveBooks AI future development proposal. Current synthetic functionality is demonstrated locally.</a:t>
            </a:r>
          </a:p>
        </p:txBody>
      </p:sp>
      <p:sp>
        <p:nvSpPr>
          <p:cNvPr id="3" name="Vision-3">
            <a:extLst xmlns:a="http://schemas.openxmlformats.org/drawingml/2006/main">
              <a:ext uri="{FF2B5EF4-FFF2-40B4-BE49-F238E27FC236}">
                <a16:creationId xmlns:a16="http://schemas.microsoft.com/office/drawing/2014/main" id="{8712374F-AF87-4FEF-8395-BB222B7B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33525"/>
            <a:ext cx="1190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 vendor-independent path to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verified First Productive Use</a:t>
            </a:r>
          </a:p>
        </p:txBody>
      </p:sp>
      <p:sp>
        <p:nvSpPr>
          <p:cNvPr id="4" name="Vision explanation-4">
            <a:extLst xmlns:a="http://schemas.openxmlformats.org/drawingml/2006/main">
              <a:ext uri="{FF2B5EF4-FFF2-40B4-BE49-F238E27FC236}">
                <a16:creationId xmlns:a16="http://schemas.microsoft.com/office/drawing/2014/main" id="{8DB33BAC-09E3-432C-88E7-0D3B8F4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28925"/>
            <a:ext cx="1190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Assess and plan with evidence. Migrate through authorized tools.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Reconcile deterministically, then verify the customer’s first task.</a:t>
            </a:r>
          </a:p>
        </p:txBody>
      </p:sp>
      <p:cxnSp>
        <p:nvCxnSpPr>
          <p:cNvPr id="5" name="Vision divider-5">
            <a:extLst xmlns:a="http://schemas.openxmlformats.org/drawingml/2006/main">
              <a:ext uri="{FF2B5EF4-FFF2-40B4-BE49-F238E27FC236}">
                <a16:creationId xmlns:a16="http://schemas.microsoft.com/office/drawing/2014/main" id="{5CB9CB48-8ED6-4644-8BEA-60BA0C142E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100" y="3714750"/>
            <a:ext cx="144018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8E2E8"/>
            </a:solidFill>
            <a:tailEnd type="none" w="med" len="med"/>
          </a:ln>
        </p:spPr>
      </p:cxnSp>
      <p:sp>
        <p:nvSpPr>
          <p:cNvPr id="6" name="Segments heading-6">
            <a:extLst xmlns:a="http://schemas.openxmlformats.org/drawingml/2006/main">
              <a:ext uri="{FF2B5EF4-FFF2-40B4-BE49-F238E27FC236}">
                <a16:creationId xmlns:a16="http://schemas.microsoft.com/office/drawing/2014/main" id="{5BA36616-A380-45B9-ADE2-93F0A27B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62400"/>
            <a:ext cx="678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PRIMARY CUSTOMER HYPOTHESES</a:t>
            </a:r>
          </a:p>
        </p:txBody>
      </p:sp>
      <p:sp>
        <p:nvSpPr>
          <p:cNvPr id="7" name="Accountant segment-7">
            <a:extLst xmlns:a="http://schemas.openxmlformats.org/drawingml/2006/main">
              <a:ext uri="{FF2B5EF4-FFF2-40B4-BE49-F238E27FC236}">
                <a16:creationId xmlns:a16="http://schemas.microsoft.com/office/drawing/2014/main" id="{73C6242B-6F36-48D3-85D4-EFACC23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Accountants and bookkeepers</a:t>
            </a:r>
          </a:p>
        </p:txBody>
      </p:sp>
      <p:sp>
        <p:nvSpPr>
          <p:cNvPr id="8" name="Accountant job-8">
            <a:extLst xmlns:a="http://schemas.openxmlformats.org/drawingml/2006/main">
              <a:ext uri="{FF2B5EF4-FFF2-40B4-BE49-F238E27FC236}">
                <a16:creationId xmlns:a16="http://schemas.microsoft.com/office/drawing/2014/main" id="{4B9F2320-818D-4457-9E85-71C58996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628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Trace ambiguous mappings and prove balances.</a:t>
            </a:r>
          </a:p>
        </p:txBody>
      </p:sp>
      <p:sp>
        <p:nvSpPr>
          <p:cNvPr id="9" name="Owner segment-9">
            <a:extLst xmlns:a="http://schemas.openxmlformats.org/drawingml/2006/main">
              <a:ext uri="{FF2B5EF4-FFF2-40B4-BE49-F238E27FC236}">
                <a16:creationId xmlns:a16="http://schemas.microsoft.com/office/drawing/2014/main" id="{06A52CE3-3CA8-4D73-A067-4EFAF07C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Small-business owners</a:t>
            </a:r>
          </a:p>
        </p:txBody>
      </p:sp>
      <p:sp>
        <p:nvSpPr>
          <p:cNvPr id="10" name="Owner job-10">
            <a:extLst xmlns:a="http://schemas.openxmlformats.org/drawingml/2006/main">
              <a:ext uri="{FF2B5EF4-FFF2-40B4-BE49-F238E27FC236}">
                <a16:creationId xmlns:a16="http://schemas.microsoft.com/office/drawing/2014/main" id="{19D2224B-0623-4441-A1E4-3EE0BD90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62650"/>
            <a:ext cx="628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Understand readiness and begin productive work.</a:t>
            </a:r>
          </a:p>
        </p:txBody>
      </p:sp>
      <p:sp>
        <p:nvSpPr>
          <p:cNvPr id="11" name="Supporting operators-11">
            <a:extLst xmlns:a="http://schemas.openxmlformats.org/drawingml/2006/main">
              <a:ext uri="{FF2B5EF4-FFF2-40B4-BE49-F238E27FC236}">
                <a16:creationId xmlns:a16="http://schemas.microsoft.com/office/drawing/2014/main" id="{AD1C413E-E335-491D-A454-311D2C9D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Finance operators support controlled recovery.</a:t>
            </a:r>
          </a:p>
        </p:txBody>
      </p:sp>
      <p:sp>
        <p:nvSpPr>
          <p:cNvPr id="12" name="Differentiation heading-12">
            <a:extLst xmlns:a="http://schemas.openxmlformats.org/drawingml/2006/main">
              <a:ext uri="{FF2B5EF4-FFF2-40B4-BE49-F238E27FC236}">
                <a16:creationId xmlns:a16="http://schemas.microsoft.com/office/drawing/2014/main" id="{94CEBFD3-7149-4376-94E5-7044C0EE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683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56A18"/>
                </a:solidFill>
                <a:latin typeface="Arial"/>
                <a:ea typeface="Arial"/>
                <a:cs typeface="Arial"/>
              </a:rPr>
              <a:t>DIFFERENTIATION TO VALIDATE</a:t>
            </a:r>
          </a:p>
        </p:txBody>
      </p:sp>
      <p:sp>
        <p:nvSpPr>
          <p:cNvPr id="13" name="Differentiation one-13">
            <a:extLst xmlns:a="http://schemas.openxmlformats.org/drawingml/2006/main">
              <a:ext uri="{FF2B5EF4-FFF2-40B4-BE49-F238E27FC236}">
                <a16:creationId xmlns:a16="http://schemas.microsoft.com/office/drawing/2014/main" id="{B0E9F889-A81D-49C9-88DD-E643329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628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Evidence-backed decisions</a:t>
            </a:r>
          </a:p>
        </p:txBody>
      </p:sp>
      <p:sp>
        <p:nvSpPr>
          <p:cNvPr id="14" name="Differentiation one benefit-14">
            <a:extLst xmlns:a="http://schemas.openxmlformats.org/drawingml/2006/main">
              <a:ext uri="{FF2B5EF4-FFF2-40B4-BE49-F238E27FC236}">
                <a16:creationId xmlns:a16="http://schemas.microsoft.com/office/drawing/2014/main" id="{F9CB00B5-6681-4A3F-AAC8-1451C46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Inspectable uncertainty and independent challenge</a:t>
            </a:r>
          </a:p>
        </p:txBody>
      </p:sp>
      <p:sp>
        <p:nvSpPr>
          <p:cNvPr id="15" name="Differentiation two-15">
            <a:extLst xmlns:a="http://schemas.openxmlformats.org/drawingml/2006/main">
              <a:ext uri="{FF2B5EF4-FFF2-40B4-BE49-F238E27FC236}">
                <a16:creationId xmlns:a16="http://schemas.microsoft.com/office/drawing/2014/main" id="{F7615FBB-E06C-4059-8BFA-1707F8F3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72100"/>
            <a:ext cx="628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Governed financial handover</a:t>
            </a:r>
          </a:p>
        </p:txBody>
      </p:sp>
      <p:sp>
        <p:nvSpPr>
          <p:cNvPr id="16" name="Differentiation two benefit-16">
            <a:extLst xmlns:a="http://schemas.openxmlformats.org/drawingml/2006/main">
              <a:ext uri="{FF2B5EF4-FFF2-40B4-BE49-F238E27FC236}">
                <a16:creationId xmlns:a16="http://schemas.microsoft.com/office/drawing/2014/main" id="{D6D837FB-0D0A-44E6-8396-25C8FFD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721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Exact checks, approved remedies and safe retry</a:t>
            </a:r>
          </a:p>
        </p:txBody>
      </p:sp>
      <p:sp>
        <p:nvSpPr>
          <p:cNvPr id="17" name="Differentiation three-17">
            <a:extLst xmlns:a="http://schemas.openxmlformats.org/drawingml/2006/main">
              <a:ext uri="{FF2B5EF4-FFF2-40B4-BE49-F238E27FC236}">
                <a16:creationId xmlns:a16="http://schemas.microsoft.com/office/drawing/2014/main" id="{9DE3A3D4-139F-4F39-B2D0-CFF47C7D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267450"/>
            <a:ext cx="628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Adoption through verified first work</a:t>
            </a:r>
          </a:p>
        </p:txBody>
      </p:sp>
      <p:sp>
        <p:nvSpPr>
          <p:cNvPr id="18" name="Differentiation three benefit-18">
            <a:extLst xmlns:a="http://schemas.openxmlformats.org/drawingml/2006/main">
              <a:ext uri="{FF2B5EF4-FFF2-40B4-BE49-F238E27FC236}">
                <a16:creationId xmlns:a16="http://schemas.microsoft.com/office/drawing/2014/main" id="{B9AE2A9A-52B2-4E45-9390-6FF95778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6675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One evidence chain through the customer’s first task</a:t>
            </a:r>
          </a:p>
        </p:txBody>
      </p:sp>
      <p:cxnSp>
        <p:nvCxnSpPr>
          <p:cNvPr id="19" name="Baseline divider-19">
            <a:extLst xmlns:a="http://schemas.openxmlformats.org/drawingml/2006/main">
              <a:ext uri="{FF2B5EF4-FFF2-40B4-BE49-F238E27FC236}">
                <a16:creationId xmlns:a16="http://schemas.microsoft.com/office/drawing/2014/main" id="{A8D044A9-296D-457C-A5F1-D67713CD10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100" y="7229475"/>
            <a:ext cx="144018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8E2E8"/>
            </a:solidFill>
            <a:tailEnd type="none" w="med" len="med"/>
          </a:ln>
        </p:spPr>
      </p:cxnSp>
      <p:sp>
        <p:nvSpPr>
          <p:cNvPr id="20" name="Current evidence label-20">
            <a:extLst xmlns:a="http://schemas.openxmlformats.org/drawingml/2006/main">
              <a:ext uri="{FF2B5EF4-FFF2-40B4-BE49-F238E27FC236}">
                <a16:creationId xmlns:a16="http://schemas.microsoft.com/office/drawing/2014/main" id="{9641C069-2537-48A8-BE7D-F53A4ED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009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Demonstrated locally</a:t>
            </a:r>
          </a:p>
        </p:txBody>
      </p:sp>
      <p:sp>
        <p:nvSpPr>
          <p:cNvPr id="21" name="Current evidence-21">
            <a:extLst xmlns:a="http://schemas.openxmlformats.org/drawingml/2006/main">
              <a:ext uri="{FF2B5EF4-FFF2-40B4-BE49-F238E27FC236}">
                <a16:creationId xmlns:a16="http://schemas.microsoft.com/office/drawing/2014/main" id="{AF042EF8-6910-4D48-9C05-9FD1ABFA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00925"/>
            <a:ext cx="11058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Synthetic FPU journey / browser-local file checks / deterministic mapping review</a:t>
            </a:r>
          </a:p>
        </p:txBody>
      </p:sp>
      <p:sp>
        <p:nvSpPr>
          <p:cNvPr id="22" name="Non goals-22">
            <a:extLst xmlns:a="http://schemas.openxmlformats.org/drawingml/2006/main">
              <a:ext uri="{FF2B5EF4-FFF2-40B4-BE49-F238E27FC236}">
                <a16:creationId xmlns:a16="http://schemas.microsoft.com/office/drawing/2014/main" id="{3CB1F31D-EDED-4C27-9406-8A85FB5A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58125"/>
            <a:ext cx="1440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Non-goals: autonomous financial decisions, universal connectors or provider affiliation</a:t>
            </a:r>
          </a:p>
        </p:txBody>
      </p:sp>
      <p:sp>
        <p:nvSpPr>
          <p:cNvPr id="23" name="Evidence and proposal disclosure-23">
            <a:extLst xmlns:a="http://schemas.openxmlformats.org/drawingml/2006/main">
              <a:ext uri="{FF2B5EF4-FFF2-40B4-BE49-F238E27FC236}">
                <a16:creationId xmlns:a16="http://schemas.microsoft.com/office/drawing/2014/main" id="{2213C966-5663-46F6-9BE1-B87EA7DA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86750"/>
            <a:ext cx="1440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Accepted constraints: exact financial checks and human authority / Differentiation is a hypothesis / Source aacd3a5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8CE18-BB35-4849-AF4C-C2BDB2BCD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126f280f6467d">
            <a:extLst>
              <a:ext uri="{96DAC541-7B7A-43D3-8B79-37D633B846F1}">
                <asvg:svgBlip xmlns:asvg="http://schemas.microsoft.com/office/drawing/2016/SVG/main" r:embed="R2ea4249cc45e41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087350" y="174307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F22DA-3777-4B31-9AE2-0AAE8E1E6A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d723a4a3b4fae">
            <a:extLst>
              <a:ext uri="{96DAC541-7B7A-43D3-8B79-37D633B846F1}">
                <asvg:svgBlip xmlns:asvg="http://schemas.microsoft.com/office/drawing/2016/SVG/main" r:embed="R65b0259966334a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45434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4E148-C833-431A-B305-731C94B1D5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7889ffa024a35">
            <a:extLst>
              <a:ext uri="{96DAC541-7B7A-43D3-8B79-37D633B846F1}">
                <asvg:svgBlip xmlns:asvg="http://schemas.microsoft.com/office/drawing/2016/SVG/main" r:embed="R4ee3c3e2116244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558165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437A8-20CD-4047-A572-D00A50F65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d9849c4b048db">
            <a:extLst>
              <a:ext uri="{96DAC541-7B7A-43D3-8B79-37D633B846F1}">
                <asvg:svgBlip xmlns:asvg="http://schemas.microsoft.com/office/drawing/2016/SVG/main" r:embed="R32231f38d52945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4514850"/>
            <a:ext cx="371475" cy="371475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DE62E-D757-42DD-8DE9-5B48F78EEB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76aee39aa4658">
            <a:extLst>
              <a:ext uri="{96DAC541-7B7A-43D3-8B79-37D633B846F1}">
                <asvg:svgBlip xmlns:asvg="http://schemas.microsoft.com/office/drawing/2016/SVG/main" r:embed="Rf3e422a1699e4b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5410200"/>
            <a:ext cx="371475" cy="371475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28BA4B-A84A-4DAF-80AD-0F377B0FBB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649933bfb4def">
            <a:extLst>
              <a:ext uri="{96DAC541-7B7A-43D3-8B79-37D633B846F1}">
                <asvg:svgBlip xmlns:asvg="http://schemas.microsoft.com/office/drawing/2016/SVG/main" r:embed="R2b26e16698fa4c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6305550"/>
            <a:ext cx="371475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2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-24">
            <a:extLst xmlns:a="http://schemas.openxmlformats.org/drawingml/2006/main">
              <a:ext uri="{FF2B5EF4-FFF2-40B4-BE49-F238E27FC236}">
                <a16:creationId xmlns:a16="http://schemas.microsoft.com/office/drawing/2014/main" id="{0B24EB09-6607-442F-9784-D75F77D4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440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Prioritized development roadmap</a:t>
            </a:r>
          </a:p>
        </p:txBody>
      </p:sp>
      <p:sp>
        <p:nvSpPr>
          <p:cNvPr id="2" name="Subtitle-25">
            <a:extLst xmlns:a="http://schemas.openxmlformats.org/drawingml/2006/main">
              <a:ext uri="{FF2B5EF4-FFF2-40B4-BE49-F238E27FC236}">
                <a16:creationId xmlns:a16="http://schemas.microsoft.com/office/drawing/2014/main" id="{55B28437-05D3-416B-A5EA-B660F675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62025"/>
            <a:ext cx="1440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Proposed Now / Next / Later priorities. Progression depends on evidence and separate approval, not dates.</a:t>
            </a:r>
          </a:p>
        </p:txBody>
      </p:sp>
      <p:sp>
        <p:nvSpPr>
          <p:cNvPr id="3" name="NOW label-26">
            <a:extLst xmlns:a="http://schemas.openxmlformats.org/drawingml/2006/main">
              <a:ext uri="{FF2B5EF4-FFF2-40B4-BE49-F238E27FC236}">
                <a16:creationId xmlns:a16="http://schemas.microsoft.com/office/drawing/2014/main" id="{E432F46D-1D3C-423E-A39A-14FE7934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3867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4" name="NOW title-27">
            <a:extLst xmlns:a="http://schemas.openxmlformats.org/drawingml/2006/main">
              <a:ext uri="{FF2B5EF4-FFF2-40B4-BE49-F238E27FC236}">
                <a16:creationId xmlns:a16="http://schemas.microsoft.com/office/drawing/2014/main" id="{CCE461DA-25D7-4074-AF7A-0A5BFA69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Trustworthy Beta</a:t>
            </a:r>
          </a:p>
        </p:txBody>
      </p:sp>
      <p:sp>
        <p:nvSpPr>
          <p:cNvPr id="5" name="NOW status-28">
            <a:extLst xmlns:a="http://schemas.openxmlformats.org/drawingml/2006/main">
              <a:ext uri="{FF2B5EF4-FFF2-40B4-BE49-F238E27FC236}">
                <a16:creationId xmlns:a16="http://schemas.microsoft.com/office/drawing/2014/main" id="{9E2342A3-7E25-4321-A45B-D9C19AF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3840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Proposed closure of release gaps</a:t>
            </a:r>
          </a:p>
        </p:txBody>
      </p:sp>
      <p:cxnSp>
        <p:nvCxnSpPr>
          <p:cNvPr id="6" name="NOW horizon rule-29">
            <a:extLst xmlns:a="http://schemas.openxmlformats.org/drawingml/2006/main">
              <a:ext uri="{FF2B5EF4-FFF2-40B4-BE49-F238E27FC236}">
                <a16:creationId xmlns:a16="http://schemas.microsoft.com/office/drawing/2014/main" id="{8830D1AC-5C35-4535-AE42-D3F18F5B86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100" y="28479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0"/>
            </a:solidFill>
            <a:tailEnd type="none" w="med" len="med"/>
          </a:ln>
        </p:spPr>
      </p:cxnSp>
      <p:sp>
        <p:nvSpPr>
          <p:cNvPr id="7" name="NOW priority 0-30">
            <a:extLst xmlns:a="http://schemas.openxmlformats.org/drawingml/2006/main">
              <a:ext uri="{FF2B5EF4-FFF2-40B4-BE49-F238E27FC236}">
                <a16:creationId xmlns:a16="http://schemas.microsoft.com/office/drawing/2014/main" id="{57CA3957-2DFB-486B-97A4-0B8966F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8610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Candidate trust checks</a:t>
            </a:r>
          </a:p>
        </p:txBody>
      </p:sp>
      <p:sp>
        <p:nvSpPr>
          <p:cNvPr id="8" name="NOW benefit 0-31">
            <a:extLst xmlns:a="http://schemas.openxmlformats.org/drawingml/2006/main">
              <a:ext uri="{FF2B5EF4-FFF2-40B4-BE49-F238E27FC236}">
                <a16:creationId xmlns:a16="http://schemas.microsoft.com/office/drawing/2014/main" id="{6CF211E6-092B-4118-AB99-78E9BC83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5757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Owner isolation, recovery,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security evidence and verified FPU.</a:t>
            </a:r>
          </a:p>
        </p:txBody>
      </p:sp>
      <p:sp>
        <p:nvSpPr>
          <p:cNvPr id="9" name="NOW priority 1-32">
            <a:extLst xmlns:a="http://schemas.openxmlformats.org/drawingml/2006/main">
              <a:ext uri="{FF2B5EF4-FFF2-40B4-BE49-F238E27FC236}">
                <a16:creationId xmlns:a16="http://schemas.microsoft.com/office/drawing/2014/main" id="{C892C922-2251-487C-A2A4-526441E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Accessible completion</a:t>
            </a:r>
          </a:p>
        </p:txBody>
      </p:sp>
      <p:sp>
        <p:nvSpPr>
          <p:cNvPr id="10" name="NOW benefit 1-33">
            <a:extLst xmlns:a="http://schemas.openxmlformats.org/drawingml/2006/main">
              <a:ext uri="{FF2B5EF4-FFF2-40B4-BE49-F238E27FC236}">
                <a16:creationId xmlns:a16="http://schemas.microsoft.com/office/drawing/2014/main" id="{7747F463-BFED-41C1-AF27-F4A7C279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2912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Keyboard access, error recovery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and accountant task observation.</a:t>
            </a:r>
          </a:p>
        </p:txBody>
      </p:sp>
      <p:sp>
        <p:nvSpPr>
          <p:cNvPr id="11" name="NOW priority 2-34">
            <a:extLst xmlns:a="http://schemas.openxmlformats.org/drawingml/2006/main">
              <a:ext uri="{FF2B5EF4-FFF2-40B4-BE49-F238E27FC236}">
                <a16:creationId xmlns:a16="http://schemas.microsoft.com/office/drawing/2014/main" id="{DAF161E6-F11A-46C0-9AE8-BF37E7E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2920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Reproducible baseline</a:t>
            </a:r>
          </a:p>
        </p:txBody>
      </p:sp>
      <p:sp>
        <p:nvSpPr>
          <p:cNvPr id="12" name="NOW benefit 2-35">
            <a:extLst xmlns:a="http://schemas.openxmlformats.org/drawingml/2006/main">
              <a:ext uri="{FF2B5EF4-FFF2-40B4-BE49-F238E27FC236}">
                <a16:creationId xmlns:a16="http://schemas.microsoft.com/office/drawing/2014/main" id="{AB31D751-E273-4955-839E-050CDA7B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0067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Outcome events and offline evals.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Live-model activation stays optional.</a:t>
            </a:r>
          </a:p>
        </p:txBody>
      </p:sp>
      <p:sp>
        <p:nvSpPr>
          <p:cNvPr id="13" name="NOW gate label-36">
            <a:extLst xmlns:a="http://schemas.openxmlformats.org/drawingml/2006/main">
              <a:ext uri="{FF2B5EF4-FFF2-40B4-BE49-F238E27FC236}">
                <a16:creationId xmlns:a16="http://schemas.microsoft.com/office/drawing/2014/main" id="{9190CC99-4CAA-41DB-A96D-1C296A70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415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14" name="NOW gate-37">
            <a:extLst xmlns:a="http://schemas.openxmlformats.org/drawingml/2006/main">
              <a:ext uri="{FF2B5EF4-FFF2-40B4-BE49-F238E27FC236}">
                <a16:creationId xmlns:a16="http://schemas.microsoft.com/office/drawing/2014/main" id="{1BAC8801-724F-41A0-9846-EDD882B7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One candidate, end-to-end evidence.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No open critical trust/financial defect.</a:t>
            </a:r>
          </a:p>
        </p:txBody>
      </p:sp>
      <p:sp>
        <p:nvSpPr>
          <p:cNvPr id="15" name="NOW autonomy-38">
            <a:extLst xmlns:a="http://schemas.openxmlformats.org/drawingml/2006/main">
              <a:ext uri="{FF2B5EF4-FFF2-40B4-BE49-F238E27FC236}">
                <a16:creationId xmlns:a16="http://schemas.microsoft.com/office/drawing/2014/main" id="{4634A080-C456-47CF-8EFA-10BB234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7235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Deterministic workflow and advisory limits</a:t>
            </a:r>
          </a:p>
        </p:txBody>
      </p:sp>
      <p:sp>
        <p:nvSpPr>
          <p:cNvPr id="16" name="NEXT label-39">
            <a:extLst xmlns:a="http://schemas.openxmlformats.org/drawingml/2006/main">
              <a:ext uri="{FF2B5EF4-FFF2-40B4-BE49-F238E27FC236}">
                <a16:creationId xmlns:a16="http://schemas.microsoft.com/office/drawing/2014/main" id="{77EDF669-5601-4F39-83E9-46FCB38C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81150"/>
            <a:ext cx="3867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48C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7" name="NEXT title-40">
            <a:extLst xmlns:a="http://schemas.openxmlformats.org/drawingml/2006/main">
              <a:ext uri="{FF2B5EF4-FFF2-40B4-BE49-F238E27FC236}">
                <a16:creationId xmlns:a16="http://schemas.microsoft.com/office/drawing/2014/main" id="{1C25AD29-294D-4418-BE65-3B5695D7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0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Controlled customer pilot</a:t>
            </a:r>
          </a:p>
        </p:txBody>
      </p:sp>
      <p:sp>
        <p:nvSpPr>
          <p:cNvPr id="18" name="NEXT status-41">
            <a:extLst xmlns:a="http://schemas.openxmlformats.org/drawingml/2006/main">
              <a:ext uri="{FF2B5EF4-FFF2-40B4-BE49-F238E27FC236}">
                <a16:creationId xmlns:a16="http://schemas.microsoft.com/office/drawing/2014/main" id="{6958A09C-67FF-4D03-832A-8EA6709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Proposed after Beta acceptance</a:t>
            </a:r>
          </a:p>
        </p:txBody>
      </p:sp>
      <p:cxnSp>
        <p:nvCxnSpPr>
          <p:cNvPr id="19" name="NEXT horizon rule-42">
            <a:extLst xmlns:a="http://schemas.openxmlformats.org/drawingml/2006/main">
              <a:ext uri="{FF2B5EF4-FFF2-40B4-BE49-F238E27FC236}">
                <a16:creationId xmlns:a16="http://schemas.microsoft.com/office/drawing/2014/main" id="{BC3F8543-1F93-48AF-B0CC-871B0A7B78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76850" y="28479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448C8"/>
            </a:solidFill>
            <a:tailEnd type="none" w="med" len="med"/>
          </a:ln>
        </p:spPr>
      </p:cxnSp>
      <p:sp>
        <p:nvSpPr>
          <p:cNvPr id="20" name="NEXT priority 0-43">
            <a:extLst xmlns:a="http://schemas.openxmlformats.org/drawingml/2006/main">
              <a:ext uri="{FF2B5EF4-FFF2-40B4-BE49-F238E27FC236}">
                <a16:creationId xmlns:a16="http://schemas.microsoft.com/office/drawing/2014/main" id="{FBD83586-65D3-4105-956B-CB581C0C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8610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One source/target path</a:t>
            </a:r>
          </a:p>
        </p:txBody>
      </p:sp>
      <p:sp>
        <p:nvSpPr>
          <p:cNvPr id="21" name="NEXT benefit 0-44">
            <a:extLst xmlns:a="http://schemas.openxmlformats.org/drawingml/2006/main">
              <a:ext uri="{FF2B5EF4-FFF2-40B4-BE49-F238E27FC236}">
                <a16:creationId xmlns:a16="http://schemas.microsoft.com/office/drawing/2014/main" id="{A09505F2-816A-402D-8688-FCFE6D2A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5757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One consented migration path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with verified adapter semantics.</a:t>
            </a:r>
          </a:p>
        </p:txBody>
      </p:sp>
      <p:sp>
        <p:nvSpPr>
          <p:cNvPr id="22" name="NEXT priority 1-45">
            <a:extLst xmlns:a="http://schemas.openxmlformats.org/drawingml/2006/main">
              <a:ext uri="{FF2B5EF4-FFF2-40B4-BE49-F238E27FC236}">
                <a16:creationId xmlns:a16="http://schemas.microsoft.com/office/drawing/2014/main" id="{B393A72E-0437-4691-9CFE-D5F7B0B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05765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Mapping and exception quality</a:t>
            </a:r>
          </a:p>
        </p:txBody>
      </p:sp>
      <p:sp>
        <p:nvSpPr>
          <p:cNvPr id="23" name="NEXT benefit 1-46">
            <a:extLst xmlns:a="http://schemas.openxmlformats.org/drawingml/2006/main">
              <a:ext uri="{FF2B5EF4-FFF2-40B4-BE49-F238E27FC236}">
                <a16:creationId xmlns:a16="http://schemas.microsoft.com/office/drawing/2014/main" id="{5AF91A79-3208-4E8D-9619-A65C3D4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42912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Close evidence gaps and review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remedies with exact reconciliation.</a:t>
            </a:r>
          </a:p>
        </p:txBody>
      </p:sp>
      <p:sp>
        <p:nvSpPr>
          <p:cNvPr id="24" name="NEXT priority 2-47">
            <a:extLst xmlns:a="http://schemas.openxmlformats.org/drawingml/2006/main">
              <a:ext uri="{FF2B5EF4-FFF2-40B4-BE49-F238E27FC236}">
                <a16:creationId xmlns:a16="http://schemas.microsoft.com/office/drawing/2014/main" id="{CFA8CA89-4E74-4D45-A5C4-CE7F634D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02920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Pilot outcomes and economics</a:t>
            </a:r>
          </a:p>
        </p:txBody>
      </p:sp>
      <p:sp>
        <p:nvSpPr>
          <p:cNvPr id="25" name="NEXT benefit 2-48">
            <a:extLst xmlns:a="http://schemas.openxmlformats.org/drawingml/2006/main">
              <a:ext uri="{FF2B5EF4-FFF2-40B4-BE49-F238E27FC236}">
                <a16:creationId xmlns:a16="http://schemas.microsoft.com/office/drawing/2014/main" id="{888837B2-BFEE-4523-8389-075DC603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40067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Measure FPU, feedback, human effort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and full operating cost.</a:t>
            </a:r>
          </a:p>
        </p:txBody>
      </p:sp>
      <p:sp>
        <p:nvSpPr>
          <p:cNvPr id="26" name="NEXT gate label-49">
            <a:extLst xmlns:a="http://schemas.openxmlformats.org/drawingml/2006/main">
              <a:ext uri="{FF2B5EF4-FFF2-40B4-BE49-F238E27FC236}">
                <a16:creationId xmlns:a16="http://schemas.microsoft.com/office/drawing/2014/main" id="{BBDB4D0F-E8AE-4B44-8E23-5B9D43A1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415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48C8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27" name="NEXT gate-50">
            <a:extLst xmlns:a="http://schemas.openxmlformats.org/drawingml/2006/main">
              <a:ext uri="{FF2B5EF4-FFF2-40B4-BE49-F238E27FC236}">
                <a16:creationId xmlns:a16="http://schemas.microsoft.com/office/drawing/2014/main" id="{194D3C0B-F831-4668-B4D6-7E2DC33B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151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Pre-agreed outcome and safety gates.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Measured cost per completed migration.</a:t>
            </a:r>
          </a:p>
        </p:txBody>
      </p:sp>
      <p:sp>
        <p:nvSpPr>
          <p:cNvPr id="28" name="NEXT autonomy-51">
            <a:extLst xmlns:a="http://schemas.openxmlformats.org/drawingml/2006/main">
              <a:ext uri="{FF2B5EF4-FFF2-40B4-BE49-F238E27FC236}">
                <a16:creationId xmlns:a16="http://schemas.microsoft.com/office/drawing/2014/main" id="{887415C0-3FFC-4DA3-8522-B32D0CA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37235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5448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48C8"/>
                </a:solidFill>
                <a:latin typeface="Arial"/>
                <a:ea typeface="Arial"/>
                <a:cs typeface="Arial"/>
              </a:rPr>
              <a:t>Read-only AI and shadow task routing</a:t>
            </a:r>
          </a:p>
        </p:txBody>
      </p:sp>
      <p:sp>
        <p:nvSpPr>
          <p:cNvPr id="29" name="LATER label-52">
            <a:extLst xmlns:a="http://schemas.openxmlformats.org/drawingml/2006/main">
              <a:ext uri="{FF2B5EF4-FFF2-40B4-BE49-F238E27FC236}">
                <a16:creationId xmlns:a16="http://schemas.microsoft.com/office/drawing/2014/main" id="{461B07AE-3AFD-4C9E-868D-87A8CE3E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81150"/>
            <a:ext cx="3867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56A18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30" name="LATER title-53">
            <a:extLst xmlns:a="http://schemas.openxmlformats.org/drawingml/2006/main">
              <a:ext uri="{FF2B5EF4-FFF2-40B4-BE49-F238E27FC236}">
                <a16:creationId xmlns:a16="http://schemas.microsoft.com/office/drawing/2014/main" id="{AC5604C8-414F-4628-8023-144DDDD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00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Scalable migration platform</a:t>
            </a:r>
          </a:p>
        </p:txBody>
      </p:sp>
      <p:sp>
        <p:nvSpPr>
          <p:cNvPr id="31" name="LATER status-54">
            <a:extLst xmlns:a="http://schemas.openxmlformats.org/drawingml/2006/main">
              <a:ext uri="{FF2B5EF4-FFF2-40B4-BE49-F238E27FC236}">
                <a16:creationId xmlns:a16="http://schemas.microsoft.com/office/drawing/2014/main" id="{29D1FE33-F5B4-4D11-9D62-549CC707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3840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Proposed after pilot evidence</a:t>
            </a:r>
          </a:p>
        </p:txBody>
      </p:sp>
      <p:cxnSp>
        <p:nvCxnSpPr>
          <p:cNvPr id="32" name="LATER horizon rule-55">
            <a:extLst xmlns:a="http://schemas.openxmlformats.org/drawingml/2006/main">
              <a:ext uri="{FF2B5EF4-FFF2-40B4-BE49-F238E27FC236}">
                <a16:creationId xmlns:a16="http://schemas.microsoft.com/office/drawing/2014/main" id="{F31D2CBD-76BD-489B-9639-70381E9192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34600" y="28479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56A18"/>
            </a:solidFill>
            <a:tailEnd type="none" w="med" len="med"/>
          </a:ln>
        </p:spPr>
      </p:cxnSp>
      <p:sp>
        <p:nvSpPr>
          <p:cNvPr id="33" name="LATER priority 0-56">
            <a:extLst xmlns:a="http://schemas.openxmlformats.org/drawingml/2006/main">
              <a:ext uri="{FF2B5EF4-FFF2-40B4-BE49-F238E27FC236}">
                <a16:creationId xmlns:a16="http://schemas.microsoft.com/office/drawing/2014/main" id="{210BBA43-192C-4896-AE14-7CD58EED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08610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Conformed adapter expansion</a:t>
            </a:r>
          </a:p>
        </p:txBody>
      </p:sp>
      <p:sp>
        <p:nvSpPr>
          <p:cNvPr id="34" name="LATER benefit 0-57">
            <a:extLst xmlns:a="http://schemas.openxmlformats.org/drawingml/2006/main">
              <a:ext uri="{FF2B5EF4-FFF2-40B4-BE49-F238E27FC236}">
                <a16:creationId xmlns:a16="http://schemas.microsoft.com/office/drawing/2014/main" id="{3853D6F3-83BC-487E-AE81-EAB3A46A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45757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Expand proven paths after testing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schema and policy differences.</a:t>
            </a:r>
          </a:p>
        </p:txBody>
      </p:sp>
      <p:sp>
        <p:nvSpPr>
          <p:cNvPr id="35" name="LATER priority 1-58">
            <a:extLst xmlns:a="http://schemas.openxmlformats.org/drawingml/2006/main">
              <a:ext uri="{FF2B5EF4-FFF2-40B4-BE49-F238E27FC236}">
                <a16:creationId xmlns:a16="http://schemas.microsoft.com/office/drawing/2014/main" id="{C112E5AC-2A14-4E29-BD2D-3412837F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Bounded agent coordination</a:t>
            </a:r>
          </a:p>
        </p:txBody>
      </p:sp>
      <p:sp>
        <p:nvSpPr>
          <p:cNvPr id="36" name="LATER benefit 1-59">
            <a:extLst xmlns:a="http://schemas.openxmlformats.org/drawingml/2006/main">
              <a:ext uri="{FF2B5EF4-FFF2-40B4-BE49-F238E27FC236}">
                <a16:creationId xmlns:a16="http://schemas.microsoft.com/office/drawing/2014/main" id="{309312A2-F4B4-48E7-86E3-C264FC29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42912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Allowlisted tools, checkpoints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and evidence-aware review.</a:t>
            </a:r>
          </a:p>
        </p:txBody>
      </p:sp>
      <p:sp>
        <p:nvSpPr>
          <p:cNvPr id="37" name="LATER priority 2-60">
            <a:extLst xmlns:a="http://schemas.openxmlformats.org/drawingml/2006/main">
              <a:ext uri="{FF2B5EF4-FFF2-40B4-BE49-F238E27FC236}">
                <a16:creationId xmlns:a16="http://schemas.microsoft.com/office/drawing/2014/main" id="{D3AEB9D2-0AA5-4F25-9900-2DB66269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02920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Accountant workspaces</a:t>
            </a:r>
          </a:p>
        </p:txBody>
      </p:sp>
      <p:sp>
        <p:nvSpPr>
          <p:cNvPr id="38" name="LATER benefit 2-61">
            <a:extLst xmlns:a="http://schemas.openxmlformats.org/drawingml/2006/main">
              <a:ext uri="{FF2B5EF4-FFF2-40B4-BE49-F238E27FC236}">
                <a16:creationId xmlns:a16="http://schemas.microsoft.com/office/drawing/2014/main" id="{FE4CFB24-8513-4CAE-96B2-1C56FA4F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400675"/>
            <a:ext cx="406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Delegated roles, scoped policies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and partner-assisted workflows.</a:t>
            </a:r>
          </a:p>
        </p:txBody>
      </p:sp>
      <p:sp>
        <p:nvSpPr>
          <p:cNvPr id="39" name="LATER gate label-62">
            <a:extLst xmlns:a="http://schemas.openxmlformats.org/drawingml/2006/main">
              <a:ext uri="{FF2B5EF4-FFF2-40B4-BE49-F238E27FC236}">
                <a16:creationId xmlns:a16="http://schemas.microsoft.com/office/drawing/2014/main" id="{9D9602CF-F331-433A-ACC8-2BABB35F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415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56A18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40" name="LATER gate-63">
            <a:extLst xmlns:a="http://schemas.openxmlformats.org/drawingml/2006/main">
              <a:ext uri="{FF2B5EF4-FFF2-40B4-BE49-F238E27FC236}">
                <a16:creationId xmlns:a16="http://schemas.microsoft.com/office/drawing/2014/main" id="{4D36B881-910D-4ABE-8764-6B9F7354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5151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Repeatable cross-adapter correctness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and recovery before expansion.</a:t>
            </a:r>
          </a:p>
        </p:txBody>
      </p:sp>
      <p:sp>
        <p:nvSpPr>
          <p:cNvPr id="41" name="LATER autonomy-64">
            <a:extLst xmlns:a="http://schemas.openxmlformats.org/drawingml/2006/main">
              <a:ext uri="{FF2B5EF4-FFF2-40B4-BE49-F238E27FC236}">
                <a16:creationId xmlns:a16="http://schemas.microsoft.com/office/drawing/2014/main" id="{E269933B-A25E-4945-8E62-14C92CF6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37235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6A18"/>
                </a:solidFill>
                <a:latin typeface="Arial"/>
                <a:ea typeface="Arial"/>
                <a:cs typeface="Arial"/>
              </a:rPr>
              <a:t>Policy-eligible reversible low-risk tasks</a:t>
            </a:r>
          </a:p>
        </p:txBody>
      </p:sp>
      <p:cxnSp>
        <p:nvCxnSpPr>
          <p:cNvPr id="42" name="Horizon one boundary-65">
            <a:extLst xmlns:a="http://schemas.openxmlformats.org/drawingml/2006/main">
              <a:ext uri="{FF2B5EF4-FFF2-40B4-BE49-F238E27FC236}">
                <a16:creationId xmlns:a16="http://schemas.microsoft.com/office/drawing/2014/main" id="{65E7338A-02A1-4645-AE3B-9F57A4F63A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38725" y="1533525"/>
            <a:ext cx="0" cy="6191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8E2E8"/>
            </a:solidFill>
            <a:tailEnd type="none" w="med" len="med"/>
          </a:ln>
        </p:spPr>
      </p:cxnSp>
      <p:cxnSp>
        <p:nvCxnSpPr>
          <p:cNvPr id="43" name="Horizon two boundary-66">
            <a:extLst xmlns:a="http://schemas.openxmlformats.org/drawingml/2006/main">
              <a:ext uri="{FF2B5EF4-FFF2-40B4-BE49-F238E27FC236}">
                <a16:creationId xmlns:a16="http://schemas.microsoft.com/office/drawing/2014/main" id="{638D53F3-8D2E-42C9-A6B4-A2E38B5252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96475" y="1533525"/>
            <a:ext cx="0" cy="6191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8E2E8"/>
            </a:solidFill>
            <a:tailEnd type="none" w="med" len="med"/>
          </a:ln>
        </p:spPr>
      </p:cxnSp>
      <p:cxnSp>
        <p:nvCxnSpPr>
          <p:cNvPr id="44" name="Next dependency-67">
            <a:extLst xmlns:a="http://schemas.openxmlformats.org/drawingml/2006/main">
              <a:ext uri="{FF2B5EF4-FFF2-40B4-BE49-F238E27FC236}">
                <a16:creationId xmlns:a16="http://schemas.microsoft.com/office/drawing/2014/main" id="{4D026EF9-7D79-4AC6-AAC4-74A34E6113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95825" y="17335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9657A"/>
            </a:solidFill>
            <a:tailEnd type="triangle" w="med" len="med"/>
          </a:ln>
        </p:spPr>
      </p:cxnSp>
      <p:cxnSp>
        <p:nvCxnSpPr>
          <p:cNvPr id="45" name="Later dependency-68">
            <a:extLst xmlns:a="http://schemas.openxmlformats.org/drawingml/2006/main">
              <a:ext uri="{FF2B5EF4-FFF2-40B4-BE49-F238E27FC236}">
                <a16:creationId xmlns:a16="http://schemas.microsoft.com/office/drawing/2014/main" id="{099B1CD2-0233-403A-A437-08FE069497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63100" y="1733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9657A"/>
            </a:solidFill>
            <a:tailEnd type="triangle" w="med" len="med"/>
          </a:ln>
        </p:spPr>
      </p:cxnSp>
      <p:sp>
        <p:nvSpPr>
          <p:cNvPr id="46" name="Authority takeaway-69">
            <a:extLst xmlns:a="http://schemas.openxmlformats.org/drawingml/2006/main">
              <a:ext uri="{FF2B5EF4-FFF2-40B4-BE49-F238E27FC236}">
                <a16:creationId xmlns:a16="http://schemas.microsoft.com/office/drawing/2014/main" id="{C8D2A020-99A5-46C5-A28B-2AC88CD9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96225"/>
            <a:ext cx="1440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Financial execution and reconciliation stay deterministic. Humans approve consequential decisions.</a:t>
            </a:r>
          </a:p>
        </p:txBody>
      </p:sp>
      <p:sp>
        <p:nvSpPr>
          <p:cNvPr id="47" name="Evidence and proposal disclosure-70">
            <a:extLst xmlns:a="http://schemas.openxmlformats.org/drawingml/2006/main">
              <a:ext uri="{FF2B5EF4-FFF2-40B4-BE49-F238E27FC236}">
                <a16:creationId xmlns:a16="http://schemas.microsoft.com/office/drawing/2014/main" id="{AB117428-EE89-40DE-B837-DA9B7F98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86750"/>
            <a:ext cx="1440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Prioritization: customer value and trust risk first, then effort, feasibility and differentiation / All horizons are proposals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41EAB3-240A-4688-9722-9F65A7985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ab617fdd34468">
            <a:extLst>
              <a:ext uri="{96DAC541-7B7A-43D3-8B79-37D633B846F1}">
                <asvg:svgBlip xmlns:asvg="http://schemas.microsoft.com/office/drawing/2016/SVG/main" r:embed="R1853f4c93aef48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15049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C9FF68-AA32-4FC5-800B-68953C8D8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ea45032fc4e36">
            <a:extLst>
              <a:ext uri="{96DAC541-7B7A-43D3-8B79-37D633B846F1}">
                <asvg:svgBlip xmlns:asvg="http://schemas.microsoft.com/office/drawing/2016/SVG/main" r:embed="R260767b89f4243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31337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103F7B-6EF1-4C6E-8B8E-93E2000F5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49e5659264c62">
            <a:extLst>
              <a:ext uri="{96DAC541-7B7A-43D3-8B79-37D633B846F1}">
                <asvg:svgBlip xmlns:asvg="http://schemas.microsoft.com/office/drawing/2016/SVG/main" r:embed="R117388ef97204f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410527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0A9E49-C3CF-4B14-A28A-3A6326C50F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71dd43f1f46d4">
            <a:extLst>
              <a:ext uri="{96DAC541-7B7A-43D3-8B79-37D633B846F1}">
                <asvg:svgBlip xmlns:asvg="http://schemas.microsoft.com/office/drawing/2016/SVG/main" r:embed="R5ca871db9e974a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50768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30981C-0875-47D7-87EB-68156336F4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d9be0b63644ab">
            <a:extLst>
              <a:ext uri="{96DAC541-7B7A-43D3-8B79-37D633B846F1}">
                <asvg:svgBlip xmlns:asvg="http://schemas.microsoft.com/office/drawing/2016/SVG/main" r:embed="Refdac370860f47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6191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89F30C-C642-4AF8-8FF1-5C9115444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b5d68a9a04cb5">
            <a:extLst>
              <a:ext uri="{96DAC541-7B7A-43D3-8B79-37D633B846F1}">
                <asvg:svgBlip xmlns:asvg="http://schemas.microsoft.com/office/drawing/2016/SVG/main" r:embed="R9e602f8c7f3941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76850" y="15049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CF3EDC-64BB-402C-9D4A-B3212D6FF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3be87262540ef">
            <a:extLst>
              <a:ext uri="{96DAC541-7B7A-43D3-8B79-37D633B846F1}">
                <asvg:svgBlip xmlns:asvg="http://schemas.microsoft.com/office/drawing/2016/SVG/main" r:embed="R88e35e4ef07640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76850" y="31337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9DFD30-143D-48D5-980D-F0BD96703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5724ffc3a472e">
            <a:extLst>
              <a:ext uri="{96DAC541-7B7A-43D3-8B79-37D633B846F1}">
                <asvg:svgBlip xmlns:asvg="http://schemas.microsoft.com/office/drawing/2016/SVG/main" r:embed="R3bae8df5a1aa45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76850" y="410527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3C1F16-B0B7-4CDC-8056-1ED3A715FA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6c1b8af8d4d31">
            <a:extLst>
              <a:ext uri="{96DAC541-7B7A-43D3-8B79-37D633B846F1}">
                <asvg:svgBlip xmlns:asvg="http://schemas.microsoft.com/office/drawing/2016/SVG/main" r:embed="Rb1a0183dfe734a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76850" y="50768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CA774F-33F2-4B56-8B81-12E96F325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8ca307909482a">
            <a:extLst>
              <a:ext uri="{96DAC541-7B7A-43D3-8B79-37D633B846F1}">
                <asvg:svgBlip xmlns:asvg="http://schemas.microsoft.com/office/drawing/2016/SVG/main" r:embed="R3c6d463de98d41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76850" y="6191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EBA312-C3C9-446D-A39F-A6F17AE38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237de8dce41fe">
            <a:extLst>
              <a:ext uri="{96DAC541-7B7A-43D3-8B79-37D633B846F1}">
                <asvg:svgBlip xmlns:asvg="http://schemas.microsoft.com/office/drawing/2016/SVG/main" r:embed="R5a78d98a32124b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15049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61B23D-0921-44EE-ADBD-39F3B4BF4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e2500925f418f">
            <a:extLst>
              <a:ext uri="{96DAC541-7B7A-43D3-8B79-37D633B846F1}">
                <asvg:svgBlip xmlns:asvg="http://schemas.microsoft.com/office/drawing/2016/SVG/main" r:embed="R7c07ce7b5a7341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31337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EE5568-92EE-4E4B-8C9B-DCAC6D866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449c2a54a467f">
            <a:extLst>
              <a:ext uri="{96DAC541-7B7A-43D3-8B79-37D633B846F1}">
                <asvg:svgBlip xmlns:asvg="http://schemas.microsoft.com/office/drawing/2016/SVG/main" r:embed="Rc274d3e014b545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410527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4874F7-7E69-491C-B67A-D2DCBD13D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e21db47704350">
            <a:extLst>
              <a:ext uri="{96DAC541-7B7A-43D3-8B79-37D633B846F1}">
                <asvg:svgBlip xmlns:asvg="http://schemas.microsoft.com/office/drawing/2016/SVG/main" r:embed="Rb20bb50a154b4e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5076825"/>
            <a:ext cx="276225" cy="276225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327FAA-CE2D-4C6D-9087-54013CF6A3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de4c455154a95">
            <a:extLst>
              <a:ext uri="{96DAC541-7B7A-43D3-8B79-37D633B846F1}">
                <asvg:svgBlip xmlns:asvg="http://schemas.microsoft.com/office/drawing/2016/SVG/main" r:embed="Re5ed3879753e44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6191250"/>
            <a:ext cx="228600" cy="22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48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1">
            <a:extLst xmlns:a="http://schemas.openxmlformats.org/drawingml/2006/main">
              <a:ext uri="{FF2B5EF4-FFF2-40B4-BE49-F238E27FC236}">
                <a16:creationId xmlns:a16="http://schemas.microsoft.com/office/drawing/2014/main" id="{2726652A-C6EB-49C2-B7C9-3D8913A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440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Success metrics, risks and dependencies</a:t>
            </a:r>
          </a:p>
        </p:txBody>
      </p:sp>
      <p:sp>
        <p:nvSpPr>
          <p:cNvPr id="2" name="Subtitle-72">
            <a:extLst xmlns:a="http://schemas.openxmlformats.org/drawingml/2006/main">
              <a:ext uri="{FF2B5EF4-FFF2-40B4-BE49-F238E27FC236}">
                <a16:creationId xmlns:a16="http://schemas.microsoft.com/office/drawing/2014/main" id="{C447EF63-2273-4AAD-8EA6-8D528B1B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62025"/>
            <a:ext cx="1440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Proposed measurement contracts. Customer baselines and numerical targets remain pending.</a:t>
            </a:r>
          </a:p>
        </p:txBody>
      </p:sp>
      <p:sp>
        <p:nvSpPr>
          <p:cNvPr id="3" name="North star-73">
            <a:extLst xmlns:a="http://schemas.openxmlformats.org/drawingml/2006/main">
              <a:ext uri="{FF2B5EF4-FFF2-40B4-BE49-F238E27FC236}">
                <a16:creationId xmlns:a16="http://schemas.microsoft.com/office/drawing/2014/main" id="{F9506810-26AF-4B05-9480-FAFC53D8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24000"/>
            <a:ext cx="850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North Star: verified FPU / eligible mature cohort journeys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8064D-4FEA-4F69-AACB-E41E0D7C399C}"/>
              </a:ext>
            </a:extLst>
          </p:cNvPr>
          <p:cNvGraphicFramePr/>
          <p:nvPr/>
        </p:nvGraphicFramePr>
        <p:xfrm>
          <a:off xmlns:a="http://schemas.openxmlformats.org/drawingml/2006/main" x="419100" y="2009775"/>
          <a:ext xmlns:a="http://schemas.openxmlformats.org/drawingml/2006/main" cx="8858250" cy="4857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5075"/>
                <a:gridCol w="6353175"/>
              </a:tblGrid>
              <a:tr h="4381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T w="7620">
                      <a:solidFill>
                        <a:srgbClr val="D8E2E8"/>
                      </a:solidFill>
                      <a:prstDash val="solid"/>
                    </a:lnT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definition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T w="7620">
                      <a:solidFill>
                        <a:srgbClr val="D8E2E8"/>
                      </a:solidFill>
                      <a:prstDash val="solid"/>
                    </a:lnT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17243F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Migration completion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Verified completion / eligible cohort starts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Time to FPU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Median(FPU - start);</a:t>
                      </a:r>
                    </a:p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report open journeys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Mapping acceptance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Approved without edit /</a:t>
                      </a:r>
                    </a:p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reviewed recommendations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Exception resolution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Verified closures in window /</a:t>
                      </a:r>
                    </a:p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eligible exceptions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Reconciliation pass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Runs passing all exact controls /</a:t>
                      </a:r>
                    </a:p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eligible validation runs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Human intervention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Journeys needing extra support /</a:t>
                      </a:r>
                    </a:p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eligible cohort starts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Cost per migration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All cohort operating cost /</a:t>
                      </a:r>
                    </a:p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verified migration completions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524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Customer satisfaction</a:t>
                      </a:r>
                    </a:p>
                  </a:txBody>
                  <a:tcPr marL="95250" marR="95250" marT="19050" marB="19050" anchor="ctr">
                    <a:lnL w="7620">
                      <a:solidFill>
                        <a:srgbClr val="D8E2E8"/>
                      </a:solidFill>
                      <a:prstDash val="solid"/>
                    </a:lnL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Favorable valid replies / valid replies;</a:t>
                      </a:r>
                    </a:p>
                    <a:p>
                      <a:r>
                        <a:rPr sz="1650" b="0">
                          <a:solidFill>
                            <a:srgbClr val="17243F"/>
                          </a:solidFill>
                          <a:latin typeface="Arial"/>
                          <a:ea typeface="Arial"/>
                          <a:cs typeface="Arial"/>
                        </a:rPr>
                        <a:t>show survey response rate</a:t>
                      </a:r>
                    </a:p>
                  </a:txBody>
                  <a:tcPr marL="95250" marR="95250" marT="19050" marB="19050" anchor="ctr">
                    <a:lnR w="7620">
                      <a:solidFill>
                        <a:srgbClr val="D8E2E8"/>
                      </a:solidFill>
                      <a:prstDash val="solid"/>
                    </a:lnR>
                    <a:lnB w="7620">
                      <a:solidFill>
                        <a:srgbClr val="D8E2E8"/>
                      </a:solidFill>
                      <a:prstDash val="soli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Risks heading-74">
            <a:extLst xmlns:a="http://schemas.openxmlformats.org/drawingml/2006/main">
              <a:ext uri="{FF2B5EF4-FFF2-40B4-BE49-F238E27FC236}">
                <a16:creationId xmlns:a16="http://schemas.microsoft.com/office/drawing/2014/main" id="{83C7211A-01B3-4DB2-91CF-4EDADE8F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24000"/>
            <a:ext cx="4972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Risks and dependencies</a:t>
            </a:r>
          </a:p>
        </p:txBody>
      </p:sp>
      <p:sp>
        <p:nvSpPr>
          <p:cNvPr id="6" name="Risk 0-75">
            <a:extLst xmlns:a="http://schemas.openxmlformats.org/drawingml/2006/main">
              <a:ext uri="{FF2B5EF4-FFF2-40B4-BE49-F238E27FC236}">
                <a16:creationId xmlns:a16="http://schemas.microsoft.com/office/drawing/2014/main" id="{481490E8-6F3A-4AD6-83DB-69CFEEC7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336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Accounting semantics</a:t>
            </a:r>
          </a:p>
        </p:txBody>
      </p:sp>
      <p:sp>
        <p:nvSpPr>
          <p:cNvPr id="7" name="Dependency 0-76">
            <a:extLst xmlns:a="http://schemas.openxmlformats.org/drawingml/2006/main">
              <a:ext uri="{FF2B5EF4-FFF2-40B4-BE49-F238E27FC236}">
                <a16:creationId xmlns:a16="http://schemas.microsoft.com/office/drawing/2014/main" id="{C78A375F-E2C8-41A7-9846-CF6BC5F8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Domain review, adapter test rights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and invariant conformance.</a:t>
            </a:r>
          </a:p>
        </p:txBody>
      </p:sp>
      <p:sp>
        <p:nvSpPr>
          <p:cNvPr id="8" name="Risk 1-77">
            <a:extLst xmlns:a="http://schemas.openxmlformats.org/drawingml/2006/main">
              <a:ext uri="{FF2B5EF4-FFF2-40B4-BE49-F238E27FC236}">
                <a16:creationId xmlns:a16="http://schemas.microsoft.com/office/drawing/2014/main" id="{87C18CC0-A7A6-4535-9DCF-271D2D36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4327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Data and access</a:t>
            </a:r>
          </a:p>
        </p:txBody>
      </p:sp>
      <p:sp>
        <p:nvSpPr>
          <p:cNvPr id="9" name="Dependency 1-78">
            <a:extLst xmlns:a="http://schemas.openxmlformats.org/drawingml/2006/main">
              <a:ext uri="{FF2B5EF4-FFF2-40B4-BE49-F238E27FC236}">
                <a16:creationId xmlns:a16="http://schemas.microsoft.com/office/drawing/2014/main" id="{7B576AB8-A503-4577-9051-32E779F1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43325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Consent, isolation, retention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authorized operating controls.</a:t>
            </a:r>
          </a:p>
        </p:txBody>
      </p:sp>
      <p:sp>
        <p:nvSpPr>
          <p:cNvPr id="10" name="Risk 2-79">
            <a:extLst xmlns:a="http://schemas.openxmlformats.org/drawingml/2006/main">
              <a:ext uri="{FF2B5EF4-FFF2-40B4-BE49-F238E27FC236}">
                <a16:creationId xmlns:a16="http://schemas.microsoft.com/office/drawing/2014/main" id="{8D59FC80-E7F8-41F0-82DE-551E6F8B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529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AI and economics</a:t>
            </a:r>
          </a:p>
        </p:txBody>
      </p:sp>
      <p:sp>
        <p:nvSpPr>
          <p:cNvPr id="11" name="Dependency 2-80">
            <a:extLst xmlns:a="http://schemas.openxmlformats.org/drawingml/2006/main">
              <a:ext uri="{FF2B5EF4-FFF2-40B4-BE49-F238E27FC236}">
                <a16:creationId xmlns:a16="http://schemas.microsoft.com/office/drawing/2014/main" id="{33EE24A5-3A81-4C3E-A5ED-32666D94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5300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Access/residency approval, holdout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quality and full human-review cost.</a:t>
            </a:r>
          </a:p>
        </p:txBody>
      </p:sp>
      <p:sp>
        <p:nvSpPr>
          <p:cNvPr id="12" name="Risk 3-81">
            <a:extLst xmlns:a="http://schemas.openxmlformats.org/drawingml/2006/main">
              <a:ext uri="{FF2B5EF4-FFF2-40B4-BE49-F238E27FC236}">
                <a16:creationId xmlns:a16="http://schemas.microsoft.com/office/drawing/2014/main" id="{505CF626-4ECC-4C96-A7AC-B75AA907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76262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Operational trust</a:t>
            </a:r>
          </a:p>
        </p:txBody>
      </p:sp>
      <p:sp>
        <p:nvSpPr>
          <p:cNvPr id="13" name="Dependency 3-82">
            <a:extLst xmlns:a="http://schemas.openxmlformats.org/drawingml/2006/main">
              <a:ext uri="{FF2B5EF4-FFF2-40B4-BE49-F238E27FC236}">
                <a16:creationId xmlns:a16="http://schemas.microsoft.com/office/drawing/2014/main" id="{09523AA9-3C13-43C0-AB8F-E474AA4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162675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Exact-image scans, restore evidence,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telemetry and incident ownership.</a:t>
            </a:r>
          </a:p>
        </p:txBody>
      </p:sp>
      <p:cxnSp>
        <p:nvCxnSpPr>
          <p:cNvPr id="14" name="Autonomy boundary-83">
            <a:extLst xmlns:a="http://schemas.openxmlformats.org/drawingml/2006/main">
              <a:ext uri="{FF2B5EF4-FFF2-40B4-BE49-F238E27FC236}">
                <a16:creationId xmlns:a16="http://schemas.microsoft.com/office/drawing/2014/main" id="{76FC5385-F415-499E-9F87-2E4F817C69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100" y="7419975"/>
            <a:ext cx="144018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8E2E8"/>
            </a:solidFill>
            <a:tailEnd type="none" w="med" len="med"/>
          </a:ln>
        </p:spPr>
      </p:cxnSp>
      <p:sp>
        <p:nvSpPr>
          <p:cNvPr id="15" name="Autonomy gate label-84">
            <a:extLst xmlns:a="http://schemas.openxmlformats.org/drawingml/2006/main">
              <a:ext uri="{FF2B5EF4-FFF2-40B4-BE49-F238E27FC236}">
                <a16:creationId xmlns:a16="http://schemas.microsoft.com/office/drawing/2014/main" id="{F08B5B71-FB77-49BF-9A43-FEFDB893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Autonomy gate</a:t>
            </a:r>
          </a:p>
        </p:txBody>
      </p:sp>
      <p:sp>
        <p:nvSpPr>
          <p:cNvPr id="16" name="Autonomy gate-85">
            <a:extLst xmlns:a="http://schemas.openxmlformats.org/drawingml/2006/main">
              <a:ext uri="{FF2B5EF4-FFF2-40B4-BE49-F238E27FC236}">
                <a16:creationId xmlns:a16="http://schemas.microsoft.com/office/drawing/2014/main" id="{AB686575-FE1B-4636-8E9D-77871BFE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572375"/>
            <a:ext cx="1184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Shadow comparison, safe tools and correct escalation precede reversible low-risk tasks.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Human financial approval and exact checks remain mandatory.</a:t>
            </a:r>
          </a:p>
        </p:txBody>
      </p:sp>
      <p:sp>
        <p:nvSpPr>
          <p:cNvPr id="17" name="Evidence and proposal disclosure-86">
            <a:extLst xmlns:a="http://schemas.openxmlformats.org/drawingml/2006/main">
              <a:ext uri="{FF2B5EF4-FFF2-40B4-BE49-F238E27FC236}">
                <a16:creationId xmlns:a16="http://schemas.microsoft.com/office/drawing/2014/main" id="{B68D52D9-47C9-499C-ADA5-894C4D53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86750"/>
            <a:ext cx="1440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Proposed metrics / fixed cohort-window / zero denominator = n/a / baselines and targets pending / definitions in brief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E00BF-7C59-40EF-8D0E-3428D53F29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a82d7f3434994">
            <a:extLst>
              <a:ext uri="{96DAC541-7B7A-43D3-8B79-37D633B846F1}">
                <asvg:svgBlip xmlns:asvg="http://schemas.microsoft.com/office/drawing/2016/SVG/main" r:embed="R4d66b0485de342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151447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67218-C6FD-4847-A145-4DDB8EE17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2477734d74c3b">
            <a:extLst>
              <a:ext uri="{96DAC541-7B7A-43D3-8B79-37D633B846F1}">
                <asvg:svgBlip xmlns:asvg="http://schemas.microsoft.com/office/drawing/2016/SVG/main" r:embed="R919acd59c5834d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48850" y="21812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8478F-4E93-49E5-AED9-9287E8928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69326b312422a">
            <a:extLst>
              <a:ext uri="{96DAC541-7B7A-43D3-8B79-37D633B846F1}">
                <asvg:svgBlip xmlns:asvg="http://schemas.microsoft.com/office/drawing/2016/SVG/main" r:embed="R98d69c1e92a049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48850" y="3390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4EA399-948D-4DC0-988A-1CB383C183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4229b8fe14391">
            <a:extLst>
              <a:ext uri="{96DAC541-7B7A-43D3-8B79-37D633B846F1}">
                <asvg:svgBlip xmlns:asvg="http://schemas.microsoft.com/office/drawing/2016/SVG/main" r:embed="R04f70214d54540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48850" y="46005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A0CBE-A68D-45E5-A748-268641725F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f0cdd293f4130">
            <a:extLst>
              <a:ext uri="{96DAC541-7B7A-43D3-8B79-37D633B846F1}">
                <asvg:svgBlip xmlns:asvg="http://schemas.microsoft.com/office/drawing/2016/SVG/main" r:embed="R4f10943931ed43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48850" y="58102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2AE53-2F59-4803-8486-4729F424A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14c7848c1497d">
            <a:extLst>
              <a:ext uri="{96DAC541-7B7A-43D3-8B79-37D633B846F1}">
                <asvg:svgBlip xmlns:asvg="http://schemas.microsoft.com/office/drawing/2016/SVG/main" r:embed="R603f9cec997f4c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7620000"/>
            <a:ext cx="247650" cy="247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43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2026-10-18T18:15:21.1450000Z</dcterms:created>
  <dcterms:modified xsi:type="dcterms:W3CDTF">2026-10-18T18:15:21.1450000Z</dcterms:modified>
</coreProperties>
</file>